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E6A80"/>
                </a:solidFill>
                <a:latin typeface="Calibri"/>
              </a:defRPr>
            </a:pPr>
            <a:r>
              <a:rPr sz="1100" b="0" i="0" u="none" strike="noStrike">
                <a:solidFill>
                  <a:srgbClr val="6E6A80"/>
                </a:solidFill>
                <a:latin typeface="Calibri"/>
              </a:rPr>
              <a:t>Temporal hold-out set, 1,753 transactions (92 fraud)</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8E5FD1"/>
            </a:solidFill>
            <a:effectLst/>
          </c:spPr>
          <c:invertIfNegative val="0"/>
          <c:dLbls>
            <c:numFmt formatCode="0.000" sourceLinked="0"/>
            <c:txPr>
              <a:bodyPr/>
              <a:lstStyle/>
              <a:p>
                <a:pPr>
                  <a:defRPr b="0" i="0" strike="noStrike" sz="1000" u="none">
                    <a:solidFill>
                      <a:srgbClr val="1E123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ROC-AUC</c:v>
                  </c:pt>
                  <c:pt idx="1">
                    <c:v>PR-AUC</c:v>
                  </c:pt>
                  <c:pt idx="2">
                    <c:v>Precision</c:v>
                  </c:pt>
                  <c:pt idx="3">
                    <c:v>Recall</c:v>
                  </c:pt>
                  <c:pt idx="4">
                    <c:v>F1</c:v>
                  </c:pt>
                  <c:pt idx="5">
                    <c:v>Accuracy</c:v>
                  </c:pt>
                </c:lvl>
              </c:multiLvlStrCache>
            </c:multiLvlStrRef>
          </c:cat>
          <c:val>
            <c:numRef>
              <c:f>Sheet1!$B$2:$B$7</c:f>
              <c:numCache>
                <c:formatCode>General</c:formatCode>
                <c:ptCount val="6"/>
                <c:pt idx="0">
                  <c:v>0.9772</c:v>
                </c:pt>
                <c:pt idx="1">
                  <c:v>0.7027</c:v>
                </c:pt>
                <c:pt idx="2">
                  <c:v>0.6526</c:v>
                </c:pt>
                <c:pt idx="3">
                  <c:v>0.6739</c:v>
                </c:pt>
                <c:pt idx="4">
                  <c:v>0.6631</c:v>
                </c:pt>
                <c:pt idx="5">
                  <c:v>0.9641</c:v>
                </c:pt>
              </c:numCache>
            </c:numRef>
          </c:val>
        </c:ser>
        <c:dLbls>
          <c:numFmt formatCode="0.000" sourceLinked="0"/>
          <c:txPr>
            <a:bodyPr/>
            <a:lstStyle/>
            <a:p>
              <a:pPr>
                <a:defRPr b="0" i="0" strike="noStrike" sz="1000" u="none">
                  <a:solidFill>
                    <a:srgbClr val="1E1230"/>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A80"/>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6E0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A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E6A80"/>
                </a:solidFill>
                <a:latin typeface="Calibri"/>
              </a:defRPr>
            </a:pPr>
            <a:r>
              <a:rPr sz="1100" b="0" i="0" u="none" strike="noStrike">
                <a:solidFill>
                  <a:srgbClr val="6E6A80"/>
                </a:solidFill>
                <a:latin typeface="Calibri"/>
              </a:rPr>
              <a:t>Processed rows per second by shuffle partitions</a:t>
            </a:r>
          </a:p>
        </c:rich>
      </c:tx>
      <c:layout/>
      <c:overlay val="0"/>
    </c:title>
    <c:autoTitleDeleted val="0"/>
    <c:plotArea>
      <c:layout/>
      <c:barChart>
        <c:barDir val="col"/>
        <c:grouping val="clustered"/>
        <c:varyColors val="0"/>
        <c:ser>
          <c:idx val="0"/>
          <c:order val="0"/>
          <c:tx>
            <c:strRef>
              <c:f>Sheet1!$B$1</c:f>
              <c:strCache>
                <c:ptCount val="1"/>
                <c:pt idx="0">
                  <c:v>Balanced traffic</c:v>
                </c:pt>
              </c:strCache>
            </c:strRef>
          </c:tx>
          <c:spPr>
            <a:solidFill>
              <a:srgbClr val="4B2A6E"/>
            </a:solidFill>
            <a:effectLst/>
          </c:spPr>
          <c:invertIfNegative val="0"/>
          <c:dLbls>
            <c:numFmt formatCode="#,##0" sourceLinked="0"/>
            <c:txPr>
              <a:bodyPr/>
              <a:lstStyle/>
              <a:p>
                <a:pPr>
                  <a:defRPr b="0" i="0" strike="noStrike" sz="1000" u="none">
                    <a:solidFill>
                      <a:srgbClr val="1E12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4</c:v>
                  </c:pt>
                  <c:pt idx="1">
                    <c:v>8</c:v>
                  </c:pt>
                  <c:pt idx="2">
                    <c:v>16</c:v>
                  </c:pt>
                  <c:pt idx="3">
                    <c:v>32</c:v>
                  </c:pt>
                </c:lvl>
              </c:multiLvlStrCache>
            </c:multiLvlStrRef>
          </c:cat>
          <c:val>
            <c:numRef>
              <c:f>Sheet1!$B$2:$B$5</c:f>
              <c:numCache>
                <c:formatCode>General</c:formatCode>
                <c:ptCount val="4"/>
                <c:pt idx="0">
                  <c:v>5655.23</c:v>
                </c:pt>
                <c:pt idx="1">
                  <c:v>5247.84</c:v>
                </c:pt>
                <c:pt idx="2">
                  <c:v>4294.62</c:v>
                </c:pt>
                <c:pt idx="3">
                  <c:v>3340.28</c:v>
                </c:pt>
              </c:numCache>
            </c:numRef>
          </c:val>
        </c:ser>
        <c:ser>
          <c:idx val="1"/>
          <c:order val="1"/>
          <c:tx>
            <c:strRef>
              <c:f>Sheet1!$C$1</c:f>
              <c:strCache>
                <c:ptCount val="1"/>
                <c:pt idx="0">
                  <c:v>90% hot-key skew</c:v>
                </c:pt>
              </c:strCache>
            </c:strRef>
          </c:tx>
          <c:spPr>
            <a:solidFill>
              <a:srgbClr val="1F9D74"/>
            </a:solidFill>
            <a:effectLst/>
          </c:spPr>
          <c:invertIfNegative val="0"/>
          <c:dLbls>
            <c:numFmt formatCode="#,##0" sourceLinked="0"/>
            <c:txPr>
              <a:bodyPr/>
              <a:lstStyle/>
              <a:p>
                <a:pPr>
                  <a:defRPr b="0" i="0" strike="noStrike" sz="1000" u="none">
                    <a:solidFill>
                      <a:srgbClr val="1E123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4</c:v>
                  </c:pt>
                  <c:pt idx="1">
                    <c:v>8</c:v>
                  </c:pt>
                  <c:pt idx="2">
                    <c:v>16</c:v>
                  </c:pt>
                  <c:pt idx="3">
                    <c:v>32</c:v>
                  </c:pt>
                </c:lvl>
              </c:multiLvlStrCache>
            </c:multiLvlStrRef>
          </c:cat>
          <c:val>
            <c:numRef>
              <c:f>Sheet1!$C$2:$C$5</c:f>
              <c:numCache>
                <c:formatCode>General</c:formatCode>
                <c:ptCount val="4"/>
                <c:pt idx="0">
                  <c:v>7468.76</c:v>
                </c:pt>
                <c:pt idx="1">
                  <c:v>6449.53</c:v>
                </c:pt>
                <c:pt idx="2">
                  <c:v>5154.06</c:v>
                </c:pt>
                <c:pt idx="3">
                  <c:v>3361.93</c:v>
                </c:pt>
              </c:numCache>
            </c:numRef>
          </c:val>
        </c:ser>
        <c:dLbls>
          <c:numFmt formatCode="#,##0" sourceLinked="0"/>
          <c:txPr>
            <a:bodyPr/>
            <a:lstStyle/>
            <a:p>
              <a:pPr>
                <a:defRPr b="0" i="0" strike="noStrike" sz="1000" u="none">
                  <a:solidFill>
                    <a:srgbClr val="1E12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E6A80"/>
                    </a:solidFill>
                    <a:latin typeface="Arial"/>
                  </a:defRPr>
                </a:pPr>
                <a:r>
                  <a:rPr sz="1000" b="0" i="0" u="none" strike="noStrike">
                    <a:solidFill>
                      <a:srgbClr val="6E6A80"/>
                    </a:solidFill>
                    <a:latin typeface="Arial"/>
                  </a:rPr>
                  <a:t>spark.sql.shuffle.partitions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A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0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A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E6A8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Bhumika Raut and Arpita Mahakalkar. Our mini project is a real-time financial fraud detection lakehouse: transactions flow through Kafka, are processed by PySpark Structured Streaming into Delta Lake tables, scored by a Random Forest combined with rules, and shown on a Streamlit dashboard. The circles show the repository-reported evaluation on simulated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concepts, the architecture, the feature engineering, the model and hybrid decision, the results, and finally reliability, limitations and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is both stateful and time-sensitive. These four signals are exactly what our pipeline measures: history, velocity, device change and merchant 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one per stage of the pipeline. Each following section maps to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Spark features the project uses. The last line explains a design decision: we do not salt the user key because that would split one customer's history into several wrong histories.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Ingestion: generator, producer, Kafka topic with six partitions keyed by user. Lakehouse: Bronze raw, quality and dedupe into Silver with quarantine, then window features and per-user state, assembled into Gold feature events. ML: Random Forest trained offline on a temporal split, loaded for distributed inference, then the hybrid decision writes scored transactions and alerts which the Streamlit dashboard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transaction: it is produced to Kafka, stored raw in Bronze, validated and deduplicated, enriched with window and history features, scored by the model, given a final decision, and stored in Gold for the dashboard. Bad records go to quarantine; they are never silently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tool has one job. Kafka transports events, Spark computes, Delta stores reliably, MLlib trains and scores, Streamlit shows results, Docker runs everything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creates synthetic transactions with six fields only. Keying by user keeps one user's events in one partition. The fraud labels are never put into Kafka; they live in a separate ground-truth table used for training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medallion pattern keeps raw evidence, validated data and serving data separate. Bronze is replayable, Silver is trustworthy, Gold is ready for serving. Gold feature events are append-only so they can be read as a normal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Bronze record is checked against eleven rules and all failures are stored. Invalid ones are quarantined, not discarded. A suspicious-looking but structurally valid transaction is not rejected, because the fraud engine should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complementary views. Windows capture the last ten minutes of activity. The per-user state captures long-term behaviour using Welford's algorithm, which updates mean and variance without storing every past transaction. The important point is that we read the history first and update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transparent signals, each with a weight. The sum is the fraud rule score. At four or more the rule flag is raised. These weights and thresholds are hand-set defaults, which we list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Spark ML pipeline imputes missing values, one-hot encodes merchant category, assembles the features and trains a 200-tree Random Forest with subsampling 0.8 and seed 42. We handle imbalance with class weights and evaluate on a later time period instead of a random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flagged if the model alone is highly confident, or if a rule flag is confirmed by a moderate probability, or if the rule score is critical. Every alert carries severity, the path that triggered it, and human-readable reasons. All thresholds are configurable.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values are quoted from the repository's model-evaluation output; we did not independently re-run training. ROC-AUC is very high, but PR-AUC is 0.70, which is the more honest view on imbalanced data. Accuracy of 96.4 percent is only slightly above the 94.75 percent we would get by never predicting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frauds caught, 30 missed, 33 false alarms and 1,628 correctly passed. Precision is 62 over 95, recall is 62 over 92. These numbers are consistent with each other. The hold-out contains only 92 fraud cases, so the uncertainty is wide, and the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four, eight, sixteen and thirty-two shuffle partitions on a single local node, with balanced traffic and with ninety percent of traffic from one user. Four partitions gave the highest throughput in both cases and was selected. These are local figures, not cluster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charts stored in the repository, with the full numbers underneath. Throughput falls as partitions increase; state memory is largest at 32 partitions in the balanced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dashboard screenshot from the repository, taken from a demonstration run on simulated data. The 8.17 percent alert rate counts all flagged transactions in a replayed stream including false positives, so it should not be read as the model's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alert shows why it was raised: amount, deviation from history, ten-minute velocity, device flag, rule score, model probability, severity and decision path. This is what makes the hybrid design explainable to an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health tab reports feature coverage and event-to-score latency. The very large latency value comes from replayed late events and backlog in the demonstration, which the dashboard itself explains, so we do not treat it as Spark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History Server screenshots from the FraudDetection-LiveFeatureEvents application: five completed jobs and one executor with 138 completed tasks and no failed tasks. This shows those jobs ran without task failures; it does not by itself prove overall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restarts a failed process; Spark checkpoints restore progress and state. Delta transaction identifiers make retried writes safe. The repository has seven test functions, but we have not re-run them, so we make no pass or fail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open about the limits: the data is synthetic, the evaluation set is small and the benchmark is local. Future work moves toward real data, better models and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an integrated, containerised, real-time fraud detection platform with explainable hybrid decisions and measured performance. The main caveat is that everything is evaluated on synthetic data.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46320"/>
            <a:ext cx="5486400" cy="201168"/>
          </a:xfrm>
          <a:prstGeom prst="rect">
            <a:avLst/>
          </a:prstGeom>
          <a:noFill/>
          <a:ln/>
        </p:spPr>
        <p:txBody>
          <a:bodyPr wrap="square" lIns="0" tIns="0" rIns="0" bIns="0" rtlCol="0" anchor="ctr"/>
          <a:lstStyle/>
          <a:p>
            <a:pPr indent="0" marL="0">
              <a:buNone/>
            </a:pPr>
            <a:r>
              <a:rPr lang="en-US" sz="800" i="1" dirty="0">
                <a:solidFill>
                  <a:srgbClr val="6E6A80"/>
                </a:solidFill>
                <a:latin typeface="Calibri" pitchFamily="34" charset="0"/>
                <a:ea typeface="Calibri" pitchFamily="34" charset="-122"/>
                <a:cs typeface="Calibri" pitchFamily="34" charset="-120"/>
              </a:rPr>
              <a:t>Real-Time Financial Fraud Detection Lakehouse</a:t>
            </a:r>
            <a:endParaRPr lang="en-US" sz="8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12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card"/>
          <p:cNvSpPr/>
          <p:nvPr/>
        </p:nvSpPr>
        <p:spPr>
          <a:xfrm>
            <a:off x="457200" y="411480"/>
            <a:ext cx="566928" cy="658368"/>
          </a:xfrm>
          <a:prstGeom prst="roundRect">
            <a:avLst>
              <a:gd name="adj" fmla="val 9677"/>
            </a:avLst>
          </a:prstGeom>
          <a:solidFill>
            <a:srgbClr val="FFFFFF"/>
          </a:solidFill>
          <a:ln w="12700">
            <a:solidFill>
              <a:srgbClr val="FFFFFF"/>
            </a:solidFill>
            <a:prstDash val="solid"/>
          </a:ln>
        </p:spPr>
      </p:sp>
      <p:pic>
        <p:nvPicPr>
          <p:cNvPr id="3" name="college-logo" descr="/home/claude/figs/collegelogo.png">    </p:cNvPr>
          <p:cNvPicPr>
            <a:picLocks noChangeAspect="1"/>
          </p:cNvPicPr>
          <p:nvPr/>
        </p:nvPicPr>
        <p:blipFill>
          <a:blip r:embed="rId1"/>
          <a:stretch>
            <a:fillRect/>
          </a:stretch>
        </p:blipFill>
        <p:spPr>
          <a:xfrm>
            <a:off x="493776" y="448056"/>
            <a:ext cx="493776" cy="585216"/>
          </a:xfrm>
          <a:prstGeom prst="rect">
            <a:avLst/>
          </a:prstGeom>
        </p:spPr>
      </p:pic>
      <p:sp>
        <p:nvSpPr>
          <p:cNvPr id="4" name="Text 1"/>
          <p:cNvSpPr txBox="1"/>
          <p:nvPr/>
        </p:nvSpPr>
        <p:spPr>
          <a:xfrm>
            <a:off x="1188720" y="566928"/>
            <a:ext cx="4114800" cy="274320"/>
          </a:xfrm>
          <a:prstGeom prst="rect">
            <a:avLst/>
          </a:prstGeom>
          <a:noFill/>
          <a:ln/>
        </p:spPr>
        <p:txBody>
          <a:bodyPr wrap="square" lIns="0" tIns="0" rIns="0" bIns="0" rtlCol="0" anchor="t"/>
          <a:lstStyle/>
          <a:p>
            <a:pPr indent="0" marL="0">
              <a:buNone/>
            </a:pPr>
            <a:r>
              <a:rPr lang="en-US" sz="1000" b="1" spc="200" kern="0" dirty="0">
                <a:solidFill>
                  <a:srgbClr val="D9C8F5"/>
                </a:solidFill>
                <a:latin typeface="Calibri" pitchFamily="34" charset="0"/>
                <a:ea typeface="Calibri" pitchFamily="34" charset="-122"/>
                <a:cs typeface="Calibri" pitchFamily="34" charset="-120"/>
              </a:rPr>
              <a:t>BIG DATA ANALYTICS  |  MINI PROJECT</a:t>
            </a:r>
            <a:endParaRPr lang="en-US" sz="1000" dirty="0"/>
          </a:p>
        </p:txBody>
      </p:sp>
      <p:sp>
        <p:nvSpPr>
          <p:cNvPr id="5" name="Text 2"/>
          <p:cNvSpPr txBox="1"/>
          <p:nvPr/>
        </p:nvSpPr>
        <p:spPr>
          <a:xfrm>
            <a:off x="457200" y="1417320"/>
            <a:ext cx="4846320" cy="114300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Real-Time Financial Fraud Detection Lakehouse</a:t>
            </a:r>
            <a:endParaRPr lang="en-US" sz="2800" dirty="0"/>
          </a:p>
        </p:txBody>
      </p:sp>
      <p:sp>
        <p:nvSpPr>
          <p:cNvPr id="6" name="Text 3"/>
          <p:cNvSpPr txBox="1"/>
          <p:nvPr/>
        </p:nvSpPr>
        <p:spPr>
          <a:xfrm>
            <a:off x="457200" y="2606040"/>
            <a:ext cx="4846320" cy="320040"/>
          </a:xfrm>
          <a:prstGeom prst="rect">
            <a:avLst/>
          </a:prstGeom>
          <a:noFill/>
          <a:ln/>
        </p:spPr>
        <p:txBody>
          <a:bodyPr wrap="square" lIns="0" tIns="0" rIns="0" bIns="0" rtlCol="0" anchor="t"/>
          <a:lstStyle/>
          <a:p>
            <a:pPr indent="0" marL="0">
              <a:buNone/>
            </a:pPr>
            <a:r>
              <a:rPr lang="en-US" sz="1400" dirty="0">
                <a:solidFill>
                  <a:srgbClr val="D9C8F5"/>
                </a:solidFill>
                <a:latin typeface="Cambria" pitchFamily="34" charset="0"/>
                <a:ea typeface="Cambria" pitchFamily="34" charset="-122"/>
                <a:cs typeface="Cambria" pitchFamily="34" charset="-120"/>
              </a:rPr>
              <a:t>Using Distributed Streaming and Machine Learning</a:t>
            </a:r>
            <a:endParaRPr lang="en-US" sz="1400" dirty="0"/>
          </a:p>
        </p:txBody>
      </p:sp>
      <p:sp>
        <p:nvSpPr>
          <p:cNvPr id="7" name="Text 4"/>
          <p:cNvSpPr txBox="1"/>
          <p:nvPr/>
        </p:nvSpPr>
        <p:spPr>
          <a:xfrm>
            <a:off x="457200" y="3063240"/>
            <a:ext cx="4937760" cy="274320"/>
          </a:xfrm>
          <a:prstGeom prst="rect">
            <a:avLst/>
          </a:prstGeom>
          <a:noFill/>
          <a:ln/>
        </p:spPr>
        <p:txBody>
          <a:bodyPr wrap="square" lIns="0" tIns="0" rIns="0" bIns="0" rtlCol="0" anchor="t"/>
          <a:lstStyle/>
          <a:p>
            <a:pPr indent="0" marL="0">
              <a:buNone/>
            </a:pPr>
            <a:r>
              <a:rPr lang="en-US" sz="1200" b="1" dirty="0">
                <a:solidFill>
                  <a:srgbClr val="1F9D74"/>
                </a:solidFill>
                <a:latin typeface="Calibri" pitchFamily="34" charset="0"/>
                <a:ea typeface="Calibri" pitchFamily="34" charset="-122"/>
                <a:cs typeface="Calibri" pitchFamily="34" charset="-120"/>
              </a:rPr>
              <a:t>Kafka  →  PySpark  →  Delta Lake  →  Random Forest  →  Streamlit</a:t>
            </a:r>
            <a:endParaRPr lang="en-US" sz="1200" dirty="0"/>
          </a:p>
        </p:txBody>
      </p:sp>
      <p:sp>
        <p:nvSpPr>
          <p:cNvPr id="8" name="Text 5"/>
          <p:cNvSpPr txBox="1"/>
          <p:nvPr/>
        </p:nvSpPr>
        <p:spPr>
          <a:xfrm>
            <a:off x="457200" y="3657600"/>
            <a:ext cx="4937760" cy="109728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Bhumika Raut  –  23070521221</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Arpita Mahakalkar  –  23070521020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Computer Science and Engineering, Batch 2023–2027</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Symbiosis Institute of Technology, Nagpur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Guided by: Dr. Dharmaveer Chaudhary</a:t>
            </a:r>
            <a:endParaRPr lang="en-US" sz="1100" dirty="0"/>
          </a:p>
        </p:txBody>
      </p:sp>
      <p:sp>
        <p:nvSpPr>
          <p:cNvPr id="9" name="stat-circle"/>
          <p:cNvSpPr/>
          <p:nvPr/>
        </p:nvSpPr>
        <p:spPr>
          <a:xfrm>
            <a:off x="5760720" y="640080"/>
            <a:ext cx="2103120" cy="2103120"/>
          </a:xfrm>
          <a:prstGeom prst="ellipse">
            <a:avLst/>
          </a:prstGeom>
          <a:solidFill>
            <a:srgbClr val="1F9D74"/>
          </a:solidFill>
          <a:ln w="12700">
            <a:solidFill>
              <a:srgbClr val="1F9D74"/>
            </a:solidFill>
            <a:prstDash val="solid"/>
          </a:ln>
        </p:spPr>
      </p:sp>
      <p:sp>
        <p:nvSpPr>
          <p:cNvPr id="10" name="Text 7"/>
          <p:cNvSpPr txBox="1"/>
          <p:nvPr/>
        </p:nvSpPr>
        <p:spPr>
          <a:xfrm>
            <a:off x="5760720" y="1228954"/>
            <a:ext cx="2103120" cy="630936"/>
          </a:xfrm>
          <a:prstGeom prst="rect">
            <a:avLst/>
          </a:prstGeom>
          <a:noFill/>
          <a:ln/>
        </p:spPr>
        <p:txBody>
          <a:bodyPr wrap="square" lIns="0" tIns="0" rIns="0" bIns="0" rtlCol="0" anchor="t"/>
          <a:lstStyle/>
          <a:p>
            <a:pPr algn="ctr" indent="0" marL="0">
              <a:buNone/>
            </a:pPr>
            <a:r>
              <a:rPr lang="en-US" sz="2600" b="1" dirty="0">
                <a:solidFill>
                  <a:srgbClr val="FFFFFF"/>
                </a:solidFill>
                <a:latin typeface="Cambria" pitchFamily="34" charset="0"/>
                <a:ea typeface="Cambria" pitchFamily="34" charset="-122"/>
                <a:cs typeface="Cambria" pitchFamily="34" charset="-120"/>
              </a:rPr>
              <a:t>0.977</a:t>
            </a:r>
            <a:endParaRPr lang="en-US" sz="2600" dirty="0"/>
          </a:p>
        </p:txBody>
      </p:sp>
      <p:sp>
        <p:nvSpPr>
          <p:cNvPr id="11" name="Text 8"/>
          <p:cNvSpPr txBox="1"/>
          <p:nvPr/>
        </p:nvSpPr>
        <p:spPr>
          <a:xfrm>
            <a:off x="5760720" y="1901952"/>
            <a:ext cx="2103120" cy="2286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ROC-AUC</a:t>
            </a:r>
            <a:endParaRPr lang="en-US" sz="1000" dirty="0"/>
          </a:p>
        </p:txBody>
      </p:sp>
      <p:sp>
        <p:nvSpPr>
          <p:cNvPr id="12" name="stat-circle"/>
          <p:cNvSpPr/>
          <p:nvPr/>
        </p:nvSpPr>
        <p:spPr>
          <a:xfrm>
            <a:off x="5486400" y="2834640"/>
            <a:ext cx="1371600" cy="1371600"/>
          </a:xfrm>
          <a:prstGeom prst="ellipse">
            <a:avLst/>
          </a:prstGeom>
          <a:solidFill>
            <a:srgbClr val="F5B400"/>
          </a:solidFill>
          <a:ln w="12700">
            <a:solidFill>
              <a:srgbClr val="F5B400"/>
            </a:solidFill>
            <a:prstDash val="solid"/>
          </a:ln>
        </p:spPr>
      </p:sp>
      <p:sp>
        <p:nvSpPr>
          <p:cNvPr id="13" name="Text 10"/>
          <p:cNvSpPr txBox="1"/>
          <p:nvPr/>
        </p:nvSpPr>
        <p:spPr>
          <a:xfrm>
            <a:off x="5486400" y="3218688"/>
            <a:ext cx="13716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Cambria" pitchFamily="34" charset="0"/>
                <a:ea typeface="Cambria" pitchFamily="34" charset="-122"/>
                <a:cs typeface="Cambria" pitchFamily="34" charset="-120"/>
              </a:rPr>
              <a:t>65.3%</a:t>
            </a:r>
            <a:endParaRPr lang="en-US" sz="2000" dirty="0"/>
          </a:p>
        </p:txBody>
      </p:sp>
      <p:sp>
        <p:nvSpPr>
          <p:cNvPr id="14" name="Text 11"/>
          <p:cNvSpPr txBox="1"/>
          <p:nvPr/>
        </p:nvSpPr>
        <p:spPr>
          <a:xfrm>
            <a:off x="5486400" y="3657600"/>
            <a:ext cx="1371600" cy="2286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Precision</a:t>
            </a:r>
            <a:endParaRPr lang="en-US" sz="1000" dirty="0"/>
          </a:p>
        </p:txBody>
      </p:sp>
      <p:sp>
        <p:nvSpPr>
          <p:cNvPr id="15" name="stat-circle"/>
          <p:cNvSpPr/>
          <p:nvPr/>
        </p:nvSpPr>
        <p:spPr>
          <a:xfrm>
            <a:off x="6903720" y="2606040"/>
            <a:ext cx="1737360" cy="1737360"/>
          </a:xfrm>
          <a:prstGeom prst="ellipse">
            <a:avLst/>
          </a:prstGeom>
          <a:solidFill>
            <a:srgbClr val="D6336C"/>
          </a:solidFill>
          <a:ln w="12700">
            <a:solidFill>
              <a:srgbClr val="D6336C"/>
            </a:solidFill>
            <a:prstDash val="solid"/>
          </a:ln>
        </p:spPr>
      </p:sp>
      <p:sp>
        <p:nvSpPr>
          <p:cNvPr id="16" name="Text 13"/>
          <p:cNvSpPr txBox="1"/>
          <p:nvPr/>
        </p:nvSpPr>
        <p:spPr>
          <a:xfrm>
            <a:off x="6903720" y="3092501"/>
            <a:ext cx="1737360" cy="521208"/>
          </a:xfrm>
          <a:prstGeom prst="rect">
            <a:avLst/>
          </a:prstGeom>
          <a:noFill/>
          <a:ln/>
        </p:spPr>
        <p:txBody>
          <a:bodyPr wrap="square" lIns="0" tIns="0" rIns="0" bIns="0" rtlCol="0" anchor="t"/>
          <a:lstStyle/>
          <a:p>
            <a:pPr algn="ctr" indent="0" marL="0">
              <a:buNone/>
            </a:pPr>
            <a:r>
              <a:rPr lang="en-US" sz="2600" b="1" dirty="0">
                <a:solidFill>
                  <a:srgbClr val="FFFFFF"/>
                </a:solidFill>
                <a:latin typeface="Cambria" pitchFamily="34" charset="0"/>
                <a:ea typeface="Cambria" pitchFamily="34" charset="-122"/>
                <a:cs typeface="Cambria" pitchFamily="34" charset="-120"/>
              </a:rPr>
              <a:t>67.4%</a:t>
            </a:r>
            <a:endParaRPr lang="en-US" sz="2600" dirty="0"/>
          </a:p>
        </p:txBody>
      </p:sp>
      <p:sp>
        <p:nvSpPr>
          <p:cNvPr id="17" name="Text 14"/>
          <p:cNvSpPr txBox="1"/>
          <p:nvPr/>
        </p:nvSpPr>
        <p:spPr>
          <a:xfrm>
            <a:off x="6903720" y="3648456"/>
            <a:ext cx="1737360" cy="2286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Recall</a:t>
            </a:r>
            <a:endParaRPr lang="en-US" sz="1000" dirty="0"/>
          </a:p>
        </p:txBody>
      </p:sp>
      <p:sp>
        <p:nvSpPr>
          <p:cNvPr id="18" name="Text 15"/>
          <p:cNvSpPr txBox="1"/>
          <p:nvPr/>
        </p:nvSpPr>
        <p:spPr>
          <a:xfrm>
            <a:off x="5486400" y="4572000"/>
            <a:ext cx="3200400" cy="182880"/>
          </a:xfrm>
          <a:prstGeom prst="rect">
            <a:avLst/>
          </a:prstGeom>
          <a:noFill/>
          <a:ln/>
        </p:spPr>
        <p:txBody>
          <a:bodyPr wrap="square" lIns="0" tIns="0" rIns="0" bIns="0" rtlCol="0" anchor="t"/>
          <a:lstStyle/>
          <a:p>
            <a:pPr algn="ctr" indent="0" marL="0">
              <a:buNone/>
            </a:pPr>
            <a:r>
              <a:rPr lang="en-US" sz="800" i="1" dirty="0">
                <a:solidFill>
                  <a:srgbClr val="D9C8F5"/>
                </a:solidFill>
                <a:latin typeface="Calibri" pitchFamily="34" charset="0"/>
                <a:ea typeface="Calibri" pitchFamily="34" charset="-122"/>
                <a:cs typeface="Calibri" pitchFamily="34" charset="-120"/>
              </a:rPr>
              <a:t>Repository-reported, temporal hold-out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Agenda</a:t>
            </a:r>
            <a:endParaRPr lang="en-US" sz="2600" dirty="0"/>
          </a:p>
        </p:txBody>
      </p:sp>
      <p:sp>
        <p:nvSpPr>
          <p:cNvPr id="3" name="card"/>
          <p:cNvSpPr/>
          <p:nvPr/>
        </p:nvSpPr>
        <p:spPr>
          <a:xfrm>
            <a:off x="457200" y="1097280"/>
            <a:ext cx="4023360" cy="914400"/>
          </a:xfrm>
          <a:prstGeom prst="roundRect">
            <a:avLst>
              <a:gd name="adj" fmla="val 6000"/>
            </a:avLst>
          </a:prstGeom>
          <a:solidFill>
            <a:srgbClr val="F6F2FB"/>
          </a:solidFill>
          <a:ln w="12700">
            <a:solidFill>
              <a:srgbClr val="F6F2FB"/>
            </a:solidFill>
            <a:prstDash val="solid"/>
          </a:ln>
        </p:spPr>
      </p:sp>
      <p:sp>
        <p:nvSpPr>
          <p:cNvPr id="4" name="badge"/>
          <p:cNvSpPr/>
          <p:nvPr/>
        </p:nvSpPr>
        <p:spPr>
          <a:xfrm>
            <a:off x="640080" y="1371600"/>
            <a:ext cx="365760" cy="365760"/>
          </a:xfrm>
          <a:prstGeom prst="ellipse">
            <a:avLst/>
          </a:prstGeom>
          <a:solidFill>
            <a:srgbClr val="8E5FD1"/>
          </a:solidFill>
          <a:ln w="12700">
            <a:solidFill>
              <a:srgbClr val="8E5FD1"/>
            </a:solidFill>
            <a:prstDash val="solid"/>
          </a:ln>
        </p:spPr>
      </p:sp>
      <p:sp>
        <p:nvSpPr>
          <p:cNvPr id="5" name="Text 3"/>
          <p:cNvSpPr txBox="1"/>
          <p:nvPr/>
        </p:nvSpPr>
        <p:spPr>
          <a:xfrm>
            <a:off x="640080" y="13716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280160"/>
            <a:ext cx="3108960" cy="274320"/>
          </a:xfrm>
          <a:prstGeom prst="rect">
            <a:avLst/>
          </a:prstGeom>
          <a:noFill/>
          <a:ln/>
        </p:spPr>
        <p:txBody>
          <a:bodyPr wrap="square" lIns="0" tIns="0" rIns="0" bIns="0" rtlCol="0" anchor="t"/>
          <a:lstStyle/>
          <a:p>
            <a:pPr indent="0" marL="0">
              <a:buNone/>
            </a:pPr>
            <a:r>
              <a:rPr lang="en-US" sz="1600" b="1" dirty="0">
                <a:solidFill>
                  <a:srgbClr val="4B2A6E"/>
                </a:solidFill>
                <a:latin typeface="Cambria" pitchFamily="34" charset="0"/>
                <a:ea typeface="Cambria" pitchFamily="34" charset="-122"/>
                <a:cs typeface="Cambria" pitchFamily="34" charset="-120"/>
              </a:rPr>
              <a:t>Concepts</a:t>
            </a:r>
            <a:endParaRPr lang="en-US" sz="1600" dirty="0"/>
          </a:p>
        </p:txBody>
      </p:sp>
      <p:sp>
        <p:nvSpPr>
          <p:cNvPr id="7" name="Text 5"/>
          <p:cNvSpPr txBox="1"/>
          <p:nvPr/>
        </p:nvSpPr>
        <p:spPr>
          <a:xfrm>
            <a:off x="1188720" y="1600200"/>
            <a:ext cx="3108960" cy="32004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Fraud problem, objectives, why streaming</a:t>
            </a:r>
            <a:endParaRPr lang="en-US" sz="1200" dirty="0"/>
          </a:p>
        </p:txBody>
      </p:sp>
      <p:sp>
        <p:nvSpPr>
          <p:cNvPr id="8" name="card"/>
          <p:cNvSpPr/>
          <p:nvPr/>
        </p:nvSpPr>
        <p:spPr>
          <a:xfrm>
            <a:off x="4663440" y="1097280"/>
            <a:ext cx="4023360" cy="914400"/>
          </a:xfrm>
          <a:prstGeom prst="roundRect">
            <a:avLst>
              <a:gd name="adj" fmla="val 6000"/>
            </a:avLst>
          </a:prstGeom>
          <a:solidFill>
            <a:srgbClr val="F6F2FB"/>
          </a:solidFill>
          <a:ln w="12700">
            <a:solidFill>
              <a:srgbClr val="F6F2FB"/>
            </a:solidFill>
            <a:prstDash val="solid"/>
          </a:ln>
        </p:spPr>
      </p:sp>
      <p:sp>
        <p:nvSpPr>
          <p:cNvPr id="9" name="badge"/>
          <p:cNvSpPr/>
          <p:nvPr/>
        </p:nvSpPr>
        <p:spPr>
          <a:xfrm>
            <a:off x="4846320" y="1371600"/>
            <a:ext cx="365760" cy="365760"/>
          </a:xfrm>
          <a:prstGeom prst="ellipse">
            <a:avLst/>
          </a:prstGeom>
          <a:solidFill>
            <a:srgbClr val="F5B400"/>
          </a:solidFill>
          <a:ln w="12700">
            <a:solidFill>
              <a:srgbClr val="F5B400"/>
            </a:solidFill>
            <a:prstDash val="solid"/>
          </a:ln>
        </p:spPr>
      </p:sp>
      <p:sp>
        <p:nvSpPr>
          <p:cNvPr id="10" name="Text 8"/>
          <p:cNvSpPr txBox="1"/>
          <p:nvPr/>
        </p:nvSpPr>
        <p:spPr>
          <a:xfrm>
            <a:off x="4846320" y="13716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394960" y="1280160"/>
            <a:ext cx="3108960" cy="274320"/>
          </a:xfrm>
          <a:prstGeom prst="rect">
            <a:avLst/>
          </a:prstGeom>
          <a:noFill/>
          <a:ln/>
        </p:spPr>
        <p:txBody>
          <a:bodyPr wrap="square" lIns="0" tIns="0" rIns="0" bIns="0" rtlCol="0" anchor="t"/>
          <a:lstStyle/>
          <a:p>
            <a:pPr indent="0" marL="0">
              <a:buNone/>
            </a:pPr>
            <a:r>
              <a:rPr lang="en-US" sz="1600" b="1" dirty="0">
                <a:solidFill>
                  <a:srgbClr val="4B2A6E"/>
                </a:solidFill>
                <a:latin typeface="Cambria" pitchFamily="34" charset="0"/>
                <a:ea typeface="Cambria" pitchFamily="34" charset="-122"/>
                <a:cs typeface="Cambria" pitchFamily="34" charset="-120"/>
              </a:rPr>
              <a:t>Architecture</a:t>
            </a:r>
            <a:endParaRPr lang="en-US" sz="1600" dirty="0"/>
          </a:p>
        </p:txBody>
      </p:sp>
      <p:sp>
        <p:nvSpPr>
          <p:cNvPr id="12" name="Text 10"/>
          <p:cNvSpPr txBox="1"/>
          <p:nvPr/>
        </p:nvSpPr>
        <p:spPr>
          <a:xfrm>
            <a:off x="5394960" y="1600200"/>
            <a:ext cx="3108960" cy="32004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System design, tech stack, Kafka, Delta layers</a:t>
            </a:r>
            <a:endParaRPr lang="en-US" sz="1200" dirty="0"/>
          </a:p>
        </p:txBody>
      </p:sp>
      <p:sp>
        <p:nvSpPr>
          <p:cNvPr id="13" name="card"/>
          <p:cNvSpPr/>
          <p:nvPr/>
        </p:nvSpPr>
        <p:spPr>
          <a:xfrm>
            <a:off x="457200" y="2194560"/>
            <a:ext cx="4023360" cy="914400"/>
          </a:xfrm>
          <a:prstGeom prst="roundRect">
            <a:avLst>
              <a:gd name="adj" fmla="val 6000"/>
            </a:avLst>
          </a:prstGeom>
          <a:solidFill>
            <a:srgbClr val="F6F2FB"/>
          </a:solidFill>
          <a:ln w="12700">
            <a:solidFill>
              <a:srgbClr val="F6F2FB"/>
            </a:solidFill>
            <a:prstDash val="solid"/>
          </a:ln>
        </p:spPr>
      </p:sp>
      <p:sp>
        <p:nvSpPr>
          <p:cNvPr id="14" name="badge"/>
          <p:cNvSpPr/>
          <p:nvPr/>
        </p:nvSpPr>
        <p:spPr>
          <a:xfrm>
            <a:off x="640080" y="2468880"/>
            <a:ext cx="365760" cy="365760"/>
          </a:xfrm>
          <a:prstGeom prst="ellipse">
            <a:avLst/>
          </a:prstGeom>
          <a:solidFill>
            <a:srgbClr val="1F9D74"/>
          </a:solidFill>
          <a:ln w="12700">
            <a:solidFill>
              <a:srgbClr val="1F9D74"/>
            </a:solidFill>
            <a:prstDash val="solid"/>
          </a:ln>
        </p:spPr>
      </p:sp>
      <p:sp>
        <p:nvSpPr>
          <p:cNvPr id="15" name="Text 13"/>
          <p:cNvSpPr txBox="1"/>
          <p:nvPr/>
        </p:nvSpPr>
        <p:spPr>
          <a:xfrm>
            <a:off x="640080" y="2468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88720" y="2377440"/>
            <a:ext cx="3108960" cy="274320"/>
          </a:xfrm>
          <a:prstGeom prst="rect">
            <a:avLst/>
          </a:prstGeom>
          <a:noFill/>
          <a:ln/>
        </p:spPr>
        <p:txBody>
          <a:bodyPr wrap="square" lIns="0" tIns="0" rIns="0" bIns="0" rtlCol="0" anchor="t"/>
          <a:lstStyle/>
          <a:p>
            <a:pPr indent="0" marL="0">
              <a:buNone/>
            </a:pPr>
            <a:r>
              <a:rPr lang="en-US" sz="1600" b="1" dirty="0">
                <a:solidFill>
                  <a:srgbClr val="4B2A6E"/>
                </a:solidFill>
                <a:latin typeface="Cambria" pitchFamily="34" charset="0"/>
                <a:ea typeface="Cambria" pitchFamily="34" charset="-122"/>
                <a:cs typeface="Cambria" pitchFamily="34" charset="-120"/>
              </a:rPr>
              <a:t>Features</a:t>
            </a:r>
            <a:endParaRPr lang="en-US" sz="1600" dirty="0"/>
          </a:p>
        </p:txBody>
      </p:sp>
      <p:sp>
        <p:nvSpPr>
          <p:cNvPr id="17" name="Text 15"/>
          <p:cNvSpPr txBox="1"/>
          <p:nvPr/>
        </p:nvSpPr>
        <p:spPr>
          <a:xfrm>
            <a:off x="1188720" y="2697480"/>
            <a:ext cx="3108960" cy="32004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Quality, windows, user state, rules</a:t>
            </a:r>
            <a:endParaRPr lang="en-US" sz="1200" dirty="0"/>
          </a:p>
        </p:txBody>
      </p:sp>
      <p:sp>
        <p:nvSpPr>
          <p:cNvPr id="18" name="card"/>
          <p:cNvSpPr/>
          <p:nvPr/>
        </p:nvSpPr>
        <p:spPr>
          <a:xfrm>
            <a:off x="4663440" y="2194560"/>
            <a:ext cx="4023360" cy="914400"/>
          </a:xfrm>
          <a:prstGeom prst="roundRect">
            <a:avLst>
              <a:gd name="adj" fmla="val 6000"/>
            </a:avLst>
          </a:prstGeom>
          <a:solidFill>
            <a:srgbClr val="F6F2FB"/>
          </a:solidFill>
          <a:ln w="12700">
            <a:solidFill>
              <a:srgbClr val="F6F2FB"/>
            </a:solidFill>
            <a:prstDash val="solid"/>
          </a:ln>
        </p:spPr>
      </p:sp>
      <p:sp>
        <p:nvSpPr>
          <p:cNvPr id="19" name="badge"/>
          <p:cNvSpPr/>
          <p:nvPr/>
        </p:nvSpPr>
        <p:spPr>
          <a:xfrm>
            <a:off x="4846320" y="2468880"/>
            <a:ext cx="365760" cy="365760"/>
          </a:xfrm>
          <a:prstGeom prst="ellipse">
            <a:avLst/>
          </a:prstGeom>
          <a:solidFill>
            <a:srgbClr val="D6336C"/>
          </a:solidFill>
          <a:ln w="12700">
            <a:solidFill>
              <a:srgbClr val="D6336C"/>
            </a:solidFill>
            <a:prstDash val="solid"/>
          </a:ln>
        </p:spPr>
      </p:sp>
      <p:sp>
        <p:nvSpPr>
          <p:cNvPr id="20" name="Text 18"/>
          <p:cNvSpPr txBox="1"/>
          <p:nvPr/>
        </p:nvSpPr>
        <p:spPr>
          <a:xfrm>
            <a:off x="4846320" y="2468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5394960" y="2377440"/>
            <a:ext cx="3108960" cy="274320"/>
          </a:xfrm>
          <a:prstGeom prst="rect">
            <a:avLst/>
          </a:prstGeom>
          <a:noFill/>
          <a:ln/>
        </p:spPr>
        <p:txBody>
          <a:bodyPr wrap="square" lIns="0" tIns="0" rIns="0" bIns="0" rtlCol="0" anchor="t"/>
          <a:lstStyle/>
          <a:p>
            <a:pPr indent="0" marL="0">
              <a:buNone/>
            </a:pPr>
            <a:r>
              <a:rPr lang="en-US" sz="1600" b="1" dirty="0">
                <a:solidFill>
                  <a:srgbClr val="4B2A6E"/>
                </a:solidFill>
                <a:latin typeface="Cambria" pitchFamily="34" charset="0"/>
                <a:ea typeface="Cambria" pitchFamily="34" charset="-122"/>
                <a:cs typeface="Cambria" pitchFamily="34" charset="-120"/>
              </a:rPr>
              <a:t>Model</a:t>
            </a:r>
            <a:endParaRPr lang="en-US" sz="1600" dirty="0"/>
          </a:p>
        </p:txBody>
      </p:sp>
      <p:sp>
        <p:nvSpPr>
          <p:cNvPr id="22" name="Text 20"/>
          <p:cNvSpPr txBox="1"/>
          <p:nvPr/>
        </p:nvSpPr>
        <p:spPr>
          <a:xfrm>
            <a:off x="5394960" y="2697480"/>
            <a:ext cx="3108960" cy="32004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Random Forest, hybrid decision</a:t>
            </a:r>
            <a:endParaRPr lang="en-US" sz="1200" dirty="0"/>
          </a:p>
        </p:txBody>
      </p:sp>
      <p:sp>
        <p:nvSpPr>
          <p:cNvPr id="23" name="card"/>
          <p:cNvSpPr/>
          <p:nvPr/>
        </p:nvSpPr>
        <p:spPr>
          <a:xfrm>
            <a:off x="457200" y="3291840"/>
            <a:ext cx="4023360" cy="914400"/>
          </a:xfrm>
          <a:prstGeom prst="roundRect">
            <a:avLst>
              <a:gd name="adj" fmla="val 6000"/>
            </a:avLst>
          </a:prstGeom>
          <a:solidFill>
            <a:srgbClr val="F6F2FB"/>
          </a:solidFill>
          <a:ln w="12700">
            <a:solidFill>
              <a:srgbClr val="F6F2FB"/>
            </a:solidFill>
            <a:prstDash val="solid"/>
          </a:ln>
        </p:spPr>
      </p:sp>
      <p:sp>
        <p:nvSpPr>
          <p:cNvPr id="24" name="badge"/>
          <p:cNvSpPr/>
          <p:nvPr/>
        </p:nvSpPr>
        <p:spPr>
          <a:xfrm>
            <a:off x="640080" y="3566160"/>
            <a:ext cx="365760" cy="365760"/>
          </a:xfrm>
          <a:prstGeom prst="ellipse">
            <a:avLst/>
          </a:prstGeom>
          <a:solidFill>
            <a:srgbClr val="4B2A6E"/>
          </a:solidFill>
          <a:ln w="12700">
            <a:solidFill>
              <a:srgbClr val="4B2A6E"/>
            </a:solidFill>
            <a:prstDash val="solid"/>
          </a:ln>
        </p:spPr>
      </p:sp>
      <p:sp>
        <p:nvSpPr>
          <p:cNvPr id="25" name="Text 23"/>
          <p:cNvSpPr txBox="1"/>
          <p:nvPr/>
        </p:nvSpPr>
        <p:spPr>
          <a:xfrm>
            <a:off x="640080" y="3566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1188720" y="3474720"/>
            <a:ext cx="3108960" cy="274320"/>
          </a:xfrm>
          <a:prstGeom prst="rect">
            <a:avLst/>
          </a:prstGeom>
          <a:noFill/>
          <a:ln/>
        </p:spPr>
        <p:txBody>
          <a:bodyPr wrap="square" lIns="0" tIns="0" rIns="0" bIns="0" rtlCol="0" anchor="t"/>
          <a:lstStyle/>
          <a:p>
            <a:pPr indent="0" marL="0">
              <a:buNone/>
            </a:pPr>
            <a:r>
              <a:rPr lang="en-US" sz="1600" b="1" dirty="0">
                <a:solidFill>
                  <a:srgbClr val="4B2A6E"/>
                </a:solidFill>
                <a:latin typeface="Cambria" pitchFamily="34" charset="0"/>
                <a:ea typeface="Cambria" pitchFamily="34" charset="-122"/>
                <a:cs typeface="Cambria" pitchFamily="34" charset="-120"/>
              </a:rPr>
              <a:t>Results</a:t>
            </a:r>
            <a:endParaRPr lang="en-US" sz="1600" dirty="0"/>
          </a:p>
        </p:txBody>
      </p:sp>
      <p:sp>
        <p:nvSpPr>
          <p:cNvPr id="27" name="Text 25"/>
          <p:cNvSpPr txBox="1"/>
          <p:nvPr/>
        </p:nvSpPr>
        <p:spPr>
          <a:xfrm>
            <a:off x="1188720" y="3794760"/>
            <a:ext cx="3108960" cy="32004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Metrics, benchmark, dashboard, Spark UI</a:t>
            </a:r>
            <a:endParaRPr lang="en-US" sz="1200" dirty="0"/>
          </a:p>
        </p:txBody>
      </p:sp>
      <p:sp>
        <p:nvSpPr>
          <p:cNvPr id="28" name="card"/>
          <p:cNvSpPr/>
          <p:nvPr/>
        </p:nvSpPr>
        <p:spPr>
          <a:xfrm>
            <a:off x="4663440" y="3291840"/>
            <a:ext cx="4023360" cy="914400"/>
          </a:xfrm>
          <a:prstGeom prst="roundRect">
            <a:avLst>
              <a:gd name="adj" fmla="val 6000"/>
            </a:avLst>
          </a:prstGeom>
          <a:solidFill>
            <a:srgbClr val="F6F2FB"/>
          </a:solidFill>
          <a:ln w="12700">
            <a:solidFill>
              <a:srgbClr val="F6F2FB"/>
            </a:solidFill>
            <a:prstDash val="solid"/>
          </a:ln>
        </p:spPr>
      </p:sp>
      <p:sp>
        <p:nvSpPr>
          <p:cNvPr id="29" name="badge"/>
          <p:cNvSpPr/>
          <p:nvPr/>
        </p:nvSpPr>
        <p:spPr>
          <a:xfrm>
            <a:off x="4846320" y="3566160"/>
            <a:ext cx="365760" cy="365760"/>
          </a:xfrm>
          <a:prstGeom prst="ellipse">
            <a:avLst/>
          </a:prstGeom>
          <a:solidFill>
            <a:srgbClr val="6E6A80"/>
          </a:solidFill>
          <a:ln w="12700">
            <a:solidFill>
              <a:srgbClr val="6E6A80"/>
            </a:solidFill>
            <a:prstDash val="solid"/>
          </a:ln>
        </p:spPr>
      </p:sp>
      <p:sp>
        <p:nvSpPr>
          <p:cNvPr id="30" name="Text 28"/>
          <p:cNvSpPr txBox="1"/>
          <p:nvPr/>
        </p:nvSpPr>
        <p:spPr>
          <a:xfrm>
            <a:off x="4846320" y="3566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5394960" y="3474720"/>
            <a:ext cx="3108960" cy="274320"/>
          </a:xfrm>
          <a:prstGeom prst="rect">
            <a:avLst/>
          </a:prstGeom>
          <a:noFill/>
          <a:ln/>
        </p:spPr>
        <p:txBody>
          <a:bodyPr wrap="square" lIns="0" tIns="0" rIns="0" bIns="0" rtlCol="0" anchor="t"/>
          <a:lstStyle/>
          <a:p>
            <a:pPr indent="0" marL="0">
              <a:buNone/>
            </a:pPr>
            <a:r>
              <a:rPr lang="en-US" sz="1600" b="1" dirty="0">
                <a:solidFill>
                  <a:srgbClr val="4B2A6E"/>
                </a:solidFill>
                <a:latin typeface="Cambria" pitchFamily="34" charset="0"/>
                <a:ea typeface="Cambria" pitchFamily="34" charset="-122"/>
                <a:cs typeface="Cambria" pitchFamily="34" charset="-120"/>
              </a:rPr>
              <a:t>Wrap-up</a:t>
            </a:r>
            <a:endParaRPr lang="en-US" sz="1600" dirty="0"/>
          </a:p>
        </p:txBody>
      </p:sp>
      <p:sp>
        <p:nvSpPr>
          <p:cNvPr id="32" name="Text 30"/>
          <p:cNvSpPr txBox="1"/>
          <p:nvPr/>
        </p:nvSpPr>
        <p:spPr>
          <a:xfrm>
            <a:off x="5394960" y="3794760"/>
            <a:ext cx="3108960" cy="32004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Reliability, limits, future scope, conclusion</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Why real-time fraud detection matters</a:t>
            </a:r>
            <a:endParaRPr lang="en-US" sz="2600" dirty="0"/>
          </a:p>
        </p:txBody>
      </p:sp>
      <p:sp>
        <p:nvSpPr>
          <p:cNvPr id="3" name="card"/>
          <p:cNvSpPr/>
          <p:nvPr/>
        </p:nvSpPr>
        <p:spPr>
          <a:xfrm>
            <a:off x="457200" y="1097280"/>
            <a:ext cx="3108960" cy="3383280"/>
          </a:xfrm>
          <a:prstGeom prst="roundRect">
            <a:avLst>
              <a:gd name="adj" fmla="val 1765"/>
            </a:avLst>
          </a:prstGeom>
          <a:solidFill>
            <a:srgbClr val="4B2A6E"/>
          </a:solidFill>
          <a:ln w="12700">
            <a:solidFill>
              <a:srgbClr val="4B2A6E"/>
            </a:solidFill>
            <a:prstDash val="solid"/>
          </a:ln>
        </p:spPr>
      </p:sp>
      <p:sp>
        <p:nvSpPr>
          <p:cNvPr id="4" name="Text 2"/>
          <p:cNvSpPr txBox="1"/>
          <p:nvPr/>
        </p:nvSpPr>
        <p:spPr>
          <a:xfrm>
            <a:off x="685800" y="1280160"/>
            <a:ext cx="274320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The problem</a:t>
            </a:r>
            <a:endParaRPr lang="en-US" sz="1800" dirty="0"/>
          </a:p>
        </p:txBody>
      </p:sp>
      <p:sp>
        <p:nvSpPr>
          <p:cNvPr id="5" name="Text 3"/>
          <p:cNvSpPr txBox="1"/>
          <p:nvPr/>
        </p:nvSpPr>
        <p:spPr>
          <a:xfrm>
            <a:off x="685800" y="1783080"/>
            <a:ext cx="2697480" cy="2560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Payments produce a continuous stream of events. A transaction can look normal alone but be suspicious against the user's history, the last ten minutes, or a sudden device change. Detection must happen while the stream flows, and the system must survive restarts.</a:t>
            </a:r>
            <a:endParaRPr lang="en-US" sz="1300" dirty="0"/>
          </a:p>
        </p:txBody>
      </p:sp>
      <p:sp>
        <p:nvSpPr>
          <p:cNvPr id="6" name="card"/>
          <p:cNvSpPr/>
          <p:nvPr/>
        </p:nvSpPr>
        <p:spPr>
          <a:xfrm>
            <a:off x="3749040" y="1097280"/>
            <a:ext cx="2377440" cy="1600200"/>
          </a:xfrm>
          <a:prstGeom prst="roundRect">
            <a:avLst>
              <a:gd name="adj" fmla="val 3429"/>
            </a:avLst>
          </a:prstGeom>
          <a:solidFill>
            <a:srgbClr val="F6F2FB"/>
          </a:solidFill>
          <a:ln w="12700">
            <a:solidFill>
              <a:srgbClr val="F6F2FB"/>
            </a:solidFill>
            <a:prstDash val="solid"/>
          </a:ln>
        </p:spPr>
      </p:sp>
      <p:sp>
        <p:nvSpPr>
          <p:cNvPr id="7" name="badge"/>
          <p:cNvSpPr/>
          <p:nvPr/>
        </p:nvSpPr>
        <p:spPr>
          <a:xfrm>
            <a:off x="3886200" y="1234440"/>
            <a:ext cx="457200" cy="457200"/>
          </a:xfrm>
          <a:prstGeom prst="ellipse">
            <a:avLst/>
          </a:prstGeom>
          <a:solidFill>
            <a:srgbClr val="D6336C"/>
          </a:solidFill>
          <a:ln w="12700">
            <a:solidFill>
              <a:srgbClr val="D6336C"/>
            </a:solidFill>
            <a:prstDash val="solid"/>
          </a:ln>
        </p:spPr>
      </p:sp>
      <p:sp>
        <p:nvSpPr>
          <p:cNvPr id="8" name="Text 6"/>
          <p:cNvSpPr txBox="1"/>
          <p:nvPr/>
        </p:nvSpPr>
        <p:spPr>
          <a:xfrm>
            <a:off x="3886200" y="12344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9" name="icon" descr="preencoded.png">    </p:cNvPr>
          <p:cNvPicPr>
            <a:picLocks noChangeAspect="1"/>
          </p:cNvPicPr>
          <p:nvPr/>
        </p:nvPicPr>
        <p:blipFill>
          <a:blip r:embed="rId1"/>
          <a:stretch>
            <a:fillRect/>
          </a:stretch>
        </p:blipFill>
        <p:spPr>
          <a:xfrm>
            <a:off x="4000500" y="1348740"/>
            <a:ext cx="228600" cy="228600"/>
          </a:xfrm>
          <a:prstGeom prst="rect">
            <a:avLst/>
          </a:prstGeom>
        </p:spPr>
      </p:pic>
      <p:sp>
        <p:nvSpPr>
          <p:cNvPr id="10" name="Text 7"/>
          <p:cNvSpPr txBox="1"/>
          <p:nvPr/>
        </p:nvSpPr>
        <p:spPr>
          <a:xfrm>
            <a:off x="3886200" y="1810512"/>
            <a:ext cx="210312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History</a:t>
            </a:r>
            <a:endParaRPr lang="en-US" sz="1500" dirty="0"/>
          </a:p>
        </p:txBody>
      </p:sp>
      <p:sp>
        <p:nvSpPr>
          <p:cNvPr id="11" name="Text 8"/>
          <p:cNvSpPr txBox="1"/>
          <p:nvPr/>
        </p:nvSpPr>
        <p:spPr>
          <a:xfrm>
            <a:off x="3886200" y="2103120"/>
            <a:ext cx="21031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Amount far above the user's own average</a:t>
            </a:r>
            <a:endParaRPr lang="en-US" sz="1100" dirty="0"/>
          </a:p>
        </p:txBody>
      </p:sp>
      <p:sp>
        <p:nvSpPr>
          <p:cNvPr id="12" name="card"/>
          <p:cNvSpPr/>
          <p:nvPr/>
        </p:nvSpPr>
        <p:spPr>
          <a:xfrm>
            <a:off x="6263640" y="1097280"/>
            <a:ext cx="2377440" cy="1600200"/>
          </a:xfrm>
          <a:prstGeom prst="roundRect">
            <a:avLst>
              <a:gd name="adj" fmla="val 3429"/>
            </a:avLst>
          </a:prstGeom>
          <a:solidFill>
            <a:srgbClr val="F6F2FB"/>
          </a:solidFill>
          <a:ln w="12700">
            <a:solidFill>
              <a:srgbClr val="F6F2FB"/>
            </a:solidFill>
            <a:prstDash val="solid"/>
          </a:ln>
        </p:spPr>
      </p:sp>
      <p:sp>
        <p:nvSpPr>
          <p:cNvPr id="13" name="badge"/>
          <p:cNvSpPr/>
          <p:nvPr/>
        </p:nvSpPr>
        <p:spPr>
          <a:xfrm>
            <a:off x="6400800" y="1234440"/>
            <a:ext cx="457200" cy="457200"/>
          </a:xfrm>
          <a:prstGeom prst="ellipse">
            <a:avLst/>
          </a:prstGeom>
          <a:solidFill>
            <a:srgbClr val="F5B400"/>
          </a:solidFill>
          <a:ln w="12700">
            <a:solidFill>
              <a:srgbClr val="F5B400"/>
            </a:solidFill>
            <a:prstDash val="solid"/>
          </a:ln>
        </p:spPr>
      </p:sp>
      <p:sp>
        <p:nvSpPr>
          <p:cNvPr id="14" name="Text 11"/>
          <p:cNvSpPr txBox="1"/>
          <p:nvPr/>
        </p:nvSpPr>
        <p:spPr>
          <a:xfrm>
            <a:off x="6400800" y="12344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15" name="icon" descr="preencoded.png">    </p:cNvPr>
          <p:cNvPicPr>
            <a:picLocks noChangeAspect="1"/>
          </p:cNvPicPr>
          <p:nvPr/>
        </p:nvPicPr>
        <p:blipFill>
          <a:blip r:embed="rId2"/>
          <a:stretch>
            <a:fillRect/>
          </a:stretch>
        </p:blipFill>
        <p:spPr>
          <a:xfrm>
            <a:off x="6515100" y="1348740"/>
            <a:ext cx="228600" cy="228600"/>
          </a:xfrm>
          <a:prstGeom prst="rect">
            <a:avLst/>
          </a:prstGeom>
        </p:spPr>
      </p:pic>
      <p:sp>
        <p:nvSpPr>
          <p:cNvPr id="16" name="Text 12"/>
          <p:cNvSpPr txBox="1"/>
          <p:nvPr/>
        </p:nvSpPr>
        <p:spPr>
          <a:xfrm>
            <a:off x="6400800" y="1810512"/>
            <a:ext cx="210312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Velocity</a:t>
            </a:r>
            <a:endParaRPr lang="en-US" sz="1500" dirty="0"/>
          </a:p>
        </p:txBody>
      </p:sp>
      <p:sp>
        <p:nvSpPr>
          <p:cNvPr id="17" name="Text 13"/>
          <p:cNvSpPr txBox="1"/>
          <p:nvPr/>
        </p:nvSpPr>
        <p:spPr>
          <a:xfrm>
            <a:off x="6400800" y="2103120"/>
            <a:ext cx="21031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Many transactions in a few minutes</a:t>
            </a:r>
            <a:endParaRPr lang="en-US" sz="1100" dirty="0"/>
          </a:p>
        </p:txBody>
      </p:sp>
      <p:sp>
        <p:nvSpPr>
          <p:cNvPr id="18" name="card"/>
          <p:cNvSpPr/>
          <p:nvPr/>
        </p:nvSpPr>
        <p:spPr>
          <a:xfrm>
            <a:off x="3749040" y="2834640"/>
            <a:ext cx="2377440" cy="1600200"/>
          </a:xfrm>
          <a:prstGeom prst="roundRect">
            <a:avLst>
              <a:gd name="adj" fmla="val 3429"/>
            </a:avLst>
          </a:prstGeom>
          <a:solidFill>
            <a:srgbClr val="F6F2FB"/>
          </a:solidFill>
          <a:ln w="12700">
            <a:solidFill>
              <a:srgbClr val="F6F2FB"/>
            </a:solidFill>
            <a:prstDash val="solid"/>
          </a:ln>
        </p:spPr>
      </p:sp>
      <p:sp>
        <p:nvSpPr>
          <p:cNvPr id="19" name="badge"/>
          <p:cNvSpPr/>
          <p:nvPr/>
        </p:nvSpPr>
        <p:spPr>
          <a:xfrm>
            <a:off x="3886200" y="2971800"/>
            <a:ext cx="457200" cy="457200"/>
          </a:xfrm>
          <a:prstGeom prst="ellipse">
            <a:avLst/>
          </a:prstGeom>
          <a:solidFill>
            <a:srgbClr val="1F9D74"/>
          </a:solidFill>
          <a:ln w="12700">
            <a:solidFill>
              <a:srgbClr val="1F9D74"/>
            </a:solidFill>
            <a:prstDash val="solid"/>
          </a:ln>
        </p:spPr>
      </p:sp>
      <p:sp>
        <p:nvSpPr>
          <p:cNvPr id="20" name="Text 16"/>
          <p:cNvSpPr txBox="1"/>
          <p:nvPr/>
        </p:nvSpPr>
        <p:spPr>
          <a:xfrm>
            <a:off x="3886200" y="297180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21" name="icon" descr="preencoded.png">    </p:cNvPr>
          <p:cNvPicPr>
            <a:picLocks noChangeAspect="1"/>
          </p:cNvPicPr>
          <p:nvPr/>
        </p:nvPicPr>
        <p:blipFill>
          <a:blip r:embed="rId3"/>
          <a:stretch>
            <a:fillRect/>
          </a:stretch>
        </p:blipFill>
        <p:spPr>
          <a:xfrm>
            <a:off x="4000500" y="3086100"/>
            <a:ext cx="228600" cy="228600"/>
          </a:xfrm>
          <a:prstGeom prst="rect">
            <a:avLst/>
          </a:prstGeom>
        </p:spPr>
      </p:pic>
      <p:sp>
        <p:nvSpPr>
          <p:cNvPr id="22" name="Text 17"/>
          <p:cNvSpPr txBox="1"/>
          <p:nvPr/>
        </p:nvSpPr>
        <p:spPr>
          <a:xfrm>
            <a:off x="3886200" y="3547872"/>
            <a:ext cx="210312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Device</a:t>
            </a:r>
            <a:endParaRPr lang="en-US" sz="1500" dirty="0"/>
          </a:p>
        </p:txBody>
      </p:sp>
      <p:sp>
        <p:nvSpPr>
          <p:cNvPr id="23" name="Text 18"/>
          <p:cNvSpPr txBox="1"/>
          <p:nvPr/>
        </p:nvSpPr>
        <p:spPr>
          <a:xfrm>
            <a:off x="3886200" y="3840480"/>
            <a:ext cx="21031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New or changing device with high amount</a:t>
            </a:r>
            <a:endParaRPr lang="en-US" sz="1100" dirty="0"/>
          </a:p>
        </p:txBody>
      </p:sp>
      <p:sp>
        <p:nvSpPr>
          <p:cNvPr id="24" name="card"/>
          <p:cNvSpPr/>
          <p:nvPr/>
        </p:nvSpPr>
        <p:spPr>
          <a:xfrm>
            <a:off x="6263640" y="2834640"/>
            <a:ext cx="2377440" cy="1600200"/>
          </a:xfrm>
          <a:prstGeom prst="roundRect">
            <a:avLst>
              <a:gd name="adj" fmla="val 3429"/>
            </a:avLst>
          </a:prstGeom>
          <a:solidFill>
            <a:srgbClr val="F6F2FB"/>
          </a:solidFill>
          <a:ln w="12700">
            <a:solidFill>
              <a:srgbClr val="F6F2FB"/>
            </a:solidFill>
            <a:prstDash val="solid"/>
          </a:ln>
        </p:spPr>
      </p:sp>
      <p:sp>
        <p:nvSpPr>
          <p:cNvPr id="25" name="badge"/>
          <p:cNvSpPr/>
          <p:nvPr/>
        </p:nvSpPr>
        <p:spPr>
          <a:xfrm>
            <a:off x="6400800" y="2971800"/>
            <a:ext cx="457200" cy="457200"/>
          </a:xfrm>
          <a:prstGeom prst="ellipse">
            <a:avLst/>
          </a:prstGeom>
          <a:solidFill>
            <a:srgbClr val="8E5FD1"/>
          </a:solidFill>
          <a:ln w="12700">
            <a:solidFill>
              <a:srgbClr val="8E5FD1"/>
            </a:solidFill>
            <a:prstDash val="solid"/>
          </a:ln>
        </p:spPr>
      </p:sp>
      <p:sp>
        <p:nvSpPr>
          <p:cNvPr id="26" name="Text 21"/>
          <p:cNvSpPr txBox="1"/>
          <p:nvPr/>
        </p:nvSpPr>
        <p:spPr>
          <a:xfrm>
            <a:off x="6400800" y="297180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27" name="icon" descr="preencoded.png">    </p:cNvPr>
          <p:cNvPicPr>
            <a:picLocks noChangeAspect="1"/>
          </p:cNvPicPr>
          <p:nvPr/>
        </p:nvPicPr>
        <p:blipFill>
          <a:blip r:embed="rId4"/>
          <a:stretch>
            <a:fillRect/>
          </a:stretch>
        </p:blipFill>
        <p:spPr>
          <a:xfrm>
            <a:off x="6515100" y="3086100"/>
            <a:ext cx="228600" cy="228600"/>
          </a:xfrm>
          <a:prstGeom prst="rect">
            <a:avLst/>
          </a:prstGeom>
        </p:spPr>
      </p:pic>
      <p:sp>
        <p:nvSpPr>
          <p:cNvPr id="28" name="Text 22"/>
          <p:cNvSpPr txBox="1"/>
          <p:nvPr/>
        </p:nvSpPr>
        <p:spPr>
          <a:xfrm>
            <a:off x="6400800" y="3547872"/>
            <a:ext cx="210312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Merchants</a:t>
            </a:r>
            <a:endParaRPr lang="en-US" sz="1500" dirty="0"/>
          </a:p>
        </p:txBody>
      </p:sp>
      <p:sp>
        <p:nvSpPr>
          <p:cNvPr id="29" name="Text 23"/>
          <p:cNvSpPr txBox="1"/>
          <p:nvPr/>
        </p:nvSpPr>
        <p:spPr>
          <a:xfrm>
            <a:off x="6400800" y="3840480"/>
            <a:ext cx="21031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Unusually many different merchant types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Project objectives</a:t>
            </a:r>
            <a:endParaRPr lang="en-US" sz="2600" dirty="0"/>
          </a:p>
        </p:txBody>
      </p:sp>
      <p:sp>
        <p:nvSpPr>
          <p:cNvPr id="3" name="card"/>
          <p:cNvSpPr/>
          <p:nvPr/>
        </p:nvSpPr>
        <p:spPr>
          <a:xfrm>
            <a:off x="457200" y="1143000"/>
            <a:ext cx="2651760" cy="1554480"/>
          </a:xfrm>
          <a:prstGeom prst="roundRect">
            <a:avLst>
              <a:gd name="adj" fmla="val 3529"/>
            </a:avLst>
          </a:prstGeom>
          <a:solidFill>
            <a:srgbClr val="F6F2FB"/>
          </a:solidFill>
          <a:ln w="12700">
            <a:solidFill>
              <a:srgbClr val="F6F2FB"/>
            </a:solidFill>
            <a:prstDash val="solid"/>
          </a:ln>
        </p:spPr>
      </p:sp>
      <p:sp>
        <p:nvSpPr>
          <p:cNvPr id="4" name="badge"/>
          <p:cNvSpPr/>
          <p:nvPr/>
        </p:nvSpPr>
        <p:spPr>
          <a:xfrm>
            <a:off x="621792" y="1325880"/>
            <a:ext cx="457200" cy="457200"/>
          </a:xfrm>
          <a:prstGeom prst="ellipse">
            <a:avLst/>
          </a:prstGeom>
          <a:solidFill>
            <a:srgbClr val="8E5FD1"/>
          </a:solidFill>
          <a:ln w="12700">
            <a:solidFill>
              <a:srgbClr val="8E5FD1"/>
            </a:solidFill>
            <a:prstDash val="solid"/>
          </a:ln>
        </p:spPr>
      </p:sp>
      <p:sp>
        <p:nvSpPr>
          <p:cNvPr id="5" name="Text 3"/>
          <p:cNvSpPr txBox="1"/>
          <p:nvPr/>
        </p:nvSpPr>
        <p:spPr>
          <a:xfrm>
            <a:off x="621792" y="132588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6" name="icon" descr="preencoded.png">    </p:cNvPr>
          <p:cNvPicPr>
            <a:picLocks noChangeAspect="1"/>
          </p:cNvPicPr>
          <p:nvPr/>
        </p:nvPicPr>
        <p:blipFill>
          <a:blip r:embed="rId1"/>
          <a:stretch>
            <a:fillRect/>
          </a:stretch>
        </p:blipFill>
        <p:spPr>
          <a:xfrm>
            <a:off x="736092" y="1440180"/>
            <a:ext cx="228600" cy="228600"/>
          </a:xfrm>
          <a:prstGeom prst="rect">
            <a:avLst/>
          </a:prstGeom>
        </p:spPr>
      </p:pic>
      <p:sp>
        <p:nvSpPr>
          <p:cNvPr id="7" name="Text 4"/>
          <p:cNvSpPr txBox="1"/>
          <p:nvPr/>
        </p:nvSpPr>
        <p:spPr>
          <a:xfrm>
            <a:off x="2651760" y="1252728"/>
            <a:ext cx="365760" cy="274320"/>
          </a:xfrm>
          <a:prstGeom prst="rect">
            <a:avLst/>
          </a:prstGeom>
          <a:noFill/>
          <a:ln/>
        </p:spPr>
        <p:txBody>
          <a:bodyPr wrap="square" lIns="0" tIns="0" rIns="0" bIns="0" rtlCol="0" anchor="t"/>
          <a:lstStyle/>
          <a:p>
            <a:pPr algn="r" indent="0" marL="0">
              <a:buNone/>
            </a:pPr>
            <a:r>
              <a:rPr lang="en-US" sz="1400" dirty="0">
                <a:solidFill>
                  <a:srgbClr val="D9D2E6"/>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621792" y="1920240"/>
            <a:ext cx="237744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Ingest</a:t>
            </a:r>
            <a:endParaRPr lang="en-US" sz="1500" dirty="0"/>
          </a:p>
        </p:txBody>
      </p:sp>
      <p:sp>
        <p:nvSpPr>
          <p:cNvPr id="9" name="Text 6"/>
          <p:cNvSpPr txBox="1"/>
          <p:nvPr/>
        </p:nvSpPr>
        <p:spPr>
          <a:xfrm>
            <a:off x="621792" y="2240280"/>
            <a:ext cx="2377440" cy="36576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Synthetic transactions into Kafka</a:t>
            </a:r>
            <a:endParaRPr lang="en-US" sz="1200" dirty="0"/>
          </a:p>
        </p:txBody>
      </p:sp>
      <p:sp>
        <p:nvSpPr>
          <p:cNvPr id="10" name="card"/>
          <p:cNvSpPr/>
          <p:nvPr/>
        </p:nvSpPr>
        <p:spPr>
          <a:xfrm>
            <a:off x="3264408" y="1143000"/>
            <a:ext cx="2651760" cy="1554480"/>
          </a:xfrm>
          <a:prstGeom prst="roundRect">
            <a:avLst>
              <a:gd name="adj" fmla="val 3529"/>
            </a:avLst>
          </a:prstGeom>
          <a:solidFill>
            <a:srgbClr val="F6F2FB"/>
          </a:solidFill>
          <a:ln w="12700">
            <a:solidFill>
              <a:srgbClr val="F6F2FB"/>
            </a:solidFill>
            <a:prstDash val="solid"/>
          </a:ln>
        </p:spPr>
      </p:sp>
      <p:sp>
        <p:nvSpPr>
          <p:cNvPr id="11" name="badge"/>
          <p:cNvSpPr/>
          <p:nvPr/>
        </p:nvSpPr>
        <p:spPr>
          <a:xfrm>
            <a:off x="3429000" y="1325880"/>
            <a:ext cx="457200" cy="457200"/>
          </a:xfrm>
          <a:prstGeom prst="ellipse">
            <a:avLst/>
          </a:prstGeom>
          <a:solidFill>
            <a:srgbClr val="F5B400"/>
          </a:solidFill>
          <a:ln w="12700">
            <a:solidFill>
              <a:srgbClr val="F5B400"/>
            </a:solidFill>
            <a:prstDash val="solid"/>
          </a:ln>
        </p:spPr>
      </p:sp>
      <p:sp>
        <p:nvSpPr>
          <p:cNvPr id="12" name="Text 9"/>
          <p:cNvSpPr txBox="1"/>
          <p:nvPr/>
        </p:nvSpPr>
        <p:spPr>
          <a:xfrm>
            <a:off x="3429000" y="132588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13" name="icon"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4" name="Text 10"/>
          <p:cNvSpPr txBox="1"/>
          <p:nvPr/>
        </p:nvSpPr>
        <p:spPr>
          <a:xfrm>
            <a:off x="5458968" y="1252728"/>
            <a:ext cx="365760" cy="274320"/>
          </a:xfrm>
          <a:prstGeom prst="rect">
            <a:avLst/>
          </a:prstGeom>
          <a:noFill/>
          <a:ln/>
        </p:spPr>
        <p:txBody>
          <a:bodyPr wrap="square" lIns="0" tIns="0" rIns="0" bIns="0" rtlCol="0" anchor="t"/>
          <a:lstStyle/>
          <a:p>
            <a:pPr algn="r" indent="0" marL="0">
              <a:buNone/>
            </a:pPr>
            <a:r>
              <a:rPr lang="en-US" sz="1400" dirty="0">
                <a:solidFill>
                  <a:srgbClr val="D9D2E6"/>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3429000" y="1920240"/>
            <a:ext cx="237744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Validate</a:t>
            </a:r>
            <a:endParaRPr lang="en-US" sz="1500" dirty="0"/>
          </a:p>
        </p:txBody>
      </p:sp>
      <p:sp>
        <p:nvSpPr>
          <p:cNvPr id="16" name="Text 12"/>
          <p:cNvSpPr txBox="1"/>
          <p:nvPr/>
        </p:nvSpPr>
        <p:spPr>
          <a:xfrm>
            <a:off x="3429000" y="2240280"/>
            <a:ext cx="2377440" cy="36576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Bronze, Silver, quarantine</a:t>
            </a:r>
            <a:endParaRPr lang="en-US" sz="1200" dirty="0"/>
          </a:p>
        </p:txBody>
      </p:sp>
      <p:sp>
        <p:nvSpPr>
          <p:cNvPr id="17" name="card"/>
          <p:cNvSpPr/>
          <p:nvPr/>
        </p:nvSpPr>
        <p:spPr>
          <a:xfrm>
            <a:off x="6071616" y="1143000"/>
            <a:ext cx="2651760" cy="1554480"/>
          </a:xfrm>
          <a:prstGeom prst="roundRect">
            <a:avLst>
              <a:gd name="adj" fmla="val 3529"/>
            </a:avLst>
          </a:prstGeom>
          <a:solidFill>
            <a:srgbClr val="F6F2FB"/>
          </a:solidFill>
          <a:ln w="12700">
            <a:solidFill>
              <a:srgbClr val="F6F2FB"/>
            </a:solidFill>
            <a:prstDash val="solid"/>
          </a:ln>
        </p:spPr>
      </p:sp>
      <p:sp>
        <p:nvSpPr>
          <p:cNvPr id="18" name="badge"/>
          <p:cNvSpPr/>
          <p:nvPr/>
        </p:nvSpPr>
        <p:spPr>
          <a:xfrm>
            <a:off x="6236208" y="1325880"/>
            <a:ext cx="457200" cy="457200"/>
          </a:xfrm>
          <a:prstGeom prst="ellipse">
            <a:avLst/>
          </a:prstGeom>
          <a:solidFill>
            <a:srgbClr val="1F9D74"/>
          </a:solidFill>
          <a:ln w="12700">
            <a:solidFill>
              <a:srgbClr val="1F9D74"/>
            </a:solidFill>
            <a:prstDash val="solid"/>
          </a:ln>
        </p:spPr>
      </p:sp>
      <p:sp>
        <p:nvSpPr>
          <p:cNvPr id="19" name="Text 15"/>
          <p:cNvSpPr txBox="1"/>
          <p:nvPr/>
        </p:nvSpPr>
        <p:spPr>
          <a:xfrm>
            <a:off x="6236208" y="132588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20" name="icon" descr="preencoded.png">    </p:cNvPr>
          <p:cNvPicPr>
            <a:picLocks noChangeAspect="1"/>
          </p:cNvPicPr>
          <p:nvPr/>
        </p:nvPicPr>
        <p:blipFill>
          <a:blip r:embed="rId3"/>
          <a:stretch>
            <a:fillRect/>
          </a:stretch>
        </p:blipFill>
        <p:spPr>
          <a:xfrm>
            <a:off x="6350508" y="1440180"/>
            <a:ext cx="228600" cy="228600"/>
          </a:xfrm>
          <a:prstGeom prst="rect">
            <a:avLst/>
          </a:prstGeom>
        </p:spPr>
      </p:pic>
      <p:sp>
        <p:nvSpPr>
          <p:cNvPr id="21" name="Text 16"/>
          <p:cNvSpPr txBox="1"/>
          <p:nvPr/>
        </p:nvSpPr>
        <p:spPr>
          <a:xfrm>
            <a:off x="8266176" y="1252728"/>
            <a:ext cx="365760" cy="274320"/>
          </a:xfrm>
          <a:prstGeom prst="rect">
            <a:avLst/>
          </a:prstGeom>
          <a:noFill/>
          <a:ln/>
        </p:spPr>
        <p:txBody>
          <a:bodyPr wrap="square" lIns="0" tIns="0" rIns="0" bIns="0" rtlCol="0" anchor="t"/>
          <a:lstStyle/>
          <a:p>
            <a:pPr algn="r" indent="0" marL="0">
              <a:buNone/>
            </a:pPr>
            <a:r>
              <a:rPr lang="en-US" sz="1400" dirty="0">
                <a:solidFill>
                  <a:srgbClr val="D9D2E6"/>
                </a:solidFill>
                <a:latin typeface="Calibri" pitchFamily="34" charset="0"/>
                <a:ea typeface="Calibri" pitchFamily="34" charset="-122"/>
                <a:cs typeface="Calibri" pitchFamily="34" charset="-120"/>
              </a:rPr>
              <a:t>3</a:t>
            </a:r>
            <a:endParaRPr lang="en-US" sz="1400" dirty="0"/>
          </a:p>
        </p:txBody>
      </p:sp>
      <p:sp>
        <p:nvSpPr>
          <p:cNvPr id="22" name="Text 17"/>
          <p:cNvSpPr txBox="1"/>
          <p:nvPr/>
        </p:nvSpPr>
        <p:spPr>
          <a:xfrm>
            <a:off x="6236208" y="1920240"/>
            <a:ext cx="237744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Engineer features</a:t>
            </a:r>
            <a:endParaRPr lang="en-US" sz="1500" dirty="0"/>
          </a:p>
        </p:txBody>
      </p:sp>
      <p:sp>
        <p:nvSpPr>
          <p:cNvPr id="23" name="Text 18"/>
          <p:cNvSpPr txBox="1"/>
          <p:nvPr/>
        </p:nvSpPr>
        <p:spPr>
          <a:xfrm>
            <a:off x="6236208" y="2240280"/>
            <a:ext cx="2377440" cy="36576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Windows + per-user state</a:t>
            </a:r>
            <a:endParaRPr lang="en-US" sz="1200" dirty="0"/>
          </a:p>
        </p:txBody>
      </p:sp>
      <p:sp>
        <p:nvSpPr>
          <p:cNvPr id="24" name="card"/>
          <p:cNvSpPr/>
          <p:nvPr/>
        </p:nvSpPr>
        <p:spPr>
          <a:xfrm>
            <a:off x="457200" y="2880360"/>
            <a:ext cx="2651760" cy="1554480"/>
          </a:xfrm>
          <a:prstGeom prst="roundRect">
            <a:avLst>
              <a:gd name="adj" fmla="val 3529"/>
            </a:avLst>
          </a:prstGeom>
          <a:solidFill>
            <a:srgbClr val="F6F2FB"/>
          </a:solidFill>
          <a:ln w="12700">
            <a:solidFill>
              <a:srgbClr val="F6F2FB"/>
            </a:solidFill>
            <a:prstDash val="solid"/>
          </a:ln>
        </p:spPr>
      </p:sp>
      <p:sp>
        <p:nvSpPr>
          <p:cNvPr id="25" name="badge"/>
          <p:cNvSpPr/>
          <p:nvPr/>
        </p:nvSpPr>
        <p:spPr>
          <a:xfrm>
            <a:off x="621792" y="3063240"/>
            <a:ext cx="457200" cy="457200"/>
          </a:xfrm>
          <a:prstGeom prst="ellipse">
            <a:avLst/>
          </a:prstGeom>
          <a:solidFill>
            <a:srgbClr val="D6336C"/>
          </a:solidFill>
          <a:ln w="12700">
            <a:solidFill>
              <a:srgbClr val="D6336C"/>
            </a:solidFill>
            <a:prstDash val="solid"/>
          </a:ln>
        </p:spPr>
      </p:sp>
      <p:sp>
        <p:nvSpPr>
          <p:cNvPr id="26" name="Text 21"/>
          <p:cNvSpPr txBox="1"/>
          <p:nvPr/>
        </p:nvSpPr>
        <p:spPr>
          <a:xfrm>
            <a:off x="621792" y="30632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27" name="icon" descr="preencoded.png">    </p:cNvPr>
          <p:cNvPicPr>
            <a:picLocks noChangeAspect="1"/>
          </p:cNvPicPr>
          <p:nvPr/>
        </p:nvPicPr>
        <p:blipFill>
          <a:blip r:embed="rId4"/>
          <a:stretch>
            <a:fillRect/>
          </a:stretch>
        </p:blipFill>
        <p:spPr>
          <a:xfrm>
            <a:off x="736092" y="3177540"/>
            <a:ext cx="228600" cy="228600"/>
          </a:xfrm>
          <a:prstGeom prst="rect">
            <a:avLst/>
          </a:prstGeom>
        </p:spPr>
      </p:pic>
      <p:sp>
        <p:nvSpPr>
          <p:cNvPr id="28" name="Text 22"/>
          <p:cNvSpPr txBox="1"/>
          <p:nvPr/>
        </p:nvSpPr>
        <p:spPr>
          <a:xfrm>
            <a:off x="2651760" y="2990088"/>
            <a:ext cx="365760" cy="274320"/>
          </a:xfrm>
          <a:prstGeom prst="rect">
            <a:avLst/>
          </a:prstGeom>
          <a:noFill/>
          <a:ln/>
        </p:spPr>
        <p:txBody>
          <a:bodyPr wrap="square" lIns="0" tIns="0" rIns="0" bIns="0" rtlCol="0" anchor="t"/>
          <a:lstStyle/>
          <a:p>
            <a:pPr algn="r" indent="0" marL="0">
              <a:buNone/>
            </a:pPr>
            <a:r>
              <a:rPr lang="en-US" sz="1400" dirty="0">
                <a:solidFill>
                  <a:srgbClr val="D9D2E6"/>
                </a:solidFill>
                <a:latin typeface="Calibri" pitchFamily="34" charset="0"/>
                <a:ea typeface="Calibri" pitchFamily="34" charset="-122"/>
                <a:cs typeface="Calibri" pitchFamily="34" charset="-120"/>
              </a:rPr>
              <a:t>4</a:t>
            </a:r>
            <a:endParaRPr lang="en-US" sz="1400" dirty="0"/>
          </a:p>
        </p:txBody>
      </p:sp>
      <p:sp>
        <p:nvSpPr>
          <p:cNvPr id="29" name="Text 23"/>
          <p:cNvSpPr txBox="1"/>
          <p:nvPr/>
        </p:nvSpPr>
        <p:spPr>
          <a:xfrm>
            <a:off x="621792" y="3657600"/>
            <a:ext cx="237744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Train</a:t>
            </a:r>
            <a:endParaRPr lang="en-US" sz="1500" dirty="0"/>
          </a:p>
        </p:txBody>
      </p:sp>
      <p:sp>
        <p:nvSpPr>
          <p:cNvPr id="30" name="Text 24"/>
          <p:cNvSpPr txBox="1"/>
          <p:nvPr/>
        </p:nvSpPr>
        <p:spPr>
          <a:xfrm>
            <a:off x="621792" y="3977640"/>
            <a:ext cx="2377440" cy="36576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Random Forest, temporal split</a:t>
            </a:r>
            <a:endParaRPr lang="en-US" sz="1200" dirty="0"/>
          </a:p>
        </p:txBody>
      </p:sp>
      <p:sp>
        <p:nvSpPr>
          <p:cNvPr id="31" name="card"/>
          <p:cNvSpPr/>
          <p:nvPr/>
        </p:nvSpPr>
        <p:spPr>
          <a:xfrm>
            <a:off x="3264408" y="2880360"/>
            <a:ext cx="2651760" cy="1554480"/>
          </a:xfrm>
          <a:prstGeom prst="roundRect">
            <a:avLst>
              <a:gd name="adj" fmla="val 3529"/>
            </a:avLst>
          </a:prstGeom>
          <a:solidFill>
            <a:srgbClr val="F6F2FB"/>
          </a:solidFill>
          <a:ln w="12700">
            <a:solidFill>
              <a:srgbClr val="F6F2FB"/>
            </a:solidFill>
            <a:prstDash val="solid"/>
          </a:ln>
        </p:spPr>
      </p:sp>
      <p:sp>
        <p:nvSpPr>
          <p:cNvPr id="32" name="badge"/>
          <p:cNvSpPr/>
          <p:nvPr/>
        </p:nvSpPr>
        <p:spPr>
          <a:xfrm>
            <a:off x="3429000" y="3063240"/>
            <a:ext cx="457200" cy="457200"/>
          </a:xfrm>
          <a:prstGeom prst="ellipse">
            <a:avLst/>
          </a:prstGeom>
          <a:solidFill>
            <a:srgbClr val="4B2A6E"/>
          </a:solidFill>
          <a:ln w="12700">
            <a:solidFill>
              <a:srgbClr val="4B2A6E"/>
            </a:solidFill>
            <a:prstDash val="solid"/>
          </a:ln>
        </p:spPr>
      </p:sp>
      <p:sp>
        <p:nvSpPr>
          <p:cNvPr id="33" name="Text 27"/>
          <p:cNvSpPr txBox="1"/>
          <p:nvPr/>
        </p:nvSpPr>
        <p:spPr>
          <a:xfrm>
            <a:off x="3429000" y="30632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34" name="icon" descr="preencoded.png">    </p:cNvPr>
          <p:cNvPicPr>
            <a:picLocks noChangeAspect="1"/>
          </p:cNvPicPr>
          <p:nvPr/>
        </p:nvPicPr>
        <p:blipFill>
          <a:blip r:embed="rId5"/>
          <a:stretch>
            <a:fillRect/>
          </a:stretch>
        </p:blipFill>
        <p:spPr>
          <a:xfrm>
            <a:off x="3543300" y="3177540"/>
            <a:ext cx="228600" cy="228600"/>
          </a:xfrm>
          <a:prstGeom prst="rect">
            <a:avLst/>
          </a:prstGeom>
        </p:spPr>
      </p:pic>
      <p:sp>
        <p:nvSpPr>
          <p:cNvPr id="35" name="Text 28"/>
          <p:cNvSpPr txBox="1"/>
          <p:nvPr/>
        </p:nvSpPr>
        <p:spPr>
          <a:xfrm>
            <a:off x="5458968" y="2990088"/>
            <a:ext cx="365760" cy="274320"/>
          </a:xfrm>
          <a:prstGeom prst="rect">
            <a:avLst/>
          </a:prstGeom>
          <a:noFill/>
          <a:ln/>
        </p:spPr>
        <p:txBody>
          <a:bodyPr wrap="square" lIns="0" tIns="0" rIns="0" bIns="0" rtlCol="0" anchor="t"/>
          <a:lstStyle/>
          <a:p>
            <a:pPr algn="r" indent="0" marL="0">
              <a:buNone/>
            </a:pPr>
            <a:r>
              <a:rPr lang="en-US" sz="1400" dirty="0">
                <a:solidFill>
                  <a:srgbClr val="D9D2E6"/>
                </a:solidFill>
                <a:latin typeface="Calibri" pitchFamily="34" charset="0"/>
                <a:ea typeface="Calibri" pitchFamily="34" charset="-122"/>
                <a:cs typeface="Calibri" pitchFamily="34" charset="-120"/>
              </a:rPr>
              <a:t>5</a:t>
            </a:r>
            <a:endParaRPr lang="en-US" sz="1400" dirty="0"/>
          </a:p>
        </p:txBody>
      </p:sp>
      <p:sp>
        <p:nvSpPr>
          <p:cNvPr id="36" name="Text 29"/>
          <p:cNvSpPr txBox="1"/>
          <p:nvPr/>
        </p:nvSpPr>
        <p:spPr>
          <a:xfrm>
            <a:off x="3429000" y="3657600"/>
            <a:ext cx="237744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Decide</a:t>
            </a:r>
            <a:endParaRPr lang="en-US" sz="1500" dirty="0"/>
          </a:p>
        </p:txBody>
      </p:sp>
      <p:sp>
        <p:nvSpPr>
          <p:cNvPr id="37" name="Text 30"/>
          <p:cNvSpPr txBox="1"/>
          <p:nvPr/>
        </p:nvSpPr>
        <p:spPr>
          <a:xfrm>
            <a:off x="3429000" y="3977640"/>
            <a:ext cx="2377440" cy="36576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Hybrid ML + rules, explainable</a:t>
            </a:r>
            <a:endParaRPr lang="en-US" sz="1200" dirty="0"/>
          </a:p>
        </p:txBody>
      </p:sp>
      <p:sp>
        <p:nvSpPr>
          <p:cNvPr id="38" name="card"/>
          <p:cNvSpPr/>
          <p:nvPr/>
        </p:nvSpPr>
        <p:spPr>
          <a:xfrm>
            <a:off x="6071616" y="2880360"/>
            <a:ext cx="2651760" cy="1554480"/>
          </a:xfrm>
          <a:prstGeom prst="roundRect">
            <a:avLst>
              <a:gd name="adj" fmla="val 3529"/>
            </a:avLst>
          </a:prstGeom>
          <a:solidFill>
            <a:srgbClr val="F6F2FB"/>
          </a:solidFill>
          <a:ln w="12700">
            <a:solidFill>
              <a:srgbClr val="F6F2FB"/>
            </a:solidFill>
            <a:prstDash val="solid"/>
          </a:ln>
        </p:spPr>
      </p:sp>
      <p:sp>
        <p:nvSpPr>
          <p:cNvPr id="39" name="badge"/>
          <p:cNvSpPr/>
          <p:nvPr/>
        </p:nvSpPr>
        <p:spPr>
          <a:xfrm>
            <a:off x="6236208" y="3063240"/>
            <a:ext cx="457200" cy="457200"/>
          </a:xfrm>
          <a:prstGeom prst="ellipse">
            <a:avLst/>
          </a:prstGeom>
          <a:solidFill>
            <a:srgbClr val="6E6A80"/>
          </a:solidFill>
          <a:ln w="12700">
            <a:solidFill>
              <a:srgbClr val="6E6A80"/>
            </a:solidFill>
            <a:prstDash val="solid"/>
          </a:ln>
        </p:spPr>
      </p:sp>
      <p:sp>
        <p:nvSpPr>
          <p:cNvPr id="40" name="Text 33"/>
          <p:cNvSpPr txBox="1"/>
          <p:nvPr/>
        </p:nvSpPr>
        <p:spPr>
          <a:xfrm>
            <a:off x="6236208" y="30632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41" name="icon" descr="preencoded.png">    </p:cNvPr>
          <p:cNvPicPr>
            <a:picLocks noChangeAspect="1"/>
          </p:cNvPicPr>
          <p:nvPr/>
        </p:nvPicPr>
        <p:blipFill>
          <a:blip r:embed="rId6"/>
          <a:stretch>
            <a:fillRect/>
          </a:stretch>
        </p:blipFill>
        <p:spPr>
          <a:xfrm>
            <a:off x="6350508" y="3177540"/>
            <a:ext cx="228600" cy="228600"/>
          </a:xfrm>
          <a:prstGeom prst="rect">
            <a:avLst/>
          </a:prstGeom>
        </p:spPr>
      </p:pic>
      <p:sp>
        <p:nvSpPr>
          <p:cNvPr id="42" name="Text 34"/>
          <p:cNvSpPr txBox="1"/>
          <p:nvPr/>
        </p:nvSpPr>
        <p:spPr>
          <a:xfrm>
            <a:off x="8266176" y="2990088"/>
            <a:ext cx="365760" cy="274320"/>
          </a:xfrm>
          <a:prstGeom prst="rect">
            <a:avLst/>
          </a:prstGeom>
          <a:noFill/>
          <a:ln/>
        </p:spPr>
        <p:txBody>
          <a:bodyPr wrap="square" lIns="0" tIns="0" rIns="0" bIns="0" rtlCol="0" anchor="t"/>
          <a:lstStyle/>
          <a:p>
            <a:pPr algn="r" indent="0" marL="0">
              <a:buNone/>
            </a:pPr>
            <a:r>
              <a:rPr lang="en-US" sz="1400" dirty="0">
                <a:solidFill>
                  <a:srgbClr val="D9D2E6"/>
                </a:solidFill>
                <a:latin typeface="Calibri" pitchFamily="34" charset="0"/>
                <a:ea typeface="Calibri" pitchFamily="34" charset="-122"/>
                <a:cs typeface="Calibri" pitchFamily="34" charset="-120"/>
              </a:rPr>
              <a:t>6</a:t>
            </a:r>
            <a:endParaRPr lang="en-US" sz="1400" dirty="0"/>
          </a:p>
        </p:txBody>
      </p:sp>
      <p:sp>
        <p:nvSpPr>
          <p:cNvPr id="43" name="Text 35"/>
          <p:cNvSpPr txBox="1"/>
          <p:nvPr/>
        </p:nvSpPr>
        <p:spPr>
          <a:xfrm>
            <a:off x="6236208" y="3657600"/>
            <a:ext cx="237744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Monitor</a:t>
            </a:r>
            <a:endParaRPr lang="en-US" sz="1500" dirty="0"/>
          </a:p>
        </p:txBody>
      </p:sp>
      <p:sp>
        <p:nvSpPr>
          <p:cNvPr id="44" name="Text 36"/>
          <p:cNvSpPr txBox="1"/>
          <p:nvPr/>
        </p:nvSpPr>
        <p:spPr>
          <a:xfrm>
            <a:off x="6236208" y="3977640"/>
            <a:ext cx="2377440" cy="365760"/>
          </a:xfrm>
          <a:prstGeom prst="rect">
            <a:avLst/>
          </a:prstGeom>
          <a:noFill/>
          <a:ln/>
        </p:spPr>
        <p:txBody>
          <a:bodyPr wrap="square" lIns="0" tIns="0" rIns="0" bIns="0" rtlCol="0" anchor="t"/>
          <a:lstStyle/>
          <a:p>
            <a:pPr indent="0" marL="0">
              <a:buNone/>
            </a:pPr>
            <a:r>
              <a:rPr lang="en-US" sz="1200" dirty="0">
                <a:solidFill>
                  <a:srgbClr val="6E6A80"/>
                </a:solidFill>
                <a:latin typeface="Calibri" pitchFamily="34" charset="0"/>
                <a:ea typeface="Calibri" pitchFamily="34" charset="-122"/>
                <a:cs typeface="Calibri" pitchFamily="34" charset="-120"/>
              </a:rPr>
              <a:t>Dashboard, Spark UI, tests</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Why streaming and PySpark</a:t>
            </a:r>
            <a:endParaRPr lang="en-US" sz="2600" dirty="0"/>
          </a:p>
        </p:txBody>
      </p:sp>
      <p:sp>
        <p:nvSpPr>
          <p:cNvPr id="3" name="card"/>
          <p:cNvSpPr/>
          <p:nvPr/>
        </p:nvSpPr>
        <p:spPr>
          <a:xfrm>
            <a:off x="457200" y="1143000"/>
            <a:ext cx="1554480" cy="2743200"/>
          </a:xfrm>
          <a:prstGeom prst="roundRect">
            <a:avLst>
              <a:gd name="adj" fmla="val 3529"/>
            </a:avLst>
          </a:prstGeom>
          <a:solidFill>
            <a:srgbClr val="F6F2FB"/>
          </a:solidFill>
          <a:ln w="12700">
            <a:solidFill>
              <a:srgbClr val="F6F2FB"/>
            </a:solidFill>
            <a:prstDash val="solid"/>
          </a:ln>
        </p:spPr>
      </p:sp>
      <p:sp>
        <p:nvSpPr>
          <p:cNvPr id="4" name="badge"/>
          <p:cNvSpPr/>
          <p:nvPr/>
        </p:nvSpPr>
        <p:spPr>
          <a:xfrm>
            <a:off x="960120" y="1325880"/>
            <a:ext cx="548640" cy="548640"/>
          </a:xfrm>
          <a:prstGeom prst="ellipse">
            <a:avLst/>
          </a:prstGeom>
          <a:solidFill>
            <a:srgbClr val="8E5FD1"/>
          </a:solidFill>
          <a:ln w="12700">
            <a:solidFill>
              <a:srgbClr val="8E5FD1"/>
            </a:solidFill>
            <a:prstDash val="solid"/>
          </a:ln>
        </p:spPr>
      </p:sp>
      <p:sp>
        <p:nvSpPr>
          <p:cNvPr id="5" name="Text 3"/>
          <p:cNvSpPr txBox="1"/>
          <p:nvPr/>
        </p:nvSpPr>
        <p:spPr>
          <a:xfrm>
            <a:off x="960120" y="1325880"/>
            <a:ext cx="548640" cy="548640"/>
          </a:xfrm>
          <a:prstGeom prst="rect">
            <a:avLst/>
          </a:prstGeom>
          <a:noFill/>
          <a:ln/>
        </p:spPr>
        <p:txBody>
          <a:bodyPr wrap="square" lIns="0" tIns="0" rIns="0" bIns="0" rtlCol="0" anchor="ctr"/>
          <a:lstStyle/>
          <a:p>
            <a:pPr algn="ctr" indent="0" marL="0">
              <a:buNone/>
            </a:pPr>
            <a:endParaRPr lang="en-US" sz="1200" dirty="0"/>
          </a:p>
        </p:txBody>
      </p:sp>
      <p:pic>
        <p:nvPicPr>
          <p:cNvPr id="6" name="icon" descr="preencoded.png">    </p:cNvPr>
          <p:cNvPicPr>
            <a:picLocks noChangeAspect="1"/>
          </p:cNvPicPr>
          <p:nvPr/>
        </p:nvPicPr>
        <p:blipFill>
          <a:blip r:embed="rId1"/>
          <a:stretch>
            <a:fillRect/>
          </a:stretch>
        </p:blipFill>
        <p:spPr>
          <a:xfrm>
            <a:off x="1097280" y="1463040"/>
            <a:ext cx="274320" cy="274320"/>
          </a:xfrm>
          <a:prstGeom prst="rect">
            <a:avLst/>
          </a:prstGeom>
        </p:spPr>
      </p:pic>
      <p:sp>
        <p:nvSpPr>
          <p:cNvPr id="7" name="Text 4"/>
          <p:cNvSpPr txBox="1"/>
          <p:nvPr/>
        </p:nvSpPr>
        <p:spPr>
          <a:xfrm>
            <a:off x="548640" y="2057400"/>
            <a:ext cx="1371600" cy="457200"/>
          </a:xfrm>
          <a:prstGeom prst="rect">
            <a:avLst/>
          </a:prstGeom>
          <a:noFill/>
          <a:ln/>
        </p:spPr>
        <p:txBody>
          <a:bodyPr wrap="square" lIns="0" tIns="0" rIns="0" bIns="0" rtlCol="0" anchor="t"/>
          <a:lstStyle/>
          <a:p>
            <a:pPr algn="ctr" indent="0" marL="0">
              <a:buNone/>
            </a:pPr>
            <a:r>
              <a:rPr lang="en-US" sz="1400" b="1" dirty="0">
                <a:solidFill>
                  <a:srgbClr val="4B2A6E"/>
                </a:solidFill>
                <a:latin typeface="Cambria" pitchFamily="34" charset="0"/>
                <a:ea typeface="Cambria" pitchFamily="34" charset="-122"/>
                <a:cs typeface="Cambria" pitchFamily="34" charset="-120"/>
              </a:rPr>
              <a:t>Event time</a:t>
            </a:r>
            <a:endParaRPr lang="en-US" sz="1400" dirty="0"/>
          </a:p>
        </p:txBody>
      </p:sp>
      <p:sp>
        <p:nvSpPr>
          <p:cNvPr id="8" name="Text 5"/>
          <p:cNvSpPr txBox="1"/>
          <p:nvPr/>
        </p:nvSpPr>
        <p:spPr>
          <a:xfrm>
            <a:off x="566928" y="2560320"/>
            <a:ext cx="1335024" cy="1280160"/>
          </a:xfrm>
          <a:prstGeom prst="rect">
            <a:avLst/>
          </a:prstGeom>
          <a:noFill/>
          <a:ln/>
        </p:spPr>
        <p:txBody>
          <a:bodyPr wrap="square" lIns="0" tIns="0" rIns="0" bIns="0" rtlCol="0" anchor="t"/>
          <a:lstStyle/>
          <a:p>
            <a:pPr algn="ctr" indent="0" marL="0">
              <a:buNone/>
            </a:pPr>
            <a:r>
              <a:rPr lang="en-US" sz="1150" dirty="0">
                <a:solidFill>
                  <a:srgbClr val="6E6A80"/>
                </a:solidFill>
                <a:latin typeface="Calibri" pitchFamily="34" charset="0"/>
                <a:ea typeface="Calibri" pitchFamily="34" charset="-122"/>
                <a:cs typeface="Calibri" pitchFamily="34" charset="-120"/>
              </a:rPr>
              <a:t>Uses the transaction's own timestamp, not arrival time</a:t>
            </a:r>
            <a:endParaRPr lang="en-US" sz="1150" dirty="0"/>
          </a:p>
        </p:txBody>
      </p:sp>
      <p:sp>
        <p:nvSpPr>
          <p:cNvPr id="9" name="card"/>
          <p:cNvSpPr/>
          <p:nvPr/>
        </p:nvSpPr>
        <p:spPr>
          <a:xfrm>
            <a:off x="2121408" y="1143000"/>
            <a:ext cx="1554480" cy="2743200"/>
          </a:xfrm>
          <a:prstGeom prst="roundRect">
            <a:avLst>
              <a:gd name="adj" fmla="val 3529"/>
            </a:avLst>
          </a:prstGeom>
          <a:solidFill>
            <a:srgbClr val="F6F2FB"/>
          </a:solidFill>
          <a:ln w="12700">
            <a:solidFill>
              <a:srgbClr val="F6F2FB"/>
            </a:solidFill>
            <a:prstDash val="solid"/>
          </a:ln>
        </p:spPr>
      </p:sp>
      <p:sp>
        <p:nvSpPr>
          <p:cNvPr id="10" name="badge"/>
          <p:cNvSpPr/>
          <p:nvPr/>
        </p:nvSpPr>
        <p:spPr>
          <a:xfrm>
            <a:off x="2624328" y="1325880"/>
            <a:ext cx="548640" cy="548640"/>
          </a:xfrm>
          <a:prstGeom prst="ellipse">
            <a:avLst/>
          </a:prstGeom>
          <a:solidFill>
            <a:srgbClr val="D6336C"/>
          </a:solidFill>
          <a:ln w="12700">
            <a:solidFill>
              <a:srgbClr val="D6336C"/>
            </a:solidFill>
            <a:prstDash val="solid"/>
          </a:ln>
        </p:spPr>
      </p:sp>
      <p:sp>
        <p:nvSpPr>
          <p:cNvPr id="11" name="Text 8"/>
          <p:cNvSpPr txBox="1"/>
          <p:nvPr/>
        </p:nvSpPr>
        <p:spPr>
          <a:xfrm>
            <a:off x="2624328" y="1325880"/>
            <a:ext cx="548640" cy="548640"/>
          </a:xfrm>
          <a:prstGeom prst="rect">
            <a:avLst/>
          </a:prstGeom>
          <a:noFill/>
          <a:ln/>
        </p:spPr>
        <p:txBody>
          <a:bodyPr wrap="square" lIns="0" tIns="0" rIns="0" bIns="0" rtlCol="0" anchor="ctr"/>
          <a:lstStyle/>
          <a:p>
            <a:pPr algn="ctr" indent="0" marL="0">
              <a:buNone/>
            </a:pPr>
            <a:endParaRPr lang="en-US" sz="1200" dirty="0"/>
          </a:p>
        </p:txBody>
      </p:sp>
      <p:pic>
        <p:nvPicPr>
          <p:cNvPr id="12" name="icon" descr="preencoded.png">    </p:cNvPr>
          <p:cNvPicPr>
            <a:picLocks noChangeAspect="1"/>
          </p:cNvPicPr>
          <p:nvPr/>
        </p:nvPicPr>
        <p:blipFill>
          <a:blip r:embed="rId2"/>
          <a:stretch>
            <a:fillRect/>
          </a:stretch>
        </p:blipFill>
        <p:spPr>
          <a:xfrm>
            <a:off x="2761488" y="1463040"/>
            <a:ext cx="274320" cy="274320"/>
          </a:xfrm>
          <a:prstGeom prst="rect">
            <a:avLst/>
          </a:prstGeom>
        </p:spPr>
      </p:pic>
      <p:sp>
        <p:nvSpPr>
          <p:cNvPr id="13" name="Text 9"/>
          <p:cNvSpPr txBox="1"/>
          <p:nvPr/>
        </p:nvSpPr>
        <p:spPr>
          <a:xfrm>
            <a:off x="2212848" y="2057400"/>
            <a:ext cx="1371600" cy="457200"/>
          </a:xfrm>
          <a:prstGeom prst="rect">
            <a:avLst/>
          </a:prstGeom>
          <a:noFill/>
          <a:ln/>
        </p:spPr>
        <p:txBody>
          <a:bodyPr wrap="square" lIns="0" tIns="0" rIns="0" bIns="0" rtlCol="0" anchor="t"/>
          <a:lstStyle/>
          <a:p>
            <a:pPr algn="ctr" indent="0" marL="0">
              <a:buNone/>
            </a:pPr>
            <a:r>
              <a:rPr lang="en-US" sz="1400" b="1" dirty="0">
                <a:solidFill>
                  <a:srgbClr val="4B2A6E"/>
                </a:solidFill>
                <a:latin typeface="Cambria" pitchFamily="34" charset="0"/>
                <a:ea typeface="Cambria" pitchFamily="34" charset="-122"/>
                <a:cs typeface="Cambria" pitchFamily="34" charset="-120"/>
              </a:rPr>
              <a:t>Watermark</a:t>
            </a:r>
            <a:endParaRPr lang="en-US" sz="1400" dirty="0"/>
          </a:p>
        </p:txBody>
      </p:sp>
      <p:sp>
        <p:nvSpPr>
          <p:cNvPr id="14" name="Text 10"/>
          <p:cNvSpPr txBox="1"/>
          <p:nvPr/>
        </p:nvSpPr>
        <p:spPr>
          <a:xfrm>
            <a:off x="2231136" y="2560320"/>
            <a:ext cx="1335024" cy="1280160"/>
          </a:xfrm>
          <a:prstGeom prst="rect">
            <a:avLst/>
          </a:prstGeom>
          <a:noFill/>
          <a:ln/>
        </p:spPr>
        <p:txBody>
          <a:bodyPr wrap="square" lIns="0" tIns="0" rIns="0" bIns="0" rtlCol="0" anchor="t"/>
          <a:lstStyle/>
          <a:p>
            <a:pPr algn="ctr" indent="0" marL="0">
              <a:buNone/>
            </a:pPr>
            <a:r>
              <a:rPr lang="en-US" sz="1150" dirty="0">
                <a:solidFill>
                  <a:srgbClr val="6E6A80"/>
                </a:solidFill>
                <a:latin typeface="Calibri" pitchFamily="34" charset="0"/>
                <a:ea typeface="Calibri" pitchFamily="34" charset="-122"/>
                <a:cs typeface="Calibri" pitchFamily="34" charset="-120"/>
              </a:rPr>
              <a:t>5 minutes: bounds state, tolerates late events</a:t>
            </a:r>
            <a:endParaRPr lang="en-US" sz="1150" dirty="0"/>
          </a:p>
        </p:txBody>
      </p:sp>
      <p:sp>
        <p:nvSpPr>
          <p:cNvPr id="15" name="card"/>
          <p:cNvSpPr/>
          <p:nvPr/>
        </p:nvSpPr>
        <p:spPr>
          <a:xfrm>
            <a:off x="3785616" y="1143000"/>
            <a:ext cx="1554480" cy="2743200"/>
          </a:xfrm>
          <a:prstGeom prst="roundRect">
            <a:avLst>
              <a:gd name="adj" fmla="val 3529"/>
            </a:avLst>
          </a:prstGeom>
          <a:solidFill>
            <a:srgbClr val="F6F2FB"/>
          </a:solidFill>
          <a:ln w="12700">
            <a:solidFill>
              <a:srgbClr val="F6F2FB"/>
            </a:solidFill>
            <a:prstDash val="solid"/>
          </a:ln>
        </p:spPr>
      </p:sp>
      <p:sp>
        <p:nvSpPr>
          <p:cNvPr id="16" name="badge"/>
          <p:cNvSpPr/>
          <p:nvPr/>
        </p:nvSpPr>
        <p:spPr>
          <a:xfrm>
            <a:off x="4288536" y="1325880"/>
            <a:ext cx="548640" cy="548640"/>
          </a:xfrm>
          <a:prstGeom prst="ellipse">
            <a:avLst/>
          </a:prstGeom>
          <a:solidFill>
            <a:srgbClr val="1F9D74"/>
          </a:solidFill>
          <a:ln w="12700">
            <a:solidFill>
              <a:srgbClr val="1F9D74"/>
            </a:solidFill>
            <a:prstDash val="solid"/>
          </a:ln>
        </p:spPr>
      </p:sp>
      <p:sp>
        <p:nvSpPr>
          <p:cNvPr id="17" name="Text 13"/>
          <p:cNvSpPr txBox="1"/>
          <p:nvPr/>
        </p:nvSpPr>
        <p:spPr>
          <a:xfrm>
            <a:off x="4288536" y="1325880"/>
            <a:ext cx="548640" cy="548640"/>
          </a:xfrm>
          <a:prstGeom prst="rect">
            <a:avLst/>
          </a:prstGeom>
          <a:noFill/>
          <a:ln/>
        </p:spPr>
        <p:txBody>
          <a:bodyPr wrap="square" lIns="0" tIns="0" rIns="0" bIns="0" rtlCol="0" anchor="ctr"/>
          <a:lstStyle/>
          <a:p>
            <a:pPr algn="ctr" indent="0" marL="0">
              <a:buNone/>
            </a:pPr>
            <a:endParaRPr lang="en-US" sz="1200" dirty="0"/>
          </a:p>
        </p:txBody>
      </p:sp>
      <p:pic>
        <p:nvPicPr>
          <p:cNvPr id="18" name="icon" descr="preencoded.png">    </p:cNvPr>
          <p:cNvPicPr>
            <a:picLocks noChangeAspect="1"/>
          </p:cNvPicPr>
          <p:nvPr/>
        </p:nvPicPr>
        <p:blipFill>
          <a:blip r:embed="rId3"/>
          <a:stretch>
            <a:fillRect/>
          </a:stretch>
        </p:blipFill>
        <p:spPr>
          <a:xfrm>
            <a:off x="4425696" y="1463040"/>
            <a:ext cx="274320" cy="274320"/>
          </a:xfrm>
          <a:prstGeom prst="rect">
            <a:avLst/>
          </a:prstGeom>
        </p:spPr>
      </p:pic>
      <p:sp>
        <p:nvSpPr>
          <p:cNvPr id="19" name="Text 14"/>
          <p:cNvSpPr txBox="1"/>
          <p:nvPr/>
        </p:nvSpPr>
        <p:spPr>
          <a:xfrm>
            <a:off x="3877056" y="2057400"/>
            <a:ext cx="1371600" cy="457200"/>
          </a:xfrm>
          <a:prstGeom prst="rect">
            <a:avLst/>
          </a:prstGeom>
          <a:noFill/>
          <a:ln/>
        </p:spPr>
        <p:txBody>
          <a:bodyPr wrap="square" lIns="0" tIns="0" rIns="0" bIns="0" rtlCol="0" anchor="t"/>
          <a:lstStyle/>
          <a:p>
            <a:pPr algn="ctr" indent="0" marL="0">
              <a:buNone/>
            </a:pPr>
            <a:r>
              <a:rPr lang="en-US" sz="1400" b="1" dirty="0">
                <a:solidFill>
                  <a:srgbClr val="4B2A6E"/>
                </a:solidFill>
                <a:latin typeface="Cambria" pitchFamily="34" charset="0"/>
                <a:ea typeface="Cambria" pitchFamily="34" charset="-122"/>
                <a:cs typeface="Cambria" pitchFamily="34" charset="-120"/>
              </a:rPr>
              <a:t>Sliding windows</a:t>
            </a:r>
            <a:endParaRPr lang="en-US" sz="1400" dirty="0"/>
          </a:p>
        </p:txBody>
      </p:sp>
      <p:sp>
        <p:nvSpPr>
          <p:cNvPr id="20" name="Text 15"/>
          <p:cNvSpPr txBox="1"/>
          <p:nvPr/>
        </p:nvSpPr>
        <p:spPr>
          <a:xfrm>
            <a:off x="3895344" y="2560320"/>
            <a:ext cx="1335024" cy="1280160"/>
          </a:xfrm>
          <a:prstGeom prst="rect">
            <a:avLst/>
          </a:prstGeom>
          <a:noFill/>
          <a:ln/>
        </p:spPr>
        <p:txBody>
          <a:bodyPr wrap="square" lIns="0" tIns="0" rIns="0" bIns="0" rtlCol="0" anchor="t"/>
          <a:lstStyle/>
          <a:p>
            <a:pPr algn="ctr" indent="0" marL="0">
              <a:buNone/>
            </a:pPr>
            <a:r>
              <a:rPr lang="en-US" sz="1150" dirty="0">
                <a:solidFill>
                  <a:srgbClr val="6E6A80"/>
                </a:solidFill>
                <a:latin typeface="Calibri" pitchFamily="34" charset="0"/>
                <a:ea typeface="Calibri" pitchFamily="34" charset="-122"/>
                <a:cs typeface="Calibri" pitchFamily="34" charset="-120"/>
              </a:rPr>
              <a:t>10-minute windows, 2-minute slide</a:t>
            </a:r>
            <a:endParaRPr lang="en-US" sz="1150" dirty="0"/>
          </a:p>
        </p:txBody>
      </p:sp>
      <p:sp>
        <p:nvSpPr>
          <p:cNvPr id="21" name="card"/>
          <p:cNvSpPr/>
          <p:nvPr/>
        </p:nvSpPr>
        <p:spPr>
          <a:xfrm>
            <a:off x="5449824" y="1143000"/>
            <a:ext cx="1554480" cy="2743200"/>
          </a:xfrm>
          <a:prstGeom prst="roundRect">
            <a:avLst>
              <a:gd name="adj" fmla="val 3529"/>
            </a:avLst>
          </a:prstGeom>
          <a:solidFill>
            <a:srgbClr val="F6F2FB"/>
          </a:solidFill>
          <a:ln w="12700">
            <a:solidFill>
              <a:srgbClr val="F6F2FB"/>
            </a:solidFill>
            <a:prstDash val="solid"/>
          </a:ln>
        </p:spPr>
      </p:sp>
      <p:sp>
        <p:nvSpPr>
          <p:cNvPr id="22" name="badge"/>
          <p:cNvSpPr/>
          <p:nvPr/>
        </p:nvSpPr>
        <p:spPr>
          <a:xfrm>
            <a:off x="5952744" y="1325880"/>
            <a:ext cx="548640" cy="548640"/>
          </a:xfrm>
          <a:prstGeom prst="ellipse">
            <a:avLst/>
          </a:prstGeom>
          <a:solidFill>
            <a:srgbClr val="F5B400"/>
          </a:solidFill>
          <a:ln w="12700">
            <a:solidFill>
              <a:srgbClr val="F5B400"/>
            </a:solidFill>
            <a:prstDash val="solid"/>
          </a:ln>
        </p:spPr>
      </p:sp>
      <p:sp>
        <p:nvSpPr>
          <p:cNvPr id="23" name="Text 18"/>
          <p:cNvSpPr txBox="1"/>
          <p:nvPr/>
        </p:nvSpPr>
        <p:spPr>
          <a:xfrm>
            <a:off x="5952744" y="1325880"/>
            <a:ext cx="548640" cy="548640"/>
          </a:xfrm>
          <a:prstGeom prst="rect">
            <a:avLst/>
          </a:prstGeom>
          <a:noFill/>
          <a:ln/>
        </p:spPr>
        <p:txBody>
          <a:bodyPr wrap="square" lIns="0" tIns="0" rIns="0" bIns="0" rtlCol="0" anchor="ctr"/>
          <a:lstStyle/>
          <a:p>
            <a:pPr algn="ctr" indent="0" marL="0">
              <a:buNone/>
            </a:pPr>
            <a:endParaRPr lang="en-US" sz="1200" dirty="0"/>
          </a:p>
        </p:txBody>
      </p:sp>
      <p:pic>
        <p:nvPicPr>
          <p:cNvPr id="24" name="icon" descr="preencoded.png">    </p:cNvPr>
          <p:cNvPicPr>
            <a:picLocks noChangeAspect="1"/>
          </p:cNvPicPr>
          <p:nvPr/>
        </p:nvPicPr>
        <p:blipFill>
          <a:blip r:embed="rId4"/>
          <a:stretch>
            <a:fillRect/>
          </a:stretch>
        </p:blipFill>
        <p:spPr>
          <a:xfrm>
            <a:off x="6089904" y="1463040"/>
            <a:ext cx="274320" cy="274320"/>
          </a:xfrm>
          <a:prstGeom prst="rect">
            <a:avLst/>
          </a:prstGeom>
        </p:spPr>
      </p:pic>
      <p:sp>
        <p:nvSpPr>
          <p:cNvPr id="25" name="Text 19"/>
          <p:cNvSpPr txBox="1"/>
          <p:nvPr/>
        </p:nvSpPr>
        <p:spPr>
          <a:xfrm>
            <a:off x="5541264" y="2057400"/>
            <a:ext cx="1371600" cy="457200"/>
          </a:xfrm>
          <a:prstGeom prst="rect">
            <a:avLst/>
          </a:prstGeom>
          <a:noFill/>
          <a:ln/>
        </p:spPr>
        <p:txBody>
          <a:bodyPr wrap="square" lIns="0" tIns="0" rIns="0" bIns="0" rtlCol="0" anchor="t"/>
          <a:lstStyle/>
          <a:p>
            <a:pPr algn="ctr" indent="0" marL="0">
              <a:buNone/>
            </a:pPr>
            <a:r>
              <a:rPr lang="en-US" sz="1400" b="1" dirty="0">
                <a:solidFill>
                  <a:srgbClr val="4B2A6E"/>
                </a:solidFill>
                <a:latin typeface="Cambria" pitchFamily="34" charset="0"/>
                <a:ea typeface="Cambria" pitchFamily="34" charset="-122"/>
                <a:cs typeface="Cambria" pitchFamily="34" charset="-120"/>
              </a:rPr>
              <a:t>User state</a:t>
            </a:r>
            <a:endParaRPr lang="en-US" sz="1400" dirty="0"/>
          </a:p>
        </p:txBody>
      </p:sp>
      <p:sp>
        <p:nvSpPr>
          <p:cNvPr id="26" name="Text 20"/>
          <p:cNvSpPr txBox="1"/>
          <p:nvPr/>
        </p:nvSpPr>
        <p:spPr>
          <a:xfrm>
            <a:off x="5559552" y="2560320"/>
            <a:ext cx="1335024" cy="1280160"/>
          </a:xfrm>
          <a:prstGeom prst="rect">
            <a:avLst/>
          </a:prstGeom>
          <a:noFill/>
          <a:ln/>
        </p:spPr>
        <p:txBody>
          <a:bodyPr wrap="square" lIns="0" tIns="0" rIns="0" bIns="0" rtlCol="0" anchor="t"/>
          <a:lstStyle/>
          <a:p>
            <a:pPr algn="ctr" indent="0" marL="0">
              <a:buNone/>
            </a:pPr>
            <a:r>
              <a:rPr lang="en-US" sz="1150" dirty="0">
                <a:solidFill>
                  <a:srgbClr val="6E6A80"/>
                </a:solidFill>
                <a:latin typeface="Calibri" pitchFamily="34" charset="0"/>
                <a:ea typeface="Calibri" pitchFamily="34" charset="-122"/>
                <a:cs typeface="Calibri" pitchFamily="34" charset="-120"/>
              </a:rPr>
              <a:t>applyInPandasWithState, one record per user</a:t>
            </a:r>
            <a:endParaRPr lang="en-US" sz="1150" dirty="0"/>
          </a:p>
        </p:txBody>
      </p:sp>
      <p:sp>
        <p:nvSpPr>
          <p:cNvPr id="27" name="card"/>
          <p:cNvSpPr/>
          <p:nvPr/>
        </p:nvSpPr>
        <p:spPr>
          <a:xfrm>
            <a:off x="7114032" y="1143000"/>
            <a:ext cx="1554480" cy="2743200"/>
          </a:xfrm>
          <a:prstGeom prst="roundRect">
            <a:avLst>
              <a:gd name="adj" fmla="val 3529"/>
            </a:avLst>
          </a:prstGeom>
          <a:solidFill>
            <a:srgbClr val="F6F2FB"/>
          </a:solidFill>
          <a:ln w="12700">
            <a:solidFill>
              <a:srgbClr val="F6F2FB"/>
            </a:solidFill>
            <a:prstDash val="solid"/>
          </a:ln>
        </p:spPr>
      </p:sp>
      <p:sp>
        <p:nvSpPr>
          <p:cNvPr id="28" name="badge"/>
          <p:cNvSpPr/>
          <p:nvPr/>
        </p:nvSpPr>
        <p:spPr>
          <a:xfrm>
            <a:off x="7616952" y="1325880"/>
            <a:ext cx="548640" cy="548640"/>
          </a:xfrm>
          <a:prstGeom prst="ellipse">
            <a:avLst/>
          </a:prstGeom>
          <a:solidFill>
            <a:srgbClr val="4B2A6E"/>
          </a:solidFill>
          <a:ln w="12700">
            <a:solidFill>
              <a:srgbClr val="4B2A6E"/>
            </a:solidFill>
            <a:prstDash val="solid"/>
          </a:ln>
        </p:spPr>
      </p:sp>
      <p:sp>
        <p:nvSpPr>
          <p:cNvPr id="29" name="Text 23"/>
          <p:cNvSpPr txBox="1"/>
          <p:nvPr/>
        </p:nvSpPr>
        <p:spPr>
          <a:xfrm>
            <a:off x="7616952" y="1325880"/>
            <a:ext cx="548640" cy="548640"/>
          </a:xfrm>
          <a:prstGeom prst="rect">
            <a:avLst/>
          </a:prstGeom>
          <a:noFill/>
          <a:ln/>
        </p:spPr>
        <p:txBody>
          <a:bodyPr wrap="square" lIns="0" tIns="0" rIns="0" bIns="0" rtlCol="0" anchor="ctr"/>
          <a:lstStyle/>
          <a:p>
            <a:pPr algn="ctr" indent="0" marL="0">
              <a:buNone/>
            </a:pPr>
            <a:endParaRPr lang="en-US" sz="1200" dirty="0"/>
          </a:p>
        </p:txBody>
      </p:sp>
      <p:pic>
        <p:nvPicPr>
          <p:cNvPr id="30" name="icon" descr="preencoded.png">    </p:cNvPr>
          <p:cNvPicPr>
            <a:picLocks noChangeAspect="1"/>
          </p:cNvPicPr>
          <p:nvPr/>
        </p:nvPicPr>
        <p:blipFill>
          <a:blip r:embed="rId5"/>
          <a:stretch>
            <a:fillRect/>
          </a:stretch>
        </p:blipFill>
        <p:spPr>
          <a:xfrm>
            <a:off x="7754112" y="1463040"/>
            <a:ext cx="274320" cy="274320"/>
          </a:xfrm>
          <a:prstGeom prst="rect">
            <a:avLst/>
          </a:prstGeom>
        </p:spPr>
      </p:pic>
      <p:sp>
        <p:nvSpPr>
          <p:cNvPr id="31" name="Text 24"/>
          <p:cNvSpPr txBox="1"/>
          <p:nvPr/>
        </p:nvSpPr>
        <p:spPr>
          <a:xfrm>
            <a:off x="7205472" y="2057400"/>
            <a:ext cx="1371600" cy="457200"/>
          </a:xfrm>
          <a:prstGeom prst="rect">
            <a:avLst/>
          </a:prstGeom>
          <a:noFill/>
          <a:ln/>
        </p:spPr>
        <p:txBody>
          <a:bodyPr wrap="square" lIns="0" tIns="0" rIns="0" bIns="0" rtlCol="0" anchor="t"/>
          <a:lstStyle/>
          <a:p>
            <a:pPr algn="ctr" indent="0" marL="0">
              <a:buNone/>
            </a:pPr>
            <a:r>
              <a:rPr lang="en-US" sz="1400" b="1" dirty="0">
                <a:solidFill>
                  <a:srgbClr val="4B2A6E"/>
                </a:solidFill>
                <a:latin typeface="Cambria" pitchFamily="34" charset="0"/>
                <a:ea typeface="Cambria" pitchFamily="34" charset="-122"/>
                <a:cs typeface="Cambria" pitchFamily="34" charset="-120"/>
              </a:rPr>
              <a:t>Delta Lake</a:t>
            </a:r>
            <a:endParaRPr lang="en-US" sz="1400" dirty="0"/>
          </a:p>
        </p:txBody>
      </p:sp>
      <p:sp>
        <p:nvSpPr>
          <p:cNvPr id="32" name="Text 25"/>
          <p:cNvSpPr txBox="1"/>
          <p:nvPr/>
        </p:nvSpPr>
        <p:spPr>
          <a:xfrm>
            <a:off x="7223760" y="2560320"/>
            <a:ext cx="1335024" cy="1280160"/>
          </a:xfrm>
          <a:prstGeom prst="rect">
            <a:avLst/>
          </a:prstGeom>
          <a:noFill/>
          <a:ln/>
        </p:spPr>
        <p:txBody>
          <a:bodyPr wrap="square" lIns="0" tIns="0" rIns="0" bIns="0" rtlCol="0" anchor="t"/>
          <a:lstStyle/>
          <a:p>
            <a:pPr algn="ctr" indent="0" marL="0">
              <a:buNone/>
            </a:pPr>
            <a:r>
              <a:rPr lang="en-US" sz="1150" dirty="0">
                <a:solidFill>
                  <a:srgbClr val="6E6A80"/>
                </a:solidFill>
                <a:latin typeface="Calibri" pitchFamily="34" charset="0"/>
                <a:ea typeface="Calibri" pitchFamily="34" charset="-122"/>
                <a:cs typeface="Calibri" pitchFamily="34" charset="-120"/>
              </a:rPr>
              <a:t>ACID tables, idempotent writes</a:t>
            </a:r>
            <a:endParaRPr lang="en-US" sz="1150" dirty="0"/>
          </a:p>
        </p:txBody>
      </p:sp>
      <p:sp>
        <p:nvSpPr>
          <p:cNvPr id="33" name="card"/>
          <p:cNvSpPr/>
          <p:nvPr/>
        </p:nvSpPr>
        <p:spPr>
          <a:xfrm>
            <a:off x="457200" y="4069080"/>
            <a:ext cx="8229600" cy="548640"/>
          </a:xfrm>
          <a:prstGeom prst="roundRect">
            <a:avLst>
              <a:gd name="adj" fmla="val 10000"/>
            </a:avLst>
          </a:prstGeom>
          <a:solidFill>
            <a:srgbClr val="4B2A6E"/>
          </a:solidFill>
          <a:ln w="12700">
            <a:solidFill>
              <a:srgbClr val="4B2A6E"/>
            </a:solidFill>
            <a:prstDash val="solid"/>
          </a:ln>
        </p:spPr>
      </p:sp>
      <p:sp>
        <p:nvSpPr>
          <p:cNvPr id="34" name="Text 2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single user remains one logical state key, so user_id is deliberately not salted: salting would split one person's fraud history.</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System architecture</a:t>
            </a:r>
            <a:endParaRPr lang="en-US" sz="2600" dirty="0"/>
          </a:p>
        </p:txBody>
      </p:sp>
      <p:pic>
        <p:nvPicPr>
          <p:cNvPr id="3" name="architecture-diagram" descr="/home/claude/figs/fig_architecture.png">    </p:cNvPr>
          <p:cNvPicPr>
            <a:picLocks noChangeAspect="1"/>
          </p:cNvPicPr>
          <p:nvPr/>
        </p:nvPicPr>
        <p:blipFill>
          <a:blip r:embed="rId1"/>
          <a:stretch>
            <a:fillRect/>
          </a:stretch>
        </p:blipFill>
        <p:spPr>
          <a:xfrm>
            <a:off x="1131590" y="960120"/>
            <a:ext cx="6880820" cy="3611880"/>
          </a:xfrm>
          <a:prstGeom prst="rect">
            <a:avLst/>
          </a:prstGeom>
        </p:spPr>
      </p:pic>
      <p:sp>
        <p:nvSpPr>
          <p:cNvPr id="4" name="Text 1"/>
          <p:cNvSpPr txBox="1"/>
          <p:nvPr/>
        </p:nvSpPr>
        <p:spPr>
          <a:xfrm>
            <a:off x="457200" y="4590288"/>
            <a:ext cx="8229600" cy="201168"/>
          </a:xfrm>
          <a:prstGeom prst="rect">
            <a:avLst/>
          </a:prstGeom>
          <a:noFill/>
          <a:ln/>
        </p:spPr>
        <p:txBody>
          <a:bodyPr wrap="square" lIns="0" tIns="0" rIns="0" bIns="0" rtlCol="0" anchor="t"/>
          <a:lstStyle/>
          <a:p>
            <a:pPr algn="ctr" indent="0" marL="0">
              <a:buNone/>
            </a:pPr>
            <a:r>
              <a:rPr lang="en-US" sz="900" i="1" dirty="0">
                <a:solidFill>
                  <a:srgbClr val="6E6A80"/>
                </a:solidFill>
                <a:latin typeface="Calibri" pitchFamily="34" charset="0"/>
                <a:ea typeface="Calibri" pitchFamily="34" charset="-122"/>
                <a:cs typeface="Calibri" pitchFamily="34" charset="-120"/>
              </a:rPr>
              <a:t>Figure: end-to-end architecture drawn from repository code and docs/architecture.md</a:t>
            </a:r>
            <a:endParaRPr lang="en-US" sz="9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One transaction, end to end</a:t>
            </a:r>
            <a:endParaRPr lang="en-US" sz="2600" dirty="0"/>
          </a:p>
        </p:txBody>
      </p:sp>
      <p:sp>
        <p:nvSpPr>
          <p:cNvPr id="3" name="card"/>
          <p:cNvSpPr/>
          <p:nvPr/>
        </p:nvSpPr>
        <p:spPr>
          <a:xfrm>
            <a:off x="457200" y="1371600"/>
            <a:ext cx="1097280" cy="2103120"/>
          </a:xfrm>
          <a:prstGeom prst="roundRect">
            <a:avLst>
              <a:gd name="adj" fmla="val 5000"/>
            </a:avLst>
          </a:prstGeom>
          <a:solidFill>
            <a:srgbClr val="F6F2FB"/>
          </a:solidFill>
          <a:ln w="12700">
            <a:solidFill>
              <a:srgbClr val="F6F2FB"/>
            </a:solidFill>
            <a:prstDash val="solid"/>
          </a:ln>
        </p:spPr>
      </p:sp>
      <p:sp>
        <p:nvSpPr>
          <p:cNvPr id="4" name="badge"/>
          <p:cNvSpPr/>
          <p:nvPr/>
        </p:nvSpPr>
        <p:spPr>
          <a:xfrm>
            <a:off x="822960" y="1508760"/>
            <a:ext cx="365760" cy="365760"/>
          </a:xfrm>
          <a:prstGeom prst="ellipse">
            <a:avLst/>
          </a:prstGeom>
          <a:solidFill>
            <a:srgbClr val="8E5FD1"/>
          </a:solidFill>
          <a:ln w="12700">
            <a:solidFill>
              <a:srgbClr val="8E5FD1"/>
            </a:solidFill>
            <a:prstDash val="solid"/>
          </a:ln>
        </p:spPr>
      </p:sp>
      <p:sp>
        <p:nvSpPr>
          <p:cNvPr id="5" name="Text 3"/>
          <p:cNvSpPr txBox="1"/>
          <p:nvPr/>
        </p:nvSpPr>
        <p:spPr>
          <a:xfrm>
            <a:off x="82296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50292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Generate</a:t>
            </a:r>
            <a:endParaRPr lang="en-US" sz="1300" dirty="0"/>
          </a:p>
        </p:txBody>
      </p:sp>
      <p:sp>
        <p:nvSpPr>
          <p:cNvPr id="7" name="Text 5"/>
          <p:cNvSpPr txBox="1"/>
          <p:nvPr/>
        </p:nvSpPr>
        <p:spPr>
          <a:xfrm>
            <a:off x="54864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Producer sends JSON; key = user_id</a:t>
            </a:r>
            <a:endParaRPr lang="en-US" sz="1050" dirty="0"/>
          </a:p>
        </p:txBody>
      </p:sp>
      <p:sp>
        <p:nvSpPr>
          <p:cNvPr id="8" name="arrow"/>
          <p:cNvSpPr/>
          <p:nvPr/>
        </p:nvSpPr>
        <p:spPr>
          <a:xfrm>
            <a:off x="1554480" y="2331720"/>
            <a:ext cx="109728" cy="182880"/>
          </a:xfrm>
          <a:prstGeom prst="rightArrow">
            <a:avLst/>
          </a:prstGeom>
          <a:solidFill>
            <a:srgbClr val="6E6A80"/>
          </a:solidFill>
          <a:ln w="12700">
            <a:solidFill>
              <a:srgbClr val="6E6A80"/>
            </a:solidFill>
            <a:prstDash val="solid"/>
          </a:ln>
        </p:spPr>
      </p:sp>
      <p:sp>
        <p:nvSpPr>
          <p:cNvPr id="9" name="card"/>
          <p:cNvSpPr/>
          <p:nvPr/>
        </p:nvSpPr>
        <p:spPr>
          <a:xfrm>
            <a:off x="1645920" y="1371600"/>
            <a:ext cx="1097280" cy="2103120"/>
          </a:xfrm>
          <a:prstGeom prst="roundRect">
            <a:avLst>
              <a:gd name="adj" fmla="val 5000"/>
            </a:avLst>
          </a:prstGeom>
          <a:solidFill>
            <a:srgbClr val="F6F2FB"/>
          </a:solidFill>
          <a:ln w="12700">
            <a:solidFill>
              <a:srgbClr val="F6F2FB"/>
            </a:solidFill>
            <a:prstDash val="solid"/>
          </a:ln>
        </p:spPr>
      </p:sp>
      <p:sp>
        <p:nvSpPr>
          <p:cNvPr id="10" name="badge"/>
          <p:cNvSpPr/>
          <p:nvPr/>
        </p:nvSpPr>
        <p:spPr>
          <a:xfrm>
            <a:off x="2011680" y="1508760"/>
            <a:ext cx="365760" cy="365760"/>
          </a:xfrm>
          <a:prstGeom prst="ellipse">
            <a:avLst/>
          </a:prstGeom>
          <a:solidFill>
            <a:srgbClr val="F5B400"/>
          </a:solidFill>
          <a:ln w="12700">
            <a:solidFill>
              <a:srgbClr val="F5B400"/>
            </a:solidFill>
            <a:prstDash val="solid"/>
          </a:ln>
        </p:spPr>
      </p:sp>
      <p:sp>
        <p:nvSpPr>
          <p:cNvPr id="11" name="Text 9"/>
          <p:cNvSpPr txBox="1"/>
          <p:nvPr/>
        </p:nvSpPr>
        <p:spPr>
          <a:xfrm>
            <a:off x="201168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69164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Bronze</a:t>
            </a:r>
            <a:endParaRPr lang="en-US" sz="1300" dirty="0"/>
          </a:p>
        </p:txBody>
      </p:sp>
      <p:sp>
        <p:nvSpPr>
          <p:cNvPr id="13" name="Text 11"/>
          <p:cNvSpPr txBox="1"/>
          <p:nvPr/>
        </p:nvSpPr>
        <p:spPr>
          <a:xfrm>
            <a:off x="173736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Raw JSON + Kafka offset</a:t>
            </a:r>
            <a:endParaRPr lang="en-US" sz="1050" dirty="0"/>
          </a:p>
        </p:txBody>
      </p:sp>
      <p:sp>
        <p:nvSpPr>
          <p:cNvPr id="14" name="arrow"/>
          <p:cNvSpPr/>
          <p:nvPr/>
        </p:nvSpPr>
        <p:spPr>
          <a:xfrm>
            <a:off x="2743200" y="2331720"/>
            <a:ext cx="109728" cy="182880"/>
          </a:xfrm>
          <a:prstGeom prst="rightArrow">
            <a:avLst/>
          </a:prstGeom>
          <a:solidFill>
            <a:srgbClr val="6E6A80"/>
          </a:solidFill>
          <a:ln w="12700">
            <a:solidFill>
              <a:srgbClr val="6E6A80"/>
            </a:solidFill>
            <a:prstDash val="solid"/>
          </a:ln>
        </p:spPr>
      </p:sp>
      <p:sp>
        <p:nvSpPr>
          <p:cNvPr id="15" name="card"/>
          <p:cNvSpPr/>
          <p:nvPr/>
        </p:nvSpPr>
        <p:spPr>
          <a:xfrm>
            <a:off x="2834640" y="1371600"/>
            <a:ext cx="1097280" cy="2103120"/>
          </a:xfrm>
          <a:prstGeom prst="roundRect">
            <a:avLst>
              <a:gd name="adj" fmla="val 5000"/>
            </a:avLst>
          </a:prstGeom>
          <a:solidFill>
            <a:srgbClr val="F6F2FB"/>
          </a:solidFill>
          <a:ln w="12700">
            <a:solidFill>
              <a:srgbClr val="F6F2FB"/>
            </a:solidFill>
            <a:prstDash val="solid"/>
          </a:ln>
        </p:spPr>
      </p:sp>
      <p:sp>
        <p:nvSpPr>
          <p:cNvPr id="16" name="badge"/>
          <p:cNvSpPr/>
          <p:nvPr/>
        </p:nvSpPr>
        <p:spPr>
          <a:xfrm>
            <a:off x="3200400" y="1508760"/>
            <a:ext cx="365760" cy="365760"/>
          </a:xfrm>
          <a:prstGeom prst="ellipse">
            <a:avLst/>
          </a:prstGeom>
          <a:solidFill>
            <a:srgbClr val="1F9D74"/>
          </a:solidFill>
          <a:ln w="12700">
            <a:solidFill>
              <a:srgbClr val="1F9D74"/>
            </a:solidFill>
            <a:prstDash val="solid"/>
          </a:ln>
        </p:spPr>
      </p:sp>
      <p:sp>
        <p:nvSpPr>
          <p:cNvPr id="17" name="Text 15"/>
          <p:cNvSpPr txBox="1"/>
          <p:nvPr/>
        </p:nvSpPr>
        <p:spPr>
          <a:xfrm>
            <a:off x="320040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288036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Validate</a:t>
            </a:r>
            <a:endParaRPr lang="en-US" sz="1300" dirty="0"/>
          </a:p>
        </p:txBody>
      </p:sp>
      <p:sp>
        <p:nvSpPr>
          <p:cNvPr id="19" name="Text 17"/>
          <p:cNvSpPr txBox="1"/>
          <p:nvPr/>
        </p:nvSpPr>
        <p:spPr>
          <a:xfrm>
            <a:off x="292608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11 rules; dedupe 5-min</a:t>
            </a:r>
            <a:endParaRPr lang="en-US" sz="1050" dirty="0"/>
          </a:p>
        </p:txBody>
      </p:sp>
      <p:sp>
        <p:nvSpPr>
          <p:cNvPr id="20" name="arrow"/>
          <p:cNvSpPr/>
          <p:nvPr/>
        </p:nvSpPr>
        <p:spPr>
          <a:xfrm>
            <a:off x="3931920" y="2331720"/>
            <a:ext cx="109728" cy="182880"/>
          </a:xfrm>
          <a:prstGeom prst="rightArrow">
            <a:avLst/>
          </a:prstGeom>
          <a:solidFill>
            <a:srgbClr val="6E6A80"/>
          </a:solidFill>
          <a:ln w="12700">
            <a:solidFill>
              <a:srgbClr val="6E6A80"/>
            </a:solidFill>
            <a:prstDash val="solid"/>
          </a:ln>
        </p:spPr>
      </p:sp>
      <p:sp>
        <p:nvSpPr>
          <p:cNvPr id="21" name="card"/>
          <p:cNvSpPr/>
          <p:nvPr/>
        </p:nvSpPr>
        <p:spPr>
          <a:xfrm>
            <a:off x="4023360" y="1371600"/>
            <a:ext cx="1097280" cy="2103120"/>
          </a:xfrm>
          <a:prstGeom prst="roundRect">
            <a:avLst>
              <a:gd name="adj" fmla="val 5000"/>
            </a:avLst>
          </a:prstGeom>
          <a:solidFill>
            <a:srgbClr val="F6F2FB"/>
          </a:solidFill>
          <a:ln w="12700">
            <a:solidFill>
              <a:srgbClr val="F6F2FB"/>
            </a:solidFill>
            <a:prstDash val="solid"/>
          </a:ln>
        </p:spPr>
      </p:sp>
      <p:sp>
        <p:nvSpPr>
          <p:cNvPr id="22" name="badge"/>
          <p:cNvSpPr/>
          <p:nvPr/>
        </p:nvSpPr>
        <p:spPr>
          <a:xfrm>
            <a:off x="4389120" y="1508760"/>
            <a:ext cx="365760" cy="365760"/>
          </a:xfrm>
          <a:prstGeom prst="ellipse">
            <a:avLst/>
          </a:prstGeom>
          <a:solidFill>
            <a:srgbClr val="D6336C"/>
          </a:solidFill>
          <a:ln w="12700">
            <a:solidFill>
              <a:srgbClr val="D6336C"/>
            </a:solidFill>
            <a:prstDash val="solid"/>
          </a:ln>
        </p:spPr>
      </p:sp>
      <p:sp>
        <p:nvSpPr>
          <p:cNvPr id="23" name="Text 21"/>
          <p:cNvSpPr txBox="1"/>
          <p:nvPr/>
        </p:nvSpPr>
        <p:spPr>
          <a:xfrm>
            <a:off x="438912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406908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Features</a:t>
            </a:r>
            <a:endParaRPr lang="en-US" sz="1300" dirty="0"/>
          </a:p>
        </p:txBody>
      </p:sp>
      <p:sp>
        <p:nvSpPr>
          <p:cNvPr id="25" name="Text 23"/>
          <p:cNvSpPr txBox="1"/>
          <p:nvPr/>
        </p:nvSpPr>
        <p:spPr>
          <a:xfrm>
            <a:off x="411480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Window + user history</a:t>
            </a:r>
            <a:endParaRPr lang="en-US" sz="1050" dirty="0"/>
          </a:p>
        </p:txBody>
      </p:sp>
      <p:sp>
        <p:nvSpPr>
          <p:cNvPr id="26" name="arrow"/>
          <p:cNvSpPr/>
          <p:nvPr/>
        </p:nvSpPr>
        <p:spPr>
          <a:xfrm>
            <a:off x="5120640" y="2331720"/>
            <a:ext cx="109728" cy="182880"/>
          </a:xfrm>
          <a:prstGeom prst="rightArrow">
            <a:avLst/>
          </a:prstGeom>
          <a:solidFill>
            <a:srgbClr val="6E6A80"/>
          </a:solidFill>
          <a:ln w="12700">
            <a:solidFill>
              <a:srgbClr val="6E6A80"/>
            </a:solidFill>
            <a:prstDash val="solid"/>
          </a:ln>
        </p:spPr>
      </p:sp>
      <p:sp>
        <p:nvSpPr>
          <p:cNvPr id="27" name="card"/>
          <p:cNvSpPr/>
          <p:nvPr/>
        </p:nvSpPr>
        <p:spPr>
          <a:xfrm>
            <a:off x="5212080" y="1371600"/>
            <a:ext cx="1097280" cy="2103120"/>
          </a:xfrm>
          <a:prstGeom prst="roundRect">
            <a:avLst>
              <a:gd name="adj" fmla="val 5000"/>
            </a:avLst>
          </a:prstGeom>
          <a:solidFill>
            <a:srgbClr val="F6F2FB"/>
          </a:solidFill>
          <a:ln w="12700">
            <a:solidFill>
              <a:srgbClr val="F6F2FB"/>
            </a:solidFill>
            <a:prstDash val="solid"/>
          </a:ln>
        </p:spPr>
      </p:sp>
      <p:sp>
        <p:nvSpPr>
          <p:cNvPr id="28" name="badge"/>
          <p:cNvSpPr/>
          <p:nvPr/>
        </p:nvSpPr>
        <p:spPr>
          <a:xfrm>
            <a:off x="5577840" y="1508760"/>
            <a:ext cx="365760" cy="365760"/>
          </a:xfrm>
          <a:prstGeom prst="ellipse">
            <a:avLst/>
          </a:prstGeom>
          <a:solidFill>
            <a:srgbClr val="4B2A6E"/>
          </a:solidFill>
          <a:ln w="12700">
            <a:solidFill>
              <a:srgbClr val="4B2A6E"/>
            </a:solidFill>
            <a:prstDash val="solid"/>
          </a:ln>
        </p:spPr>
      </p:sp>
      <p:sp>
        <p:nvSpPr>
          <p:cNvPr id="29" name="Text 27"/>
          <p:cNvSpPr txBox="1"/>
          <p:nvPr/>
        </p:nvSpPr>
        <p:spPr>
          <a:xfrm>
            <a:off x="557784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525780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Score</a:t>
            </a:r>
            <a:endParaRPr lang="en-US" sz="1300" dirty="0"/>
          </a:p>
        </p:txBody>
      </p:sp>
      <p:sp>
        <p:nvSpPr>
          <p:cNvPr id="31" name="Text 29"/>
          <p:cNvSpPr txBox="1"/>
          <p:nvPr/>
        </p:nvSpPr>
        <p:spPr>
          <a:xfrm>
            <a:off x="530352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Random Forest probability</a:t>
            </a:r>
            <a:endParaRPr lang="en-US" sz="1050" dirty="0"/>
          </a:p>
        </p:txBody>
      </p:sp>
      <p:sp>
        <p:nvSpPr>
          <p:cNvPr id="32" name="arrow"/>
          <p:cNvSpPr/>
          <p:nvPr/>
        </p:nvSpPr>
        <p:spPr>
          <a:xfrm>
            <a:off x="6309360" y="2331720"/>
            <a:ext cx="109728" cy="182880"/>
          </a:xfrm>
          <a:prstGeom prst="rightArrow">
            <a:avLst/>
          </a:prstGeom>
          <a:solidFill>
            <a:srgbClr val="6E6A80"/>
          </a:solidFill>
          <a:ln w="12700">
            <a:solidFill>
              <a:srgbClr val="6E6A80"/>
            </a:solidFill>
            <a:prstDash val="solid"/>
          </a:ln>
        </p:spPr>
      </p:sp>
      <p:sp>
        <p:nvSpPr>
          <p:cNvPr id="33" name="card"/>
          <p:cNvSpPr/>
          <p:nvPr/>
        </p:nvSpPr>
        <p:spPr>
          <a:xfrm>
            <a:off x="6400800" y="1371600"/>
            <a:ext cx="1097280" cy="2103120"/>
          </a:xfrm>
          <a:prstGeom prst="roundRect">
            <a:avLst>
              <a:gd name="adj" fmla="val 5000"/>
            </a:avLst>
          </a:prstGeom>
          <a:solidFill>
            <a:srgbClr val="F6F2FB"/>
          </a:solidFill>
          <a:ln w="12700">
            <a:solidFill>
              <a:srgbClr val="F6F2FB"/>
            </a:solidFill>
            <a:prstDash val="solid"/>
          </a:ln>
        </p:spPr>
      </p:sp>
      <p:sp>
        <p:nvSpPr>
          <p:cNvPr id="34" name="badge"/>
          <p:cNvSpPr/>
          <p:nvPr/>
        </p:nvSpPr>
        <p:spPr>
          <a:xfrm>
            <a:off x="6766560" y="1508760"/>
            <a:ext cx="365760" cy="365760"/>
          </a:xfrm>
          <a:prstGeom prst="ellipse">
            <a:avLst/>
          </a:prstGeom>
          <a:solidFill>
            <a:srgbClr val="6E6A80"/>
          </a:solidFill>
          <a:ln w="12700">
            <a:solidFill>
              <a:srgbClr val="6E6A80"/>
            </a:solidFill>
            <a:prstDash val="solid"/>
          </a:ln>
        </p:spPr>
      </p:sp>
      <p:sp>
        <p:nvSpPr>
          <p:cNvPr id="35" name="Text 33"/>
          <p:cNvSpPr txBox="1"/>
          <p:nvPr/>
        </p:nvSpPr>
        <p:spPr>
          <a:xfrm>
            <a:off x="676656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6" name="Text 34"/>
          <p:cNvSpPr txBox="1"/>
          <p:nvPr/>
        </p:nvSpPr>
        <p:spPr>
          <a:xfrm>
            <a:off x="644652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Decide</a:t>
            </a:r>
            <a:endParaRPr lang="en-US" sz="1300" dirty="0"/>
          </a:p>
        </p:txBody>
      </p:sp>
      <p:sp>
        <p:nvSpPr>
          <p:cNvPr id="37" name="Text 35"/>
          <p:cNvSpPr txBox="1"/>
          <p:nvPr/>
        </p:nvSpPr>
        <p:spPr>
          <a:xfrm>
            <a:off x="649224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Flag, severity, reasons</a:t>
            </a:r>
            <a:endParaRPr lang="en-US" sz="1050" dirty="0"/>
          </a:p>
        </p:txBody>
      </p:sp>
      <p:sp>
        <p:nvSpPr>
          <p:cNvPr id="38" name="arrow"/>
          <p:cNvSpPr/>
          <p:nvPr/>
        </p:nvSpPr>
        <p:spPr>
          <a:xfrm>
            <a:off x="7498080" y="2331720"/>
            <a:ext cx="109728" cy="182880"/>
          </a:xfrm>
          <a:prstGeom prst="rightArrow">
            <a:avLst/>
          </a:prstGeom>
          <a:solidFill>
            <a:srgbClr val="6E6A80"/>
          </a:solidFill>
          <a:ln w="12700">
            <a:solidFill>
              <a:srgbClr val="6E6A80"/>
            </a:solidFill>
            <a:prstDash val="solid"/>
          </a:ln>
        </p:spPr>
      </p:sp>
      <p:sp>
        <p:nvSpPr>
          <p:cNvPr id="39" name="card"/>
          <p:cNvSpPr/>
          <p:nvPr/>
        </p:nvSpPr>
        <p:spPr>
          <a:xfrm>
            <a:off x="7589520" y="1371600"/>
            <a:ext cx="1097280" cy="2103120"/>
          </a:xfrm>
          <a:prstGeom prst="roundRect">
            <a:avLst>
              <a:gd name="adj" fmla="val 5000"/>
            </a:avLst>
          </a:prstGeom>
          <a:solidFill>
            <a:srgbClr val="F6F2FB"/>
          </a:solidFill>
          <a:ln w="12700">
            <a:solidFill>
              <a:srgbClr val="F6F2FB"/>
            </a:solidFill>
            <a:prstDash val="solid"/>
          </a:ln>
        </p:spPr>
      </p:sp>
      <p:sp>
        <p:nvSpPr>
          <p:cNvPr id="40" name="badge"/>
          <p:cNvSpPr/>
          <p:nvPr/>
        </p:nvSpPr>
        <p:spPr>
          <a:xfrm>
            <a:off x="7955280" y="1508760"/>
            <a:ext cx="365760" cy="365760"/>
          </a:xfrm>
          <a:prstGeom prst="ellipse">
            <a:avLst/>
          </a:prstGeom>
          <a:solidFill>
            <a:srgbClr val="8E5FD1"/>
          </a:solidFill>
          <a:ln w="12700">
            <a:solidFill>
              <a:srgbClr val="8E5FD1"/>
            </a:solidFill>
            <a:prstDash val="solid"/>
          </a:ln>
        </p:spPr>
      </p:sp>
      <p:sp>
        <p:nvSpPr>
          <p:cNvPr id="41" name="Text 39"/>
          <p:cNvSpPr txBox="1"/>
          <p:nvPr/>
        </p:nvSpPr>
        <p:spPr>
          <a:xfrm>
            <a:off x="795528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2" name="Text 40"/>
          <p:cNvSpPr txBox="1"/>
          <p:nvPr/>
        </p:nvSpPr>
        <p:spPr>
          <a:xfrm>
            <a:off x="7635240" y="2011680"/>
            <a:ext cx="1005840" cy="274320"/>
          </a:xfrm>
          <a:prstGeom prst="rect">
            <a:avLst/>
          </a:prstGeom>
          <a:noFill/>
          <a:ln/>
        </p:spPr>
        <p:txBody>
          <a:bodyPr wrap="square" lIns="0" tIns="0" rIns="0" bIns="0" rtlCol="0" anchor="t"/>
          <a:lstStyle/>
          <a:p>
            <a:pPr algn="ctr" indent="0" marL="0">
              <a:buNone/>
            </a:pPr>
            <a:r>
              <a:rPr lang="en-US" sz="1300" b="1" dirty="0">
                <a:solidFill>
                  <a:srgbClr val="4B2A6E"/>
                </a:solidFill>
                <a:latin typeface="Cambria" pitchFamily="34" charset="0"/>
                <a:ea typeface="Cambria" pitchFamily="34" charset="-122"/>
                <a:cs typeface="Cambria" pitchFamily="34" charset="-120"/>
              </a:rPr>
              <a:t>Show</a:t>
            </a:r>
            <a:endParaRPr lang="en-US" sz="1300" dirty="0"/>
          </a:p>
        </p:txBody>
      </p:sp>
      <p:sp>
        <p:nvSpPr>
          <p:cNvPr id="43" name="Text 41"/>
          <p:cNvSpPr txBox="1"/>
          <p:nvPr/>
        </p:nvSpPr>
        <p:spPr>
          <a:xfrm>
            <a:off x="7680960" y="2377440"/>
            <a:ext cx="914400" cy="1005840"/>
          </a:xfrm>
          <a:prstGeom prst="rect">
            <a:avLst/>
          </a:prstGeom>
          <a:noFill/>
          <a:ln/>
        </p:spPr>
        <p:txBody>
          <a:bodyPr wrap="square" lIns="0" tIns="0" rIns="0" bIns="0" rtlCol="0" anchor="t"/>
          <a:lstStyle/>
          <a:p>
            <a:pPr algn="ctr" indent="0" marL="0">
              <a:buNone/>
            </a:pPr>
            <a:r>
              <a:rPr lang="en-US" sz="1050" dirty="0">
                <a:solidFill>
                  <a:srgbClr val="6E6A80"/>
                </a:solidFill>
                <a:latin typeface="Calibri" pitchFamily="34" charset="0"/>
                <a:ea typeface="Calibri" pitchFamily="34" charset="-122"/>
                <a:cs typeface="Calibri" pitchFamily="34" charset="-120"/>
              </a:rPr>
              <a:t>Gold tables → dashboard</a:t>
            </a:r>
            <a:endParaRPr lang="en-US" sz="1050" dirty="0"/>
          </a:p>
        </p:txBody>
      </p:sp>
      <p:sp>
        <p:nvSpPr>
          <p:cNvPr id="44" name="card"/>
          <p:cNvSpPr/>
          <p:nvPr/>
        </p:nvSpPr>
        <p:spPr>
          <a:xfrm>
            <a:off x="457200" y="3749040"/>
            <a:ext cx="8229600" cy="731520"/>
          </a:xfrm>
          <a:prstGeom prst="roundRect">
            <a:avLst>
              <a:gd name="adj" fmla="val 7500"/>
            </a:avLst>
          </a:prstGeom>
          <a:solidFill>
            <a:srgbClr val="4B2A6E"/>
          </a:solidFill>
          <a:ln w="12700">
            <a:solidFill>
              <a:srgbClr val="4B2A6E"/>
            </a:solidFill>
            <a:prstDash val="solid"/>
          </a:ln>
        </p:spPr>
      </p:sp>
      <p:sp>
        <p:nvSpPr>
          <p:cNvPr id="45" name="Text 43"/>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Invalid events go to a quarantine table with reasons. The current transaction is compared with the user's state before it updates that state.</a:t>
            </a:r>
            <a:endParaRPr lang="en-US" sz="12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Technology stack</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3108960"/>
                <a:gridCol w="3108960"/>
              </a:tblGrid>
              <a:tr h="3931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Apache Kafka 4.3.1</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6-partition topic, key = user_id</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Replayable, partitioned ingestion</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PySpark / Spark 3.5.9</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Streaming, windows, state, MLlib</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Distributed event-time processing</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Delta Lake</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Bronze, Silver, Gold, quarantine</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ACID, idempotent writes</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Spark MLlib</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Imputer, encoder, Random Forest</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One persisted PipelineModel</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Streamlit</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Fraud Command Center :8501</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Lightweight Python UI</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Spark History Server</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Jobs, stages, executors :18080</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Spark-level observability</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93192">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Docker Compose</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Broker, streams, dashboard</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50" dirty="0">
                          <a:solidFill>
                            <a:srgbClr val="1E1230"/>
                          </a:solidFill>
                          <a:latin typeface="Calibri" pitchFamily="34" charset="0"/>
                          <a:ea typeface="Calibri" pitchFamily="34" charset="-122"/>
                          <a:cs typeface="Calibri" pitchFamily="34" charset="-120"/>
                        </a:rPr>
                        <a:t>Reproducible, restart policies</a:t>
                      </a:r>
                      <a:endParaRPr lang="en-US" sz="1150" dirty="0">
                        <a:latin typeface="Calibri" charset="0"/>
                        <a:ea typeface="Calibri" charset="0"/>
                        <a:cs typeface="Calibri" charset="0"/>
                      </a:endParaRPr>
                    </a:p>
                  </a:txBody>
                  <a:tcPr marL="91440" marR="91440"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Kafka ingestion and the data contract</a:t>
            </a:r>
            <a:endParaRPr lang="en-US" sz="2600" dirty="0"/>
          </a:p>
        </p:txBody>
      </p:sp>
      <p:sp>
        <p:nvSpPr>
          <p:cNvPr id="3" name="card"/>
          <p:cNvSpPr/>
          <p:nvPr/>
        </p:nvSpPr>
        <p:spPr>
          <a:xfrm>
            <a:off x="457200" y="1097280"/>
            <a:ext cx="1371600" cy="640080"/>
          </a:xfrm>
          <a:prstGeom prst="roundRect">
            <a:avLst>
              <a:gd name="adj" fmla="val 8571"/>
            </a:avLst>
          </a:prstGeom>
          <a:solidFill>
            <a:srgbClr val="4B2A6E"/>
          </a:solidFill>
          <a:ln w="12700">
            <a:solidFill>
              <a:srgbClr val="4B2A6E"/>
            </a:solidFill>
            <a:prstDash val="solid"/>
          </a:ln>
        </p:spPr>
      </p:sp>
      <p:sp>
        <p:nvSpPr>
          <p:cNvPr id="4" name="Text 2"/>
          <p:cNvSpPr txBox="1"/>
          <p:nvPr/>
        </p:nvSpPr>
        <p:spPr>
          <a:xfrm>
            <a:off x="457200" y="109728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Producer</a:t>
            </a:r>
            <a:endParaRPr lang="en-US" sz="1300" dirty="0"/>
          </a:p>
        </p:txBody>
      </p:sp>
      <p:sp>
        <p:nvSpPr>
          <p:cNvPr id="5" name="Text 3"/>
          <p:cNvSpPr txBox="1"/>
          <p:nvPr/>
        </p:nvSpPr>
        <p:spPr>
          <a:xfrm>
            <a:off x="2240280" y="1097280"/>
            <a:ext cx="4572000" cy="22860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Topic 'transactions' · 6 partitions · key = user_id</a:t>
            </a:r>
            <a:endParaRPr lang="en-US" sz="1100" dirty="0"/>
          </a:p>
        </p:txBody>
      </p:sp>
      <p:sp>
        <p:nvSpPr>
          <p:cNvPr id="6" name="partition"/>
          <p:cNvSpPr/>
          <p:nvPr/>
        </p:nvSpPr>
        <p:spPr>
          <a:xfrm>
            <a:off x="2240280" y="1371600"/>
            <a:ext cx="457200" cy="365760"/>
          </a:xfrm>
          <a:prstGeom prst="roundRect">
            <a:avLst>
              <a:gd name="adj" fmla="val 10000"/>
            </a:avLst>
          </a:prstGeom>
          <a:solidFill>
            <a:srgbClr val="8E5FD1"/>
          </a:solidFill>
          <a:ln w="12700">
            <a:solidFill>
              <a:srgbClr val="8E5FD1"/>
            </a:solidFill>
            <a:prstDash val="solid"/>
          </a:ln>
        </p:spPr>
      </p:sp>
      <p:sp>
        <p:nvSpPr>
          <p:cNvPr id="7" name="Text 5"/>
          <p:cNvSpPr txBox="1"/>
          <p:nvPr/>
        </p:nvSpPr>
        <p:spPr>
          <a:xfrm>
            <a:off x="2240280" y="1371600"/>
            <a:ext cx="457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a:t>
            </a:r>
            <a:endParaRPr lang="en-US" sz="1200" dirty="0"/>
          </a:p>
        </p:txBody>
      </p:sp>
      <p:sp>
        <p:nvSpPr>
          <p:cNvPr id="8" name="partition"/>
          <p:cNvSpPr/>
          <p:nvPr/>
        </p:nvSpPr>
        <p:spPr>
          <a:xfrm>
            <a:off x="2788920" y="1371600"/>
            <a:ext cx="457200" cy="365760"/>
          </a:xfrm>
          <a:prstGeom prst="roundRect">
            <a:avLst>
              <a:gd name="adj" fmla="val 10000"/>
            </a:avLst>
          </a:prstGeom>
          <a:solidFill>
            <a:srgbClr val="8E5FD1"/>
          </a:solidFill>
          <a:ln w="12700">
            <a:solidFill>
              <a:srgbClr val="8E5FD1"/>
            </a:solidFill>
            <a:prstDash val="solid"/>
          </a:ln>
        </p:spPr>
      </p:sp>
      <p:sp>
        <p:nvSpPr>
          <p:cNvPr id="9" name="Text 7"/>
          <p:cNvSpPr txBox="1"/>
          <p:nvPr/>
        </p:nvSpPr>
        <p:spPr>
          <a:xfrm>
            <a:off x="2788920" y="1371600"/>
            <a:ext cx="457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partition"/>
          <p:cNvSpPr/>
          <p:nvPr/>
        </p:nvSpPr>
        <p:spPr>
          <a:xfrm>
            <a:off x="3337560" y="1371600"/>
            <a:ext cx="457200" cy="365760"/>
          </a:xfrm>
          <a:prstGeom prst="roundRect">
            <a:avLst>
              <a:gd name="adj" fmla="val 10000"/>
            </a:avLst>
          </a:prstGeom>
          <a:solidFill>
            <a:srgbClr val="8E5FD1"/>
          </a:solidFill>
          <a:ln w="12700">
            <a:solidFill>
              <a:srgbClr val="8E5FD1"/>
            </a:solidFill>
            <a:prstDash val="solid"/>
          </a:ln>
        </p:spPr>
      </p:sp>
      <p:sp>
        <p:nvSpPr>
          <p:cNvPr id="11" name="Text 9"/>
          <p:cNvSpPr txBox="1"/>
          <p:nvPr/>
        </p:nvSpPr>
        <p:spPr>
          <a:xfrm>
            <a:off x="3337560" y="1371600"/>
            <a:ext cx="457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partition"/>
          <p:cNvSpPr/>
          <p:nvPr/>
        </p:nvSpPr>
        <p:spPr>
          <a:xfrm>
            <a:off x="3886200" y="1371600"/>
            <a:ext cx="457200" cy="365760"/>
          </a:xfrm>
          <a:prstGeom prst="roundRect">
            <a:avLst>
              <a:gd name="adj" fmla="val 10000"/>
            </a:avLst>
          </a:prstGeom>
          <a:solidFill>
            <a:srgbClr val="8E5FD1"/>
          </a:solidFill>
          <a:ln w="12700">
            <a:solidFill>
              <a:srgbClr val="8E5FD1"/>
            </a:solidFill>
            <a:prstDash val="solid"/>
          </a:ln>
        </p:spPr>
      </p:sp>
      <p:sp>
        <p:nvSpPr>
          <p:cNvPr id="13" name="Text 11"/>
          <p:cNvSpPr txBox="1"/>
          <p:nvPr/>
        </p:nvSpPr>
        <p:spPr>
          <a:xfrm>
            <a:off x="3886200" y="1371600"/>
            <a:ext cx="457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partition"/>
          <p:cNvSpPr/>
          <p:nvPr/>
        </p:nvSpPr>
        <p:spPr>
          <a:xfrm>
            <a:off x="4434840" y="1371600"/>
            <a:ext cx="457200" cy="365760"/>
          </a:xfrm>
          <a:prstGeom prst="roundRect">
            <a:avLst>
              <a:gd name="adj" fmla="val 10000"/>
            </a:avLst>
          </a:prstGeom>
          <a:solidFill>
            <a:srgbClr val="8E5FD1"/>
          </a:solidFill>
          <a:ln w="12700">
            <a:solidFill>
              <a:srgbClr val="8E5FD1"/>
            </a:solidFill>
            <a:prstDash val="solid"/>
          </a:ln>
        </p:spPr>
      </p:sp>
      <p:sp>
        <p:nvSpPr>
          <p:cNvPr id="15" name="Text 13"/>
          <p:cNvSpPr txBox="1"/>
          <p:nvPr/>
        </p:nvSpPr>
        <p:spPr>
          <a:xfrm>
            <a:off x="4434840" y="1371600"/>
            <a:ext cx="457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partition"/>
          <p:cNvSpPr/>
          <p:nvPr/>
        </p:nvSpPr>
        <p:spPr>
          <a:xfrm>
            <a:off x="4983480" y="1371600"/>
            <a:ext cx="457200" cy="365760"/>
          </a:xfrm>
          <a:prstGeom prst="roundRect">
            <a:avLst>
              <a:gd name="adj" fmla="val 10000"/>
            </a:avLst>
          </a:prstGeom>
          <a:solidFill>
            <a:srgbClr val="D9D2E6"/>
          </a:solidFill>
          <a:ln w="12700">
            <a:solidFill>
              <a:srgbClr val="8E5FD1"/>
            </a:solidFill>
            <a:prstDash val="solid"/>
          </a:ln>
        </p:spPr>
      </p:sp>
      <p:sp>
        <p:nvSpPr>
          <p:cNvPr id="17" name="Text 15"/>
          <p:cNvSpPr txBox="1"/>
          <p:nvPr/>
        </p:nvSpPr>
        <p:spPr>
          <a:xfrm>
            <a:off x="4983480" y="1371600"/>
            <a:ext cx="457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arrow"/>
          <p:cNvSpPr/>
          <p:nvPr/>
        </p:nvSpPr>
        <p:spPr>
          <a:xfrm>
            <a:off x="1920240" y="1325880"/>
            <a:ext cx="228600" cy="182880"/>
          </a:xfrm>
          <a:prstGeom prst="rightArrow">
            <a:avLst/>
          </a:prstGeom>
          <a:solidFill>
            <a:srgbClr val="6E6A80"/>
          </a:solidFill>
          <a:ln w="12700">
            <a:solidFill>
              <a:srgbClr val="6E6A80"/>
            </a:solidFill>
            <a:prstDash val="solid"/>
          </a:ln>
        </p:spPr>
      </p:sp>
      <p:sp>
        <p:nvSpPr>
          <p:cNvPr id="19" name="card"/>
          <p:cNvSpPr/>
          <p:nvPr/>
        </p:nvSpPr>
        <p:spPr>
          <a:xfrm>
            <a:off x="5943600" y="1097280"/>
            <a:ext cx="1371600" cy="640080"/>
          </a:xfrm>
          <a:prstGeom prst="roundRect">
            <a:avLst>
              <a:gd name="adj" fmla="val 8571"/>
            </a:avLst>
          </a:prstGeom>
          <a:solidFill>
            <a:srgbClr val="4B2A6E"/>
          </a:solidFill>
          <a:ln w="12700">
            <a:solidFill>
              <a:srgbClr val="4B2A6E"/>
            </a:solidFill>
            <a:prstDash val="solid"/>
          </a:ln>
        </p:spPr>
      </p:sp>
      <p:sp>
        <p:nvSpPr>
          <p:cNvPr id="20" name="Text 18"/>
          <p:cNvSpPr txBox="1"/>
          <p:nvPr/>
        </p:nvSpPr>
        <p:spPr>
          <a:xfrm>
            <a:off x="5943600" y="109728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Bronze stream</a:t>
            </a:r>
            <a:endParaRPr lang="en-US" sz="1300" dirty="0"/>
          </a:p>
        </p:txBody>
      </p:sp>
      <p:sp>
        <p:nvSpPr>
          <p:cNvPr id="21" name="arrow"/>
          <p:cNvSpPr/>
          <p:nvPr/>
        </p:nvSpPr>
        <p:spPr>
          <a:xfrm>
            <a:off x="5623560" y="1325880"/>
            <a:ext cx="228600" cy="182880"/>
          </a:xfrm>
          <a:prstGeom prst="rightArrow">
            <a:avLst/>
          </a:prstGeom>
          <a:solidFill>
            <a:srgbClr val="6E6A80"/>
          </a:solidFill>
          <a:ln w="12700">
            <a:solidFill>
              <a:srgbClr val="6E6A80"/>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4937760" cy="914400"/>
        </p:xfrm>
        <a:graphic>
          <a:graphicData uri="http://schemas.openxmlformats.org/drawingml/2006/table">
            <a:tbl>
              <a:tblPr/>
              <a:tblGrid>
                <a:gridCol w="1554480"/>
                <a:gridCol w="1005840"/>
                <a:gridCol w="237744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r>
              <a:tr h="329184">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transaction_id</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Unique identifier</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user_id</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Customer; also Kafka key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29184">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timestamp</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timestamp</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Event time</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double</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Transaction amount</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29184">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merchant_category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Merchant type</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device_id</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100" dirty="0">
                          <a:solidFill>
                            <a:srgbClr val="1E1230"/>
                          </a:solidFill>
                          <a:latin typeface="Calibri" pitchFamily="34" charset="0"/>
                          <a:ea typeface="Calibri" pitchFamily="34" charset="-122"/>
                          <a:cs typeface="Calibri" pitchFamily="34" charset="-120"/>
                        </a:rPr>
                        <a:t>Device used</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bl>
          </a:graphicData>
        </a:graphic>
      </p:graphicFrame>
      <p:sp>
        <p:nvSpPr>
          <p:cNvPr id="23" name="card"/>
          <p:cNvSpPr/>
          <p:nvPr/>
        </p:nvSpPr>
        <p:spPr>
          <a:xfrm>
            <a:off x="5577840" y="2011680"/>
            <a:ext cx="3108960" cy="2331720"/>
          </a:xfrm>
          <a:prstGeom prst="roundRect">
            <a:avLst>
              <a:gd name="adj" fmla="val 2353"/>
            </a:avLst>
          </a:prstGeom>
          <a:solidFill>
            <a:srgbClr val="4B2A6E"/>
          </a:solidFill>
          <a:ln w="12700">
            <a:solidFill>
              <a:srgbClr val="4B2A6E"/>
            </a:solidFill>
            <a:prstDash val="solid"/>
          </a:ln>
        </p:spPr>
      </p:sp>
      <p:sp>
        <p:nvSpPr>
          <p:cNvPr id="24" name="Text 21"/>
          <p:cNvSpPr txBox="1"/>
          <p:nvPr/>
        </p:nvSpPr>
        <p:spPr>
          <a:xfrm>
            <a:off x="5760720" y="2148840"/>
            <a:ext cx="274320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No label leakage</a:t>
            </a:r>
            <a:endParaRPr lang="en-US" sz="1500" dirty="0"/>
          </a:p>
        </p:txBody>
      </p:sp>
      <p:sp>
        <p:nvSpPr>
          <p:cNvPr id="25" name="Text 22"/>
          <p:cNvSpPr txBox="1"/>
          <p:nvPr/>
        </p:nvSpPr>
        <p:spPr>
          <a:xfrm>
            <a:off x="5760720" y="2514600"/>
            <a:ext cx="2743200"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Labels (is_fraud_simulated, fraud_type) never enter Kafka. Ground truth is stored separately and joined only for training.</a:t>
            </a:r>
            <a:endParaRPr lang="en-US" sz="1200" dirty="0"/>
          </a:p>
        </p:txBody>
      </p:sp>
      <p:sp>
        <p:nvSpPr>
          <p:cNvPr id="26" name="Text 23"/>
          <p:cNvSpPr txBox="1"/>
          <p:nvPr/>
        </p:nvSpPr>
        <p:spPr>
          <a:xfrm>
            <a:off x="5760720" y="3611880"/>
            <a:ext cx="2743200" cy="640080"/>
          </a:xfrm>
          <a:prstGeom prst="rect">
            <a:avLst/>
          </a:prstGeom>
          <a:noFill/>
          <a:ln/>
        </p:spPr>
        <p:txBody>
          <a:bodyPr wrap="square" lIns="0" tIns="0" rIns="0" bIns="0" rtlCol="0" anchor="t"/>
          <a:lstStyle/>
          <a:p>
            <a:pPr indent="0" marL="0">
              <a:buNone/>
            </a:pPr>
            <a:r>
              <a:rPr lang="en-US" sz="1100" i="1" dirty="0">
                <a:solidFill>
                  <a:srgbClr val="D9C8F5"/>
                </a:solidFill>
                <a:latin typeface="Calibri" pitchFamily="34" charset="0"/>
                <a:ea typeface="Calibri" pitchFamily="34" charset="-122"/>
                <a:cs typeface="Calibri" pitchFamily="34" charset="-120"/>
              </a:rPr>
              <a:t>Generator defaults: fraud 2%, duplicates 1%, late events 3% + 1%</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Bronze – Silver – Gold lakehouse</a:t>
            </a:r>
            <a:endParaRPr lang="en-US" sz="2600" dirty="0"/>
          </a:p>
        </p:txBody>
      </p:sp>
      <p:pic>
        <p:nvPicPr>
          <p:cNvPr id="3" name="medallion-diagram" descr="/home/claude/figs/fig_medallion.png">    </p:cNvPr>
          <p:cNvPicPr>
            <a:picLocks noChangeAspect="1"/>
          </p:cNvPicPr>
          <p:nvPr/>
        </p:nvPicPr>
        <p:blipFill>
          <a:blip r:embed="rId1"/>
          <a:stretch>
            <a:fillRect/>
          </a:stretch>
        </p:blipFill>
        <p:spPr>
          <a:xfrm>
            <a:off x="819302" y="960120"/>
            <a:ext cx="7505395" cy="2468880"/>
          </a:xfrm>
          <a:prstGeom prst="rect">
            <a:avLst/>
          </a:prstGeom>
        </p:spPr>
      </p:pic>
      <p:sp>
        <p:nvSpPr>
          <p:cNvPr id="4" name="card"/>
          <p:cNvSpPr/>
          <p:nvPr/>
        </p:nvSpPr>
        <p:spPr>
          <a:xfrm>
            <a:off x="457200" y="3520440"/>
            <a:ext cx="2651760" cy="1097280"/>
          </a:xfrm>
          <a:prstGeom prst="roundRect">
            <a:avLst>
              <a:gd name="adj" fmla="val 5000"/>
            </a:avLst>
          </a:prstGeom>
          <a:solidFill>
            <a:srgbClr val="F6F2FB"/>
          </a:solidFill>
          <a:ln w="12700">
            <a:solidFill>
              <a:srgbClr val="F6F2FB"/>
            </a:solidFill>
            <a:prstDash val="solid"/>
          </a:ln>
        </p:spPr>
      </p:sp>
      <p:sp>
        <p:nvSpPr>
          <p:cNvPr id="5" name="Text 2"/>
          <p:cNvSpPr txBox="1"/>
          <p:nvPr/>
        </p:nvSpPr>
        <p:spPr>
          <a:xfrm>
            <a:off x="640080" y="3584448"/>
            <a:ext cx="228600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Bronze</a:t>
            </a:r>
            <a:endParaRPr lang="en-US" sz="1500" dirty="0"/>
          </a:p>
        </p:txBody>
      </p:sp>
      <p:sp>
        <p:nvSpPr>
          <p:cNvPr id="6" name="Text 3"/>
          <p:cNvSpPr txBox="1"/>
          <p:nvPr/>
        </p:nvSpPr>
        <p:spPr>
          <a:xfrm>
            <a:off x="640080" y="3858768"/>
            <a:ext cx="2331720" cy="731520"/>
          </a:xfrm>
          <a:prstGeom prst="rect">
            <a:avLst/>
          </a:prstGeom>
          <a:noFill/>
          <a:ln/>
        </p:spPr>
        <p:txBody>
          <a:bodyPr wrap="square" lIns="0" tIns="0" rIns="0" bIns="0" rtlCol="0" anchor="t"/>
          <a:lstStyle/>
          <a:p>
            <a:pPr indent="0" marL="0">
              <a:buNone/>
            </a:pPr>
            <a:r>
              <a:rPr lang="en-US" sz="1000" dirty="0">
                <a:solidFill>
                  <a:srgbClr val="6E6A80"/>
                </a:solidFill>
                <a:latin typeface="Calibri" pitchFamily="34" charset="0"/>
                <a:ea typeface="Calibri" pitchFamily="34" charset="-122"/>
                <a:cs typeface="Calibri" pitchFamily="34" charset="-120"/>
              </a:rPr>
              <a:t>Raw JSON with topic, partition, offset, Kafka timestamp. Replay and audit. 5-second trigger, up to 5,000 offsets per batch.</a:t>
            </a:r>
            <a:endParaRPr lang="en-US" sz="1000" dirty="0"/>
          </a:p>
        </p:txBody>
      </p:sp>
      <p:sp>
        <p:nvSpPr>
          <p:cNvPr id="7" name="card"/>
          <p:cNvSpPr/>
          <p:nvPr/>
        </p:nvSpPr>
        <p:spPr>
          <a:xfrm>
            <a:off x="3264408" y="3520440"/>
            <a:ext cx="2651760" cy="1097280"/>
          </a:xfrm>
          <a:prstGeom prst="roundRect">
            <a:avLst>
              <a:gd name="adj" fmla="val 5000"/>
            </a:avLst>
          </a:prstGeom>
          <a:solidFill>
            <a:srgbClr val="F6F2FB"/>
          </a:solidFill>
          <a:ln w="12700">
            <a:solidFill>
              <a:srgbClr val="F6F2FB"/>
            </a:solidFill>
            <a:prstDash val="solid"/>
          </a:ln>
        </p:spPr>
      </p:sp>
      <p:sp>
        <p:nvSpPr>
          <p:cNvPr id="8" name="Text 5"/>
          <p:cNvSpPr txBox="1"/>
          <p:nvPr/>
        </p:nvSpPr>
        <p:spPr>
          <a:xfrm>
            <a:off x="3447288" y="3584448"/>
            <a:ext cx="228600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Silver</a:t>
            </a:r>
            <a:endParaRPr lang="en-US" sz="1500" dirty="0"/>
          </a:p>
        </p:txBody>
      </p:sp>
      <p:sp>
        <p:nvSpPr>
          <p:cNvPr id="9" name="Text 6"/>
          <p:cNvSpPr txBox="1"/>
          <p:nvPr/>
        </p:nvSpPr>
        <p:spPr>
          <a:xfrm>
            <a:off x="3447288" y="3858768"/>
            <a:ext cx="2331720" cy="731520"/>
          </a:xfrm>
          <a:prstGeom prst="rect">
            <a:avLst/>
          </a:prstGeom>
          <a:noFill/>
          <a:ln/>
        </p:spPr>
        <p:txBody>
          <a:bodyPr wrap="square" lIns="0" tIns="0" rIns="0" bIns="0" rtlCol="0" anchor="t"/>
          <a:lstStyle/>
          <a:p>
            <a:pPr indent="0" marL="0">
              <a:buNone/>
            </a:pPr>
            <a:r>
              <a:rPr lang="en-US" sz="1000" dirty="0">
                <a:solidFill>
                  <a:srgbClr val="6E6A80"/>
                </a:solidFill>
                <a:latin typeface="Calibri" pitchFamily="34" charset="0"/>
                <a:ea typeface="Calibri" pitchFamily="34" charset="-122"/>
                <a:cs typeface="Calibri" pitchFamily="34" charset="-120"/>
              </a:rPr>
              <a:t>Validated, deduplicated transactions; quarantine table; window and stateful features.</a:t>
            </a:r>
            <a:endParaRPr lang="en-US" sz="1000" dirty="0"/>
          </a:p>
        </p:txBody>
      </p:sp>
      <p:sp>
        <p:nvSpPr>
          <p:cNvPr id="10" name="card"/>
          <p:cNvSpPr/>
          <p:nvPr/>
        </p:nvSpPr>
        <p:spPr>
          <a:xfrm>
            <a:off x="6071616" y="3520440"/>
            <a:ext cx="2651760" cy="1097280"/>
          </a:xfrm>
          <a:prstGeom prst="roundRect">
            <a:avLst>
              <a:gd name="adj" fmla="val 5000"/>
            </a:avLst>
          </a:prstGeom>
          <a:solidFill>
            <a:srgbClr val="F6F2FB"/>
          </a:solidFill>
          <a:ln w="12700">
            <a:solidFill>
              <a:srgbClr val="F6F2FB"/>
            </a:solidFill>
            <a:prstDash val="solid"/>
          </a:ln>
        </p:spPr>
      </p:sp>
      <p:sp>
        <p:nvSpPr>
          <p:cNvPr id="11" name="Text 8"/>
          <p:cNvSpPr txBox="1"/>
          <p:nvPr/>
        </p:nvSpPr>
        <p:spPr>
          <a:xfrm>
            <a:off x="6254496" y="3584448"/>
            <a:ext cx="2286000" cy="274320"/>
          </a:xfrm>
          <a:prstGeom prst="rect">
            <a:avLst/>
          </a:prstGeom>
          <a:noFill/>
          <a:ln/>
        </p:spPr>
        <p:txBody>
          <a:bodyPr wrap="square" lIns="0" tIns="0" rIns="0" bIns="0" rtlCol="0" anchor="t"/>
          <a:lstStyle/>
          <a:p>
            <a:pPr indent="0" marL="0">
              <a:buNone/>
            </a:pPr>
            <a:r>
              <a:rPr lang="en-US" sz="1500" b="1" dirty="0">
                <a:solidFill>
                  <a:srgbClr val="4B2A6E"/>
                </a:solidFill>
                <a:latin typeface="Cambria" pitchFamily="34" charset="0"/>
                <a:ea typeface="Cambria" pitchFamily="34" charset="-122"/>
                <a:cs typeface="Cambria" pitchFamily="34" charset="-120"/>
              </a:rPr>
              <a:t>Gold</a:t>
            </a:r>
            <a:endParaRPr lang="en-US" sz="1500" dirty="0"/>
          </a:p>
        </p:txBody>
      </p:sp>
      <p:sp>
        <p:nvSpPr>
          <p:cNvPr id="12" name="Text 9"/>
          <p:cNvSpPr txBox="1"/>
          <p:nvPr/>
        </p:nvSpPr>
        <p:spPr>
          <a:xfrm>
            <a:off x="6254496" y="3858768"/>
            <a:ext cx="2331720" cy="731520"/>
          </a:xfrm>
          <a:prstGeom prst="rect">
            <a:avLst/>
          </a:prstGeom>
          <a:noFill/>
          <a:ln/>
        </p:spPr>
        <p:txBody>
          <a:bodyPr wrap="square" lIns="0" tIns="0" rIns="0" bIns="0" rtlCol="0" anchor="t"/>
          <a:lstStyle/>
          <a:p>
            <a:pPr indent="0" marL="0">
              <a:buNone/>
            </a:pPr>
            <a:r>
              <a:rPr lang="en-US" sz="1000" dirty="0">
                <a:solidFill>
                  <a:srgbClr val="6E6A80"/>
                </a:solidFill>
                <a:latin typeface="Calibri" pitchFamily="34" charset="0"/>
                <a:ea typeface="Calibri" pitchFamily="34" charset="-122"/>
                <a:cs typeface="Calibri" pitchFamily="34" charset="-120"/>
              </a:rPr>
              <a:t>Immutable feature events, scored transactions and fraud alerts, partitioned by event date.</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Data quality, deduplication and quarantine</a:t>
            </a:r>
            <a:endParaRPr lang="en-US" sz="2600" dirty="0"/>
          </a:p>
        </p:txBody>
      </p:sp>
      <p:sp>
        <p:nvSpPr>
          <p:cNvPr id="3" name="card"/>
          <p:cNvSpPr/>
          <p:nvPr/>
        </p:nvSpPr>
        <p:spPr>
          <a:xfrm>
            <a:off x="457200" y="1097280"/>
            <a:ext cx="4846320" cy="3429000"/>
          </a:xfrm>
          <a:prstGeom prst="roundRect">
            <a:avLst>
              <a:gd name="adj" fmla="val 1600"/>
            </a:avLst>
          </a:prstGeom>
          <a:solidFill>
            <a:srgbClr val="F6F2FB"/>
          </a:solidFill>
          <a:ln w="12700">
            <a:solidFill>
              <a:srgbClr val="F6F2FB"/>
            </a:solidFill>
            <a:prstDash val="solid"/>
          </a:ln>
        </p:spPr>
      </p:sp>
      <p:sp>
        <p:nvSpPr>
          <p:cNvPr id="4" name="Text 2"/>
          <p:cNvSpPr txBox="1"/>
          <p:nvPr/>
        </p:nvSpPr>
        <p:spPr>
          <a:xfrm>
            <a:off x="640080" y="1188720"/>
            <a:ext cx="4480560" cy="274320"/>
          </a:xfrm>
          <a:prstGeom prst="rect">
            <a:avLst/>
          </a:prstGeom>
          <a:noFill/>
          <a:ln/>
        </p:spPr>
        <p:txBody>
          <a:bodyPr wrap="square" lIns="0" tIns="0" rIns="0" bIns="0" rtlCol="0" anchor="t"/>
          <a:lstStyle/>
          <a:p>
            <a:pPr indent="0" marL="0">
              <a:buNone/>
            </a:pPr>
            <a:r>
              <a:rPr lang="en-US" sz="1400" b="1" dirty="0">
                <a:solidFill>
                  <a:srgbClr val="4B2A6E"/>
                </a:solidFill>
                <a:latin typeface="Cambria" pitchFamily="34" charset="0"/>
                <a:ea typeface="Cambria" pitchFamily="34" charset="-122"/>
                <a:cs typeface="Cambria" pitchFamily="34" charset="-120"/>
              </a:rPr>
              <a:t>11 validation rules (all failures recorded)</a:t>
            </a:r>
            <a:endParaRPr lang="en-US" sz="1400" dirty="0"/>
          </a:p>
        </p:txBody>
      </p:sp>
      <p:sp>
        <p:nvSpPr>
          <p:cNvPr id="5" name="rule-chip"/>
          <p:cNvSpPr/>
          <p:nvPr/>
        </p:nvSpPr>
        <p:spPr>
          <a:xfrm>
            <a:off x="640080" y="1600200"/>
            <a:ext cx="2194560" cy="457200"/>
          </a:xfrm>
          <a:prstGeom prst="roundRect">
            <a:avLst>
              <a:gd name="adj" fmla="val 10000"/>
            </a:avLst>
          </a:prstGeom>
          <a:solidFill>
            <a:srgbClr val="FFFFFF"/>
          </a:solidFill>
          <a:ln w="9525">
            <a:solidFill>
              <a:srgbClr val="E6E0F0"/>
            </a:solidFill>
            <a:prstDash val="solid"/>
          </a:ln>
        </p:spPr>
      </p:sp>
      <p:sp>
        <p:nvSpPr>
          <p:cNvPr id="6" name="Text 4"/>
          <p:cNvSpPr txBox="1"/>
          <p:nvPr/>
        </p:nvSpPr>
        <p:spPr>
          <a:xfrm>
            <a:off x="713232" y="1600200"/>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INVALID_JSON</a:t>
            </a:r>
            <a:endParaRPr lang="en-US" sz="1000" dirty="0"/>
          </a:p>
        </p:txBody>
      </p:sp>
      <p:sp>
        <p:nvSpPr>
          <p:cNvPr id="7" name="rule-chip"/>
          <p:cNvSpPr/>
          <p:nvPr/>
        </p:nvSpPr>
        <p:spPr>
          <a:xfrm>
            <a:off x="2926080" y="1600200"/>
            <a:ext cx="2194560" cy="457200"/>
          </a:xfrm>
          <a:prstGeom prst="roundRect">
            <a:avLst>
              <a:gd name="adj" fmla="val 10000"/>
            </a:avLst>
          </a:prstGeom>
          <a:solidFill>
            <a:srgbClr val="FFFFFF"/>
          </a:solidFill>
          <a:ln w="9525">
            <a:solidFill>
              <a:srgbClr val="E6E0F0"/>
            </a:solidFill>
            <a:prstDash val="solid"/>
          </a:ln>
        </p:spPr>
      </p:sp>
      <p:sp>
        <p:nvSpPr>
          <p:cNvPr id="8" name="Text 6"/>
          <p:cNvSpPr txBox="1"/>
          <p:nvPr/>
        </p:nvSpPr>
        <p:spPr>
          <a:xfrm>
            <a:off x="2999232" y="1600200"/>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MISSING_TRANSACTION_ID</a:t>
            </a:r>
            <a:endParaRPr lang="en-US" sz="1000" dirty="0"/>
          </a:p>
        </p:txBody>
      </p:sp>
      <p:sp>
        <p:nvSpPr>
          <p:cNvPr id="9" name="rule-chip"/>
          <p:cNvSpPr/>
          <p:nvPr/>
        </p:nvSpPr>
        <p:spPr>
          <a:xfrm>
            <a:off x="640080" y="2167128"/>
            <a:ext cx="2194560" cy="457200"/>
          </a:xfrm>
          <a:prstGeom prst="roundRect">
            <a:avLst>
              <a:gd name="adj" fmla="val 10000"/>
            </a:avLst>
          </a:prstGeom>
          <a:solidFill>
            <a:srgbClr val="FFFFFF"/>
          </a:solidFill>
          <a:ln w="9525">
            <a:solidFill>
              <a:srgbClr val="E6E0F0"/>
            </a:solidFill>
            <a:prstDash val="solid"/>
          </a:ln>
        </p:spPr>
      </p:sp>
      <p:sp>
        <p:nvSpPr>
          <p:cNvPr id="10" name="Text 8"/>
          <p:cNvSpPr txBox="1"/>
          <p:nvPr/>
        </p:nvSpPr>
        <p:spPr>
          <a:xfrm>
            <a:off x="713232" y="2167128"/>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MISSING_USER_ID</a:t>
            </a:r>
            <a:endParaRPr lang="en-US" sz="1000" dirty="0"/>
          </a:p>
        </p:txBody>
      </p:sp>
      <p:sp>
        <p:nvSpPr>
          <p:cNvPr id="11" name="rule-chip"/>
          <p:cNvSpPr/>
          <p:nvPr/>
        </p:nvSpPr>
        <p:spPr>
          <a:xfrm>
            <a:off x="2926080" y="2167128"/>
            <a:ext cx="2194560" cy="457200"/>
          </a:xfrm>
          <a:prstGeom prst="roundRect">
            <a:avLst>
              <a:gd name="adj" fmla="val 10000"/>
            </a:avLst>
          </a:prstGeom>
          <a:solidFill>
            <a:srgbClr val="FFFFFF"/>
          </a:solidFill>
          <a:ln w="9525">
            <a:solidFill>
              <a:srgbClr val="E6E0F0"/>
            </a:solidFill>
            <a:prstDash val="solid"/>
          </a:ln>
        </p:spPr>
      </p:sp>
      <p:sp>
        <p:nvSpPr>
          <p:cNvPr id="12" name="Text 10"/>
          <p:cNvSpPr txBox="1"/>
          <p:nvPr/>
        </p:nvSpPr>
        <p:spPr>
          <a:xfrm>
            <a:off x="2999232" y="2167128"/>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MISSING_EVENT_TIMESTAMP</a:t>
            </a:r>
            <a:endParaRPr lang="en-US" sz="1000" dirty="0"/>
          </a:p>
        </p:txBody>
      </p:sp>
      <p:sp>
        <p:nvSpPr>
          <p:cNvPr id="13" name="rule-chip"/>
          <p:cNvSpPr/>
          <p:nvPr/>
        </p:nvSpPr>
        <p:spPr>
          <a:xfrm>
            <a:off x="640080" y="2734056"/>
            <a:ext cx="2194560" cy="457200"/>
          </a:xfrm>
          <a:prstGeom prst="roundRect">
            <a:avLst>
              <a:gd name="adj" fmla="val 10000"/>
            </a:avLst>
          </a:prstGeom>
          <a:solidFill>
            <a:srgbClr val="FFFFFF"/>
          </a:solidFill>
          <a:ln w="9525">
            <a:solidFill>
              <a:srgbClr val="E6E0F0"/>
            </a:solidFill>
            <a:prstDash val="solid"/>
          </a:ln>
        </p:spPr>
      </p:sp>
      <p:sp>
        <p:nvSpPr>
          <p:cNvPr id="14" name="Text 12"/>
          <p:cNvSpPr txBox="1"/>
          <p:nvPr/>
        </p:nvSpPr>
        <p:spPr>
          <a:xfrm>
            <a:off x="713232" y="2734056"/>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MISSING_AMOUNT / NAN_AMOUNT</a:t>
            </a:r>
            <a:endParaRPr lang="en-US" sz="1000" dirty="0"/>
          </a:p>
        </p:txBody>
      </p:sp>
      <p:sp>
        <p:nvSpPr>
          <p:cNvPr id="15" name="rule-chip"/>
          <p:cNvSpPr/>
          <p:nvPr/>
        </p:nvSpPr>
        <p:spPr>
          <a:xfrm>
            <a:off x="2926080" y="2734056"/>
            <a:ext cx="2194560" cy="457200"/>
          </a:xfrm>
          <a:prstGeom prst="roundRect">
            <a:avLst>
              <a:gd name="adj" fmla="val 10000"/>
            </a:avLst>
          </a:prstGeom>
          <a:solidFill>
            <a:srgbClr val="FFFFFF"/>
          </a:solidFill>
          <a:ln w="9525">
            <a:solidFill>
              <a:srgbClr val="E6E0F0"/>
            </a:solidFill>
            <a:prstDash val="solid"/>
          </a:ln>
        </p:spPr>
      </p:sp>
      <p:sp>
        <p:nvSpPr>
          <p:cNvPr id="16" name="Text 14"/>
          <p:cNvSpPr txBox="1"/>
          <p:nvPr/>
        </p:nvSpPr>
        <p:spPr>
          <a:xfrm>
            <a:off x="2999232" y="2734056"/>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NON_POSITIVE_AMOUNT</a:t>
            </a:r>
            <a:endParaRPr lang="en-US" sz="1000" dirty="0"/>
          </a:p>
        </p:txBody>
      </p:sp>
      <p:sp>
        <p:nvSpPr>
          <p:cNvPr id="17" name="rule-chip"/>
          <p:cNvSpPr/>
          <p:nvPr/>
        </p:nvSpPr>
        <p:spPr>
          <a:xfrm>
            <a:off x="640080" y="3300984"/>
            <a:ext cx="2194560" cy="457200"/>
          </a:xfrm>
          <a:prstGeom prst="roundRect">
            <a:avLst>
              <a:gd name="adj" fmla="val 10000"/>
            </a:avLst>
          </a:prstGeom>
          <a:solidFill>
            <a:srgbClr val="FFFFFF"/>
          </a:solidFill>
          <a:ln w="9525">
            <a:solidFill>
              <a:srgbClr val="E6E0F0"/>
            </a:solidFill>
            <a:prstDash val="solid"/>
          </a:ln>
        </p:spPr>
      </p:sp>
      <p:sp>
        <p:nvSpPr>
          <p:cNvPr id="18" name="Text 16"/>
          <p:cNvSpPr txBox="1"/>
          <p:nvPr/>
        </p:nvSpPr>
        <p:spPr>
          <a:xfrm>
            <a:off x="713232" y="3300984"/>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EXCESSIVE_AMOUNT (&gt; 1,000,000)</a:t>
            </a:r>
            <a:endParaRPr lang="en-US" sz="1000" dirty="0"/>
          </a:p>
        </p:txBody>
      </p:sp>
      <p:sp>
        <p:nvSpPr>
          <p:cNvPr id="19" name="rule-chip"/>
          <p:cNvSpPr/>
          <p:nvPr/>
        </p:nvSpPr>
        <p:spPr>
          <a:xfrm>
            <a:off x="2926080" y="3300984"/>
            <a:ext cx="2194560" cy="457200"/>
          </a:xfrm>
          <a:prstGeom prst="roundRect">
            <a:avLst>
              <a:gd name="adj" fmla="val 10000"/>
            </a:avLst>
          </a:prstGeom>
          <a:solidFill>
            <a:srgbClr val="FFFFFF"/>
          </a:solidFill>
          <a:ln w="9525">
            <a:solidFill>
              <a:srgbClr val="E6E0F0"/>
            </a:solidFill>
            <a:prstDash val="solid"/>
          </a:ln>
        </p:spPr>
      </p:sp>
      <p:sp>
        <p:nvSpPr>
          <p:cNvPr id="20" name="Text 18"/>
          <p:cNvSpPr txBox="1"/>
          <p:nvPr/>
        </p:nvSpPr>
        <p:spPr>
          <a:xfrm>
            <a:off x="2999232" y="3300984"/>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MISSING_MERCHANT_CATEGORY</a:t>
            </a:r>
            <a:endParaRPr lang="en-US" sz="1000" dirty="0"/>
          </a:p>
        </p:txBody>
      </p:sp>
      <p:sp>
        <p:nvSpPr>
          <p:cNvPr id="21" name="rule-chip"/>
          <p:cNvSpPr/>
          <p:nvPr/>
        </p:nvSpPr>
        <p:spPr>
          <a:xfrm>
            <a:off x="640080" y="3867912"/>
            <a:ext cx="2194560" cy="457200"/>
          </a:xfrm>
          <a:prstGeom prst="roundRect">
            <a:avLst>
              <a:gd name="adj" fmla="val 10000"/>
            </a:avLst>
          </a:prstGeom>
          <a:solidFill>
            <a:srgbClr val="FFFFFF"/>
          </a:solidFill>
          <a:ln w="9525">
            <a:solidFill>
              <a:srgbClr val="E6E0F0"/>
            </a:solidFill>
            <a:prstDash val="solid"/>
          </a:ln>
        </p:spPr>
      </p:sp>
      <p:sp>
        <p:nvSpPr>
          <p:cNvPr id="22" name="Text 20"/>
          <p:cNvSpPr txBox="1"/>
          <p:nvPr/>
        </p:nvSpPr>
        <p:spPr>
          <a:xfrm>
            <a:off x="713232" y="3867912"/>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MISSING_DEVICE_ID</a:t>
            </a:r>
            <a:endParaRPr lang="en-US" sz="1000" dirty="0"/>
          </a:p>
        </p:txBody>
      </p:sp>
      <p:sp>
        <p:nvSpPr>
          <p:cNvPr id="23" name="rule-chip"/>
          <p:cNvSpPr/>
          <p:nvPr/>
        </p:nvSpPr>
        <p:spPr>
          <a:xfrm>
            <a:off x="2926080" y="3867912"/>
            <a:ext cx="2194560" cy="457200"/>
          </a:xfrm>
          <a:prstGeom prst="roundRect">
            <a:avLst>
              <a:gd name="adj" fmla="val 10000"/>
            </a:avLst>
          </a:prstGeom>
          <a:solidFill>
            <a:srgbClr val="FFFFFF"/>
          </a:solidFill>
          <a:ln w="9525">
            <a:solidFill>
              <a:srgbClr val="E6E0F0"/>
            </a:solidFill>
            <a:prstDash val="solid"/>
          </a:ln>
        </p:spPr>
      </p:sp>
      <p:sp>
        <p:nvSpPr>
          <p:cNvPr id="24" name="Text 22"/>
          <p:cNvSpPr txBox="1"/>
          <p:nvPr/>
        </p:nvSpPr>
        <p:spPr>
          <a:xfrm>
            <a:off x="2999232" y="3867912"/>
            <a:ext cx="2057400" cy="457200"/>
          </a:xfrm>
          <a:prstGeom prst="rect">
            <a:avLst/>
          </a:prstGeom>
          <a:noFill/>
          <a:ln/>
        </p:spPr>
        <p:txBody>
          <a:bodyPr wrap="square" lIns="0" tIns="0" rIns="0" bIns="0" rtlCol="0" anchor="ctr"/>
          <a:lstStyle/>
          <a:p>
            <a:pPr indent="0" marL="0">
              <a:buNone/>
            </a:pPr>
            <a:r>
              <a:rPr lang="en-US" sz="1000" b="1" dirty="0">
                <a:solidFill>
                  <a:srgbClr val="1E1230"/>
                </a:solidFill>
                <a:latin typeface="Calibri" pitchFamily="34" charset="0"/>
                <a:ea typeface="Calibri" pitchFamily="34" charset="-122"/>
                <a:cs typeface="Calibri" pitchFamily="34" charset="-120"/>
              </a:rPr>
              <a:t>TIMESTAMP &gt; 5 min in future</a:t>
            </a:r>
            <a:endParaRPr lang="en-US" sz="1000" dirty="0"/>
          </a:p>
        </p:txBody>
      </p:sp>
      <p:sp>
        <p:nvSpPr>
          <p:cNvPr id="25" name="card"/>
          <p:cNvSpPr/>
          <p:nvPr/>
        </p:nvSpPr>
        <p:spPr>
          <a:xfrm>
            <a:off x="5486400" y="1097280"/>
            <a:ext cx="3200400" cy="1600200"/>
          </a:xfrm>
          <a:prstGeom prst="roundRect">
            <a:avLst>
              <a:gd name="adj" fmla="val 3429"/>
            </a:avLst>
          </a:prstGeom>
          <a:solidFill>
            <a:srgbClr val="4B2A6E"/>
          </a:solidFill>
          <a:ln w="12700">
            <a:solidFill>
              <a:srgbClr val="4B2A6E"/>
            </a:solidFill>
            <a:prstDash val="solid"/>
          </a:ln>
        </p:spPr>
      </p:sp>
      <p:sp>
        <p:nvSpPr>
          <p:cNvPr id="26" name="Text 24"/>
          <p:cNvSpPr txBox="1"/>
          <p:nvPr/>
        </p:nvSpPr>
        <p:spPr>
          <a:xfrm>
            <a:off x="5669280" y="1188720"/>
            <a:ext cx="2834640" cy="27432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Valid → Silver</a:t>
            </a:r>
            <a:endParaRPr lang="en-US" sz="1400" dirty="0"/>
          </a:p>
        </p:txBody>
      </p:sp>
      <p:sp>
        <p:nvSpPr>
          <p:cNvPr id="27" name="Text 25"/>
          <p:cNvSpPr txBox="1"/>
          <p:nvPr/>
        </p:nvSpPr>
        <p:spPr>
          <a:xfrm>
            <a:off x="5669280" y="1554480"/>
            <a:ext cx="2834640" cy="10972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Watermark 5 min + dropDuplicatesWithinWatermark on transaction_id bounds dedupe memory.</a:t>
            </a:r>
            <a:endParaRPr lang="en-US" sz="1150" dirty="0"/>
          </a:p>
        </p:txBody>
      </p:sp>
      <p:sp>
        <p:nvSpPr>
          <p:cNvPr id="28" name="card"/>
          <p:cNvSpPr/>
          <p:nvPr/>
        </p:nvSpPr>
        <p:spPr>
          <a:xfrm>
            <a:off x="5486400" y="2880360"/>
            <a:ext cx="3200400" cy="1645920"/>
          </a:xfrm>
          <a:prstGeom prst="roundRect">
            <a:avLst>
              <a:gd name="adj" fmla="val 3333"/>
            </a:avLst>
          </a:prstGeom>
          <a:solidFill>
            <a:srgbClr val="F6F2FB"/>
          </a:solidFill>
          <a:ln w="12700">
            <a:solidFill>
              <a:srgbClr val="F6F2FB"/>
            </a:solidFill>
            <a:prstDash val="solid"/>
          </a:ln>
        </p:spPr>
      </p:sp>
      <p:sp>
        <p:nvSpPr>
          <p:cNvPr id="29" name="Text 27"/>
          <p:cNvSpPr txBox="1"/>
          <p:nvPr/>
        </p:nvSpPr>
        <p:spPr>
          <a:xfrm>
            <a:off x="5669280" y="2971800"/>
            <a:ext cx="2834640" cy="274320"/>
          </a:xfrm>
          <a:prstGeom prst="rect">
            <a:avLst/>
          </a:prstGeom>
          <a:noFill/>
          <a:ln/>
        </p:spPr>
        <p:txBody>
          <a:bodyPr wrap="square" lIns="0" tIns="0" rIns="0" bIns="0" rtlCol="0" anchor="t"/>
          <a:lstStyle/>
          <a:p>
            <a:pPr indent="0" marL="0">
              <a:buNone/>
            </a:pPr>
            <a:r>
              <a:rPr lang="en-US" sz="1400" b="1" dirty="0">
                <a:solidFill>
                  <a:srgbClr val="D6336C"/>
                </a:solidFill>
                <a:latin typeface="Cambria" pitchFamily="34" charset="0"/>
                <a:ea typeface="Cambria" pitchFamily="34" charset="-122"/>
                <a:cs typeface="Cambria" pitchFamily="34" charset="-120"/>
              </a:rPr>
              <a:t>Invalid → Quarantine</a:t>
            </a:r>
            <a:endParaRPr lang="en-US" sz="1400" dirty="0"/>
          </a:p>
        </p:txBody>
      </p:sp>
      <p:sp>
        <p:nvSpPr>
          <p:cNvPr id="30" name="Text 28"/>
          <p:cNvSpPr txBox="1"/>
          <p:nvPr/>
        </p:nvSpPr>
        <p:spPr>
          <a:xfrm>
            <a:off x="5669280" y="3337560"/>
            <a:ext cx="2834640" cy="1143000"/>
          </a:xfrm>
          <a:prstGeom prst="rect">
            <a:avLst/>
          </a:prstGeom>
          <a:noFill/>
          <a:ln/>
        </p:spPr>
        <p:txBody>
          <a:bodyPr wrap="square" lIns="0" tIns="0" rIns="0" bIns="0" rtlCol="0" anchor="t"/>
          <a:lstStyle/>
          <a:p>
            <a:pPr indent="0" marL="0">
              <a:buNone/>
            </a:pPr>
            <a:r>
              <a:rPr lang="en-US" sz="1150" dirty="0">
                <a:solidFill>
                  <a:srgbClr val="6E6A80"/>
                </a:solidFill>
                <a:latin typeface="Calibri" pitchFamily="34" charset="0"/>
                <a:ea typeface="Calibri" pitchFamily="34" charset="-122"/>
                <a:cs typeface="Calibri" pitchFamily="34" charset="-120"/>
              </a:rPr>
              <a:t>Kept with Kafka lineage and reasons. Suspicious but valid transactions (e.g. a large purchase) continue to the fraud engine.</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Behavioural feature engineering</a:t>
            </a:r>
            <a:endParaRPr lang="en-US" sz="2600" dirty="0"/>
          </a:p>
        </p:txBody>
      </p:sp>
      <p:sp>
        <p:nvSpPr>
          <p:cNvPr id="3" name="card"/>
          <p:cNvSpPr/>
          <p:nvPr/>
        </p:nvSpPr>
        <p:spPr>
          <a:xfrm>
            <a:off x="457200" y="1097280"/>
            <a:ext cx="4023360" cy="2103120"/>
          </a:xfrm>
          <a:prstGeom prst="roundRect">
            <a:avLst>
              <a:gd name="adj" fmla="val 2609"/>
            </a:avLst>
          </a:prstGeom>
          <a:solidFill>
            <a:srgbClr val="F6F2FB"/>
          </a:solidFill>
          <a:ln w="12700">
            <a:solidFill>
              <a:srgbClr val="F6F2FB"/>
            </a:solidFill>
            <a:prstDash val="solid"/>
          </a:ln>
        </p:spPr>
      </p:sp>
      <p:sp>
        <p:nvSpPr>
          <p:cNvPr id="4" name="Text 2"/>
          <p:cNvSpPr txBox="1"/>
          <p:nvPr/>
        </p:nvSpPr>
        <p:spPr>
          <a:xfrm>
            <a:off x="640080" y="1188720"/>
            <a:ext cx="3657600" cy="274320"/>
          </a:xfrm>
          <a:prstGeom prst="rect">
            <a:avLst/>
          </a:prstGeom>
          <a:noFill/>
          <a:ln/>
        </p:spPr>
        <p:txBody>
          <a:bodyPr wrap="square" lIns="0" tIns="0" rIns="0" bIns="0" rtlCol="0" anchor="t"/>
          <a:lstStyle/>
          <a:p>
            <a:pPr indent="0" marL="0">
              <a:buNone/>
            </a:pPr>
            <a:r>
              <a:rPr lang="en-US" sz="1400" b="1" dirty="0">
                <a:solidFill>
                  <a:srgbClr val="4B2A6E"/>
                </a:solidFill>
                <a:latin typeface="Cambria" pitchFamily="34" charset="0"/>
                <a:ea typeface="Cambria" pitchFamily="34" charset="-122"/>
                <a:cs typeface="Cambria" pitchFamily="34" charset="-120"/>
              </a:rPr>
              <a:t>Sliding window (per user)</a:t>
            </a:r>
            <a:endParaRPr lang="en-US" sz="1400" dirty="0"/>
          </a:p>
        </p:txBody>
      </p:sp>
      <p:sp>
        <p:nvSpPr>
          <p:cNvPr id="5" name="Text 3"/>
          <p:cNvSpPr txBox="1"/>
          <p:nvPr/>
        </p:nvSpPr>
        <p:spPr>
          <a:xfrm>
            <a:off x="640080" y="1554480"/>
            <a:ext cx="3657600" cy="1600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10-minute window, 2-minute slide, 5-minute watermark</a:t>
            </a:r>
            <a:endParaRPr lang="en-US" sz="1150" dirty="0"/>
          </a:p>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Count, total, average, max, std of amount</a:t>
            </a:r>
            <a:endParaRPr lang="en-US" sz="1150" dirty="0"/>
          </a:p>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Transactions and spend per minute</a:t>
            </a:r>
            <a:endParaRPr lang="en-US" sz="1150" dirty="0"/>
          </a:p>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Unique devices and merchant categories</a:t>
            </a:r>
            <a:endParaRPr lang="en-US" sz="1150" dirty="0"/>
          </a:p>
        </p:txBody>
      </p:sp>
      <p:sp>
        <p:nvSpPr>
          <p:cNvPr id="6" name="card"/>
          <p:cNvSpPr/>
          <p:nvPr/>
        </p:nvSpPr>
        <p:spPr>
          <a:xfrm>
            <a:off x="4663440" y="1097280"/>
            <a:ext cx="4023360" cy="2103120"/>
          </a:xfrm>
          <a:prstGeom prst="roundRect">
            <a:avLst>
              <a:gd name="adj" fmla="val 2609"/>
            </a:avLst>
          </a:prstGeom>
          <a:solidFill>
            <a:srgbClr val="F6F2FB"/>
          </a:solidFill>
          <a:ln w="12700">
            <a:solidFill>
              <a:srgbClr val="F6F2FB"/>
            </a:solidFill>
            <a:prstDash val="solid"/>
          </a:ln>
        </p:spPr>
      </p:sp>
      <p:sp>
        <p:nvSpPr>
          <p:cNvPr id="7" name="Text 5"/>
          <p:cNvSpPr txBox="1"/>
          <p:nvPr/>
        </p:nvSpPr>
        <p:spPr>
          <a:xfrm>
            <a:off x="4846320" y="1188720"/>
            <a:ext cx="3657600" cy="274320"/>
          </a:xfrm>
          <a:prstGeom prst="rect">
            <a:avLst/>
          </a:prstGeom>
          <a:noFill/>
          <a:ln/>
        </p:spPr>
        <p:txBody>
          <a:bodyPr wrap="square" lIns="0" tIns="0" rIns="0" bIns="0" rtlCol="0" anchor="t"/>
          <a:lstStyle/>
          <a:p>
            <a:pPr indent="0" marL="0">
              <a:buNone/>
            </a:pPr>
            <a:r>
              <a:rPr lang="en-US" sz="1400" b="1" dirty="0">
                <a:solidFill>
                  <a:srgbClr val="4B2A6E"/>
                </a:solidFill>
                <a:latin typeface="Cambria" pitchFamily="34" charset="0"/>
                <a:ea typeface="Cambria" pitchFamily="34" charset="-122"/>
                <a:cs typeface="Cambria" pitchFamily="34" charset="-120"/>
              </a:rPr>
              <a:t>Persistent user state</a:t>
            </a:r>
            <a:endParaRPr lang="en-US" sz="1400" dirty="0"/>
          </a:p>
        </p:txBody>
      </p:sp>
      <p:sp>
        <p:nvSpPr>
          <p:cNvPr id="8" name="Text 6"/>
          <p:cNvSpPr txBox="1"/>
          <p:nvPr/>
        </p:nvSpPr>
        <p:spPr>
          <a:xfrm>
            <a:off x="4846320" y="1554480"/>
            <a:ext cx="3657600" cy="1600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applyInPandasWithState, one record per user</a:t>
            </a:r>
            <a:endParaRPr lang="en-US" sz="1150" dirty="0"/>
          </a:p>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Count, mean, variance, last time, last device</a:t>
            </a:r>
            <a:endParaRPr lang="en-US" sz="1150" dirty="0"/>
          </a:p>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Historical z-score and amount ratio</a:t>
            </a:r>
            <a:endParaRPr lang="en-US" sz="1150" dirty="0"/>
          </a:p>
          <a:p>
            <a:pPr marL="342900" indent="-342900">
              <a:spcAft>
                <a:spcPts val="400"/>
              </a:spcAft>
              <a:buSzPct val="100000"/>
              <a:buChar char="•"/>
            </a:pPr>
            <a:r>
              <a:rPr lang="en-US" sz="1150" dirty="0">
                <a:solidFill>
                  <a:srgbClr val="6E6A80"/>
                </a:solidFill>
                <a:latin typeface="Calibri" pitchFamily="34" charset="0"/>
                <a:ea typeface="Calibri" pitchFamily="34" charset="-122"/>
                <a:cs typeface="Calibri" pitchFamily="34" charset="-120"/>
              </a:rPr>
              <a:t>Inactivity timeout 30 min (default)</a:t>
            </a:r>
            <a:endParaRPr lang="en-US" sz="1150" dirty="0"/>
          </a:p>
        </p:txBody>
      </p:sp>
      <p:sp>
        <p:nvSpPr>
          <p:cNvPr id="9" name="card"/>
          <p:cNvSpPr/>
          <p:nvPr/>
        </p:nvSpPr>
        <p:spPr>
          <a:xfrm>
            <a:off x="457200" y="3383280"/>
            <a:ext cx="8229600" cy="1143000"/>
          </a:xfrm>
          <a:prstGeom prst="roundRect">
            <a:avLst>
              <a:gd name="adj" fmla="val 4800"/>
            </a:avLst>
          </a:prstGeom>
          <a:solidFill>
            <a:srgbClr val="4B2A6E"/>
          </a:solidFill>
          <a:ln w="12700">
            <a:solidFill>
              <a:srgbClr val="4B2A6E"/>
            </a:solidFill>
            <a:prstDash val="solid"/>
          </a:ln>
        </p:spPr>
      </p:sp>
      <p:sp>
        <p:nvSpPr>
          <p:cNvPr id="10" name="Text 8"/>
          <p:cNvSpPr txBox="1"/>
          <p:nvPr/>
        </p:nvSpPr>
        <p:spPr>
          <a:xfrm>
            <a:off x="685800" y="3474720"/>
            <a:ext cx="4572000" cy="274320"/>
          </a:xfrm>
          <a:prstGeom prst="rect">
            <a:avLst/>
          </a:prstGeom>
          <a:noFill/>
          <a:ln/>
        </p:spPr>
        <p:txBody>
          <a:bodyPr wrap="square" lIns="0" tIns="0" rIns="0" bIns="0" rtlCol="0" anchor="t"/>
          <a:lstStyle/>
          <a:p>
            <a:pPr indent="0" marL="0">
              <a:buNone/>
            </a:pPr>
            <a:r>
              <a:rPr lang="en-US" sz="1300" b="1" dirty="0">
                <a:solidFill>
                  <a:srgbClr val="D9C8F5"/>
                </a:solidFill>
                <a:latin typeface="Cambria" pitchFamily="34" charset="0"/>
                <a:ea typeface="Cambria" pitchFamily="34" charset="-122"/>
                <a:cs typeface="Cambria" pitchFamily="34" charset="-120"/>
              </a:rPr>
              <a:t>Welford online update (O(1) memory)</a:t>
            </a:r>
            <a:endParaRPr lang="en-US" sz="1300" dirty="0"/>
          </a:p>
        </p:txBody>
      </p:sp>
      <p:sp>
        <p:nvSpPr>
          <p:cNvPr id="11" name="Text 9"/>
          <p:cNvSpPr txBox="1"/>
          <p:nvPr/>
        </p:nvSpPr>
        <p:spPr>
          <a:xfrm>
            <a:off x="685800" y="3794760"/>
            <a:ext cx="7772400" cy="320040"/>
          </a:xfrm>
          <a:prstGeom prst="rect">
            <a:avLst/>
          </a:prstGeom>
          <a:noFill/>
          <a:ln/>
        </p:spPr>
        <p:txBody>
          <a:bodyPr wrap="square" lIns="0" tIns="0" rIns="0" bIns="0" rtlCol="0" anchor="t"/>
          <a:lstStyle/>
          <a:p>
            <a:pPr indent="0" marL="0">
              <a:buNone/>
            </a:pPr>
            <a:r>
              <a:rPr lang="en-US" sz="1600" b="1" i="1" dirty="0">
                <a:solidFill>
                  <a:srgbClr val="FFFFFF"/>
                </a:solidFill>
                <a:latin typeface="Cambria" pitchFamily="34" charset="0"/>
                <a:ea typeface="Cambria" pitchFamily="34" charset="-122"/>
                <a:cs typeface="Cambria" pitchFamily="34" charset="-120"/>
              </a:rPr>
              <a:t>n ← n + 1;   δ ← x − μ;   μ ← μ + δ / n;   M2 ← M2 + δ (x − μ);   s² = M2 / (n − 1)</a:t>
            </a:r>
            <a:endParaRPr lang="en-US" sz="1600" dirty="0"/>
          </a:p>
        </p:txBody>
      </p:sp>
      <p:sp>
        <p:nvSpPr>
          <p:cNvPr id="12" name="Text 10"/>
          <p:cNvSpPr txBox="1"/>
          <p:nvPr/>
        </p:nvSpPr>
        <p:spPr>
          <a:xfrm>
            <a:off x="685800" y="4160520"/>
            <a:ext cx="7772400" cy="3200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History is read before the current transaction updates the state, so a transaction never influences its own baseline.</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Rule engine: weighted fraud signals</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486400" cy="914400"/>
        </p:xfrm>
        <a:graphic>
          <a:graphicData uri="http://schemas.openxmlformats.org/drawingml/2006/table">
            <a:tbl>
              <a:tblPr/>
              <a:tblGrid>
                <a:gridCol w="2194560"/>
                <a:gridCol w="731520"/>
                <a:gridCol w="25603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Default trigger</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Historical amount anomaly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Amount abnormal versus user history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Extreme z-score</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z-score ≥ 3.0</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High amount ratio</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Amount ÷ historical mean ≥ 3.0</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High velocity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 5 transactions in 10 minutes</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Device change + high amount</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Device changed and ratio ≥ 2.0</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Multi-device activity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Several devices in window</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High merchant diversity</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Diversity ratio ≥ 0.80</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Rapid repeat</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ctr" indent="0" marL="0">
                        <a:buNone/>
                      </a:pPr>
                      <a:r>
                        <a:rPr lang="en-US" sz="1100" b="1" dirty="0">
                          <a:solidFill>
                            <a:srgbClr val="1E12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algn="l" indent="0" marL="0">
                        <a:buNone/>
                      </a:pPr>
                      <a:r>
                        <a:rPr lang="en-US" sz="1100" dirty="0">
                          <a:solidFill>
                            <a:srgbClr val="1E1230"/>
                          </a:solidFill>
                          <a:latin typeface="Calibri" pitchFamily="34" charset="0"/>
                          <a:ea typeface="Calibri" pitchFamily="34" charset="-122"/>
                          <a:cs typeface="Calibri" pitchFamily="34" charset="-120"/>
                        </a:rPr>
                        <a:t>Rapid repeat transactions</a:t>
                      </a:r>
                      <a:endParaRPr lang="en-US" sz="1100" dirty="0">
                        <a:latin typeface="Calibri" charset="0"/>
                        <a:ea typeface="Calibri" charset="0"/>
                        <a:cs typeface="Calibri" charset="0"/>
                      </a:endParaRPr>
                    </a:p>
                  </a:txBody>
                  <a:tcPr marL="73152" marR="73152"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bl>
          </a:graphicData>
        </a:graphic>
      </p:graphicFrame>
      <p:sp>
        <p:nvSpPr>
          <p:cNvPr id="4" name="card"/>
          <p:cNvSpPr/>
          <p:nvPr/>
        </p:nvSpPr>
        <p:spPr>
          <a:xfrm>
            <a:off x="6172200" y="1097280"/>
            <a:ext cx="2514600" cy="1554480"/>
          </a:xfrm>
          <a:prstGeom prst="roundRect">
            <a:avLst>
              <a:gd name="adj" fmla="val 3529"/>
            </a:avLst>
          </a:prstGeom>
          <a:solidFill>
            <a:srgbClr val="4B2A6E"/>
          </a:solidFill>
          <a:ln w="12700">
            <a:solidFill>
              <a:srgbClr val="4B2A6E"/>
            </a:solidFill>
            <a:prstDash val="solid"/>
          </a:ln>
        </p:spPr>
      </p:sp>
      <p:sp>
        <p:nvSpPr>
          <p:cNvPr id="5" name="Text 2"/>
          <p:cNvSpPr txBox="1"/>
          <p:nvPr/>
        </p:nvSpPr>
        <p:spPr>
          <a:xfrm>
            <a:off x="6172200" y="1188720"/>
            <a:ext cx="2514600" cy="73152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14</a:t>
            </a:r>
            <a:endParaRPr lang="en-US" sz="4400" dirty="0"/>
          </a:p>
        </p:txBody>
      </p:sp>
      <p:sp>
        <p:nvSpPr>
          <p:cNvPr id="6" name="Text 3"/>
          <p:cNvSpPr txBox="1"/>
          <p:nvPr/>
        </p:nvSpPr>
        <p:spPr>
          <a:xfrm>
            <a:off x="6172200" y="1965960"/>
            <a:ext cx="2514600" cy="274320"/>
          </a:xfrm>
          <a:prstGeom prst="rect">
            <a:avLst/>
          </a:prstGeom>
          <a:noFill/>
          <a:ln/>
        </p:spPr>
        <p:txBody>
          <a:bodyPr wrap="square" lIns="0" tIns="0" rIns="0" bIns="0" rtlCol="0" anchor="t"/>
          <a:lstStyle/>
          <a:p>
            <a:pPr algn="ctr" indent="0" marL="0">
              <a:buNone/>
            </a:pPr>
            <a:r>
              <a:rPr lang="en-US" sz="1200" dirty="0">
                <a:solidFill>
                  <a:srgbClr val="D9C8F5"/>
                </a:solidFill>
                <a:latin typeface="Calibri" pitchFamily="34" charset="0"/>
                <a:ea typeface="Calibri" pitchFamily="34" charset="-122"/>
                <a:cs typeface="Calibri" pitchFamily="34" charset="-120"/>
              </a:rPr>
              <a:t>maximum rule score</a:t>
            </a:r>
            <a:endParaRPr lang="en-US" sz="1200" dirty="0"/>
          </a:p>
        </p:txBody>
      </p:sp>
      <p:sp>
        <p:nvSpPr>
          <p:cNvPr id="7" name="card"/>
          <p:cNvSpPr/>
          <p:nvPr/>
        </p:nvSpPr>
        <p:spPr>
          <a:xfrm>
            <a:off x="6172200" y="2834640"/>
            <a:ext cx="2514600" cy="1554480"/>
          </a:xfrm>
          <a:prstGeom prst="roundRect">
            <a:avLst>
              <a:gd name="adj" fmla="val 3529"/>
            </a:avLst>
          </a:prstGeom>
          <a:solidFill>
            <a:srgbClr val="F6F2FB"/>
          </a:solidFill>
          <a:ln w="12700">
            <a:solidFill>
              <a:srgbClr val="F6F2FB"/>
            </a:solidFill>
            <a:prstDash val="solid"/>
          </a:ln>
        </p:spPr>
      </p:sp>
      <p:sp>
        <p:nvSpPr>
          <p:cNvPr id="8" name="Text 5"/>
          <p:cNvSpPr txBox="1"/>
          <p:nvPr/>
        </p:nvSpPr>
        <p:spPr>
          <a:xfrm>
            <a:off x="6309360" y="2926080"/>
            <a:ext cx="2286000" cy="274320"/>
          </a:xfrm>
          <a:prstGeom prst="rect">
            <a:avLst/>
          </a:prstGeom>
          <a:noFill/>
          <a:ln/>
        </p:spPr>
        <p:txBody>
          <a:bodyPr wrap="square" lIns="0" tIns="0" rIns="0" bIns="0" rtlCol="0" anchor="t"/>
          <a:lstStyle/>
          <a:p>
            <a:pPr indent="0" marL="0">
              <a:buNone/>
            </a:pPr>
            <a:r>
              <a:rPr lang="en-US" sz="1300" b="1" dirty="0">
                <a:solidFill>
                  <a:srgbClr val="4B2A6E"/>
                </a:solidFill>
                <a:latin typeface="Cambria" pitchFamily="34" charset="0"/>
                <a:ea typeface="Cambria" pitchFamily="34" charset="-122"/>
                <a:cs typeface="Cambria" pitchFamily="34" charset="-120"/>
              </a:rPr>
              <a:t>Rule flag at score ≥ 4</a:t>
            </a:r>
            <a:endParaRPr lang="en-US" sz="1300" dirty="0"/>
          </a:p>
        </p:txBody>
      </p:sp>
      <p:sp>
        <p:nvSpPr>
          <p:cNvPr id="9" name="Text 6"/>
          <p:cNvSpPr txBox="1"/>
          <p:nvPr/>
        </p:nvSpPr>
        <p:spPr>
          <a:xfrm>
            <a:off x="6309360" y="3291840"/>
            <a:ext cx="2286000" cy="1005840"/>
          </a:xfrm>
          <a:prstGeom prst="rect">
            <a:avLst/>
          </a:prstGeom>
          <a:noFill/>
          <a:ln/>
        </p:spPr>
        <p:txBody>
          <a:bodyPr wrap="square" lIns="0" tIns="0" rIns="0" bIns="0" rtlCol="0" anchor="t"/>
          <a:lstStyle/>
          <a:p>
            <a:pPr indent="0" marL="0">
              <a:buNone/>
            </a:pPr>
            <a:r>
              <a:rPr lang="en-US" sz="1150" dirty="0">
                <a:solidFill>
                  <a:srgbClr val="6E6A80"/>
                </a:solidFill>
                <a:latin typeface="Calibri" pitchFamily="34" charset="0"/>
                <a:ea typeface="Calibri" pitchFamily="34" charset="-122"/>
                <a:cs typeface="Calibri" pitchFamily="34" charset="-120"/>
              </a:rPr>
              <a:t>All thresholds are read from environment variables and can be tuned without code changes.</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Random Forest training pipeline</a:t>
            </a:r>
            <a:endParaRPr lang="en-US" sz="2600" dirty="0"/>
          </a:p>
        </p:txBody>
      </p:sp>
      <p:sp>
        <p:nvSpPr>
          <p:cNvPr id="3" name="pipeline-step"/>
          <p:cNvSpPr/>
          <p:nvPr/>
        </p:nvSpPr>
        <p:spPr>
          <a:xfrm>
            <a:off x="457200" y="1143000"/>
            <a:ext cx="1463040" cy="868680"/>
          </a:xfrm>
          <a:prstGeom prst="roundRect">
            <a:avLst>
              <a:gd name="adj" fmla="val 6316"/>
            </a:avLst>
          </a:prstGeom>
          <a:solidFill>
            <a:srgbClr val="4B2A6E"/>
          </a:solidFill>
          <a:ln w="12700">
            <a:solidFill>
              <a:srgbClr val="4B2A6E"/>
            </a:solidFill>
            <a:prstDash val="solid"/>
          </a:ln>
        </p:spPr>
      </p:sp>
      <p:sp>
        <p:nvSpPr>
          <p:cNvPr id="4" name="Text 2"/>
          <p:cNvSpPr txBox="1"/>
          <p:nvPr/>
        </p:nvSpPr>
        <p:spPr>
          <a:xfrm>
            <a:off x="457200" y="1207008"/>
            <a:ext cx="146304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Features</a:t>
            </a:r>
            <a:endParaRPr lang="en-US" sz="1300" dirty="0"/>
          </a:p>
        </p:txBody>
      </p:sp>
      <p:sp>
        <p:nvSpPr>
          <p:cNvPr id="5" name="Text 3"/>
          <p:cNvSpPr txBox="1"/>
          <p:nvPr/>
        </p:nvSpPr>
        <p:spPr>
          <a:xfrm>
            <a:off x="502920" y="1554480"/>
            <a:ext cx="1371600" cy="4114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20 numeric + 6 flags</a:t>
            </a:r>
            <a:endParaRPr lang="en-US" sz="1050" dirty="0"/>
          </a:p>
        </p:txBody>
      </p:sp>
      <p:sp>
        <p:nvSpPr>
          <p:cNvPr id="6" name="arrow"/>
          <p:cNvSpPr/>
          <p:nvPr/>
        </p:nvSpPr>
        <p:spPr>
          <a:xfrm>
            <a:off x="1920240" y="1481328"/>
            <a:ext cx="182880" cy="182880"/>
          </a:xfrm>
          <a:prstGeom prst="rightArrow">
            <a:avLst/>
          </a:prstGeom>
          <a:solidFill>
            <a:srgbClr val="6E6A80"/>
          </a:solidFill>
          <a:ln w="12700">
            <a:solidFill>
              <a:srgbClr val="6E6A80"/>
            </a:solidFill>
            <a:prstDash val="solid"/>
          </a:ln>
        </p:spPr>
      </p:sp>
      <p:sp>
        <p:nvSpPr>
          <p:cNvPr id="7" name="pipeline-step"/>
          <p:cNvSpPr/>
          <p:nvPr/>
        </p:nvSpPr>
        <p:spPr>
          <a:xfrm>
            <a:off x="2121408" y="1143000"/>
            <a:ext cx="1463040" cy="868680"/>
          </a:xfrm>
          <a:prstGeom prst="roundRect">
            <a:avLst>
              <a:gd name="adj" fmla="val 6316"/>
            </a:avLst>
          </a:prstGeom>
          <a:solidFill>
            <a:srgbClr val="8E5FD1"/>
          </a:solidFill>
          <a:ln w="12700">
            <a:solidFill>
              <a:srgbClr val="8E5FD1"/>
            </a:solidFill>
            <a:prstDash val="solid"/>
          </a:ln>
        </p:spPr>
      </p:sp>
      <p:sp>
        <p:nvSpPr>
          <p:cNvPr id="8" name="Text 6"/>
          <p:cNvSpPr txBox="1"/>
          <p:nvPr/>
        </p:nvSpPr>
        <p:spPr>
          <a:xfrm>
            <a:off x="2121408" y="1207008"/>
            <a:ext cx="146304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Imputer</a:t>
            </a:r>
            <a:endParaRPr lang="en-US" sz="1300" dirty="0"/>
          </a:p>
        </p:txBody>
      </p:sp>
      <p:sp>
        <p:nvSpPr>
          <p:cNvPr id="9" name="Text 7"/>
          <p:cNvSpPr txBox="1"/>
          <p:nvPr/>
        </p:nvSpPr>
        <p:spPr>
          <a:xfrm>
            <a:off x="2167128" y="1554480"/>
            <a:ext cx="1371600" cy="4114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Median</a:t>
            </a:r>
            <a:endParaRPr lang="en-US" sz="1050" dirty="0"/>
          </a:p>
        </p:txBody>
      </p:sp>
      <p:sp>
        <p:nvSpPr>
          <p:cNvPr id="10" name="arrow"/>
          <p:cNvSpPr/>
          <p:nvPr/>
        </p:nvSpPr>
        <p:spPr>
          <a:xfrm>
            <a:off x="3584448" y="1481328"/>
            <a:ext cx="182880" cy="182880"/>
          </a:xfrm>
          <a:prstGeom prst="rightArrow">
            <a:avLst/>
          </a:prstGeom>
          <a:solidFill>
            <a:srgbClr val="6E6A80"/>
          </a:solidFill>
          <a:ln w="12700">
            <a:solidFill>
              <a:srgbClr val="6E6A80"/>
            </a:solidFill>
            <a:prstDash val="solid"/>
          </a:ln>
        </p:spPr>
      </p:sp>
      <p:sp>
        <p:nvSpPr>
          <p:cNvPr id="11" name="pipeline-step"/>
          <p:cNvSpPr/>
          <p:nvPr/>
        </p:nvSpPr>
        <p:spPr>
          <a:xfrm>
            <a:off x="3785616" y="1143000"/>
            <a:ext cx="1463040" cy="868680"/>
          </a:xfrm>
          <a:prstGeom prst="roundRect">
            <a:avLst>
              <a:gd name="adj" fmla="val 6316"/>
            </a:avLst>
          </a:prstGeom>
          <a:solidFill>
            <a:srgbClr val="1F9D74"/>
          </a:solidFill>
          <a:ln w="12700">
            <a:solidFill>
              <a:srgbClr val="1F9D74"/>
            </a:solidFill>
            <a:prstDash val="solid"/>
          </a:ln>
        </p:spPr>
      </p:sp>
      <p:sp>
        <p:nvSpPr>
          <p:cNvPr id="12" name="Text 10"/>
          <p:cNvSpPr txBox="1"/>
          <p:nvPr/>
        </p:nvSpPr>
        <p:spPr>
          <a:xfrm>
            <a:off x="3785616" y="1207008"/>
            <a:ext cx="146304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Encode</a:t>
            </a:r>
            <a:endParaRPr lang="en-US" sz="1300" dirty="0"/>
          </a:p>
        </p:txBody>
      </p:sp>
      <p:sp>
        <p:nvSpPr>
          <p:cNvPr id="13" name="Text 11"/>
          <p:cNvSpPr txBox="1"/>
          <p:nvPr/>
        </p:nvSpPr>
        <p:spPr>
          <a:xfrm>
            <a:off x="3831336" y="1554480"/>
            <a:ext cx="1371600" cy="4114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Merchant one-hot</a:t>
            </a:r>
            <a:endParaRPr lang="en-US" sz="1050" dirty="0"/>
          </a:p>
        </p:txBody>
      </p:sp>
      <p:sp>
        <p:nvSpPr>
          <p:cNvPr id="14" name="arrow"/>
          <p:cNvSpPr/>
          <p:nvPr/>
        </p:nvSpPr>
        <p:spPr>
          <a:xfrm>
            <a:off x="5248656" y="1481328"/>
            <a:ext cx="182880" cy="182880"/>
          </a:xfrm>
          <a:prstGeom prst="rightArrow">
            <a:avLst/>
          </a:prstGeom>
          <a:solidFill>
            <a:srgbClr val="6E6A80"/>
          </a:solidFill>
          <a:ln w="12700">
            <a:solidFill>
              <a:srgbClr val="6E6A80"/>
            </a:solidFill>
            <a:prstDash val="solid"/>
          </a:ln>
        </p:spPr>
      </p:sp>
      <p:sp>
        <p:nvSpPr>
          <p:cNvPr id="15" name="pipeline-step"/>
          <p:cNvSpPr/>
          <p:nvPr/>
        </p:nvSpPr>
        <p:spPr>
          <a:xfrm>
            <a:off x="5449824" y="1143000"/>
            <a:ext cx="1463040" cy="868680"/>
          </a:xfrm>
          <a:prstGeom prst="roundRect">
            <a:avLst>
              <a:gd name="adj" fmla="val 6316"/>
            </a:avLst>
          </a:prstGeom>
          <a:solidFill>
            <a:srgbClr val="6E6A80"/>
          </a:solidFill>
          <a:ln w="12700">
            <a:solidFill>
              <a:srgbClr val="6E6A80"/>
            </a:solidFill>
            <a:prstDash val="solid"/>
          </a:ln>
        </p:spPr>
      </p:sp>
      <p:sp>
        <p:nvSpPr>
          <p:cNvPr id="16" name="Text 14"/>
          <p:cNvSpPr txBox="1"/>
          <p:nvPr/>
        </p:nvSpPr>
        <p:spPr>
          <a:xfrm>
            <a:off x="5449824" y="1207008"/>
            <a:ext cx="146304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Assemble</a:t>
            </a:r>
            <a:endParaRPr lang="en-US" sz="1300" dirty="0"/>
          </a:p>
        </p:txBody>
      </p:sp>
      <p:sp>
        <p:nvSpPr>
          <p:cNvPr id="17" name="Text 15"/>
          <p:cNvSpPr txBox="1"/>
          <p:nvPr/>
        </p:nvSpPr>
        <p:spPr>
          <a:xfrm>
            <a:off x="5495544" y="1554480"/>
            <a:ext cx="1371600" cy="4114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Vector</a:t>
            </a:r>
            <a:endParaRPr lang="en-US" sz="1050" dirty="0"/>
          </a:p>
        </p:txBody>
      </p:sp>
      <p:sp>
        <p:nvSpPr>
          <p:cNvPr id="18" name="arrow"/>
          <p:cNvSpPr/>
          <p:nvPr/>
        </p:nvSpPr>
        <p:spPr>
          <a:xfrm>
            <a:off x="6912864" y="1481328"/>
            <a:ext cx="182880" cy="182880"/>
          </a:xfrm>
          <a:prstGeom prst="rightArrow">
            <a:avLst/>
          </a:prstGeom>
          <a:solidFill>
            <a:srgbClr val="6E6A80"/>
          </a:solidFill>
          <a:ln w="12700">
            <a:solidFill>
              <a:srgbClr val="6E6A80"/>
            </a:solidFill>
            <a:prstDash val="solid"/>
          </a:ln>
        </p:spPr>
      </p:sp>
      <p:sp>
        <p:nvSpPr>
          <p:cNvPr id="19" name="pipeline-step"/>
          <p:cNvSpPr/>
          <p:nvPr/>
        </p:nvSpPr>
        <p:spPr>
          <a:xfrm>
            <a:off x="7114032" y="1143000"/>
            <a:ext cx="1463040" cy="868680"/>
          </a:xfrm>
          <a:prstGeom prst="roundRect">
            <a:avLst>
              <a:gd name="adj" fmla="val 6316"/>
            </a:avLst>
          </a:prstGeom>
          <a:solidFill>
            <a:srgbClr val="D6336C"/>
          </a:solidFill>
          <a:ln w="12700">
            <a:solidFill>
              <a:srgbClr val="D6336C"/>
            </a:solidFill>
            <a:prstDash val="solid"/>
          </a:ln>
        </p:spPr>
      </p:sp>
      <p:sp>
        <p:nvSpPr>
          <p:cNvPr id="20" name="Text 18"/>
          <p:cNvSpPr txBox="1"/>
          <p:nvPr/>
        </p:nvSpPr>
        <p:spPr>
          <a:xfrm>
            <a:off x="7114032" y="1207008"/>
            <a:ext cx="1463040"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Random Forest</a:t>
            </a:r>
            <a:endParaRPr lang="en-US" sz="1300" dirty="0"/>
          </a:p>
        </p:txBody>
      </p:sp>
      <p:sp>
        <p:nvSpPr>
          <p:cNvPr id="21" name="Text 19"/>
          <p:cNvSpPr txBox="1"/>
          <p:nvPr/>
        </p:nvSpPr>
        <p:spPr>
          <a:xfrm>
            <a:off x="7159752" y="1554480"/>
            <a:ext cx="1371600" cy="4114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200 trees, depth 10</a:t>
            </a:r>
            <a:endParaRPr lang="en-US" sz="1050" dirty="0"/>
          </a:p>
        </p:txBody>
      </p:sp>
      <p:sp>
        <p:nvSpPr>
          <p:cNvPr id="22" name="card"/>
          <p:cNvSpPr/>
          <p:nvPr/>
        </p:nvSpPr>
        <p:spPr>
          <a:xfrm>
            <a:off x="457200" y="2286000"/>
            <a:ext cx="2651760" cy="2240280"/>
          </a:xfrm>
          <a:prstGeom prst="roundRect">
            <a:avLst>
              <a:gd name="adj" fmla="val 2449"/>
            </a:avLst>
          </a:prstGeom>
          <a:solidFill>
            <a:srgbClr val="F6F2FB"/>
          </a:solidFill>
          <a:ln w="12700">
            <a:solidFill>
              <a:srgbClr val="F6F2FB"/>
            </a:solidFill>
            <a:prstDash val="solid"/>
          </a:ln>
        </p:spPr>
      </p:sp>
      <p:sp>
        <p:nvSpPr>
          <p:cNvPr id="23" name="badge"/>
          <p:cNvSpPr/>
          <p:nvPr/>
        </p:nvSpPr>
        <p:spPr>
          <a:xfrm>
            <a:off x="640080" y="2423160"/>
            <a:ext cx="457200" cy="457200"/>
          </a:xfrm>
          <a:prstGeom prst="ellipse">
            <a:avLst/>
          </a:prstGeom>
          <a:solidFill>
            <a:srgbClr val="D6336C"/>
          </a:solidFill>
          <a:ln w="12700">
            <a:solidFill>
              <a:srgbClr val="D6336C"/>
            </a:solidFill>
            <a:prstDash val="solid"/>
          </a:ln>
        </p:spPr>
      </p:sp>
      <p:sp>
        <p:nvSpPr>
          <p:cNvPr id="24" name="Text 22"/>
          <p:cNvSpPr txBox="1"/>
          <p:nvPr/>
        </p:nvSpPr>
        <p:spPr>
          <a:xfrm>
            <a:off x="640080" y="242316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25" name="icon" descr="preencoded.png">    </p:cNvPr>
          <p:cNvPicPr>
            <a:picLocks noChangeAspect="1"/>
          </p:cNvPicPr>
          <p:nvPr/>
        </p:nvPicPr>
        <p:blipFill>
          <a:blip r:embed="rId1"/>
          <a:stretch>
            <a:fillRect/>
          </a:stretch>
        </p:blipFill>
        <p:spPr>
          <a:xfrm>
            <a:off x="754380" y="2537460"/>
            <a:ext cx="228600" cy="228600"/>
          </a:xfrm>
          <a:prstGeom prst="rect">
            <a:avLst/>
          </a:prstGeom>
        </p:spPr>
      </p:pic>
      <p:sp>
        <p:nvSpPr>
          <p:cNvPr id="26" name="Text 23"/>
          <p:cNvSpPr txBox="1"/>
          <p:nvPr/>
        </p:nvSpPr>
        <p:spPr>
          <a:xfrm>
            <a:off x="640080" y="2971800"/>
            <a:ext cx="2286000" cy="274320"/>
          </a:xfrm>
          <a:prstGeom prst="rect">
            <a:avLst/>
          </a:prstGeom>
          <a:noFill/>
          <a:ln/>
        </p:spPr>
        <p:txBody>
          <a:bodyPr wrap="square" lIns="0" tIns="0" rIns="0" bIns="0" rtlCol="0" anchor="t"/>
          <a:lstStyle/>
          <a:p>
            <a:pPr indent="0" marL="0">
              <a:buNone/>
            </a:pPr>
            <a:r>
              <a:rPr lang="en-US" sz="1400" b="1" dirty="0">
                <a:solidFill>
                  <a:srgbClr val="4B2A6E"/>
                </a:solidFill>
                <a:latin typeface="Cambria" pitchFamily="34" charset="0"/>
                <a:ea typeface="Cambria" pitchFamily="34" charset="-122"/>
                <a:cs typeface="Cambria" pitchFamily="34" charset="-120"/>
              </a:rPr>
              <a:t>Class weights</a:t>
            </a:r>
            <a:endParaRPr lang="en-US" sz="1400" dirty="0"/>
          </a:p>
        </p:txBody>
      </p:sp>
      <p:sp>
        <p:nvSpPr>
          <p:cNvPr id="27" name="Text 24"/>
          <p:cNvSpPr txBox="1"/>
          <p:nvPr/>
        </p:nvSpPr>
        <p:spPr>
          <a:xfrm>
            <a:off x="640080" y="3337560"/>
            <a:ext cx="2331720" cy="1143000"/>
          </a:xfrm>
          <a:prstGeom prst="rect">
            <a:avLst/>
          </a:prstGeom>
          <a:noFill/>
          <a:ln/>
        </p:spPr>
        <p:txBody>
          <a:bodyPr wrap="square" lIns="0" tIns="0" rIns="0" bIns="0" rtlCol="0" anchor="t"/>
          <a:lstStyle/>
          <a:p>
            <a:pPr indent="0" marL="0">
              <a:buNone/>
            </a:pPr>
            <a:r>
              <a:rPr lang="en-US" sz="1150" dirty="0">
                <a:solidFill>
                  <a:srgbClr val="6E6A80"/>
                </a:solidFill>
                <a:latin typeface="Calibri" pitchFamily="34" charset="0"/>
                <a:ea typeface="Calibri" pitchFamily="34" charset="-122"/>
                <a:cs typeface="Calibri" pitchFamily="34" charset="-120"/>
              </a:rPr>
              <a:t>Fraud is rare, so each training row is weighted by inverse class frequency.</a:t>
            </a:r>
            <a:endParaRPr lang="en-US" sz="1150" dirty="0"/>
          </a:p>
        </p:txBody>
      </p:sp>
      <p:sp>
        <p:nvSpPr>
          <p:cNvPr id="28" name="card"/>
          <p:cNvSpPr/>
          <p:nvPr/>
        </p:nvSpPr>
        <p:spPr>
          <a:xfrm>
            <a:off x="3264408" y="2286000"/>
            <a:ext cx="2651760" cy="2240280"/>
          </a:xfrm>
          <a:prstGeom prst="roundRect">
            <a:avLst>
              <a:gd name="adj" fmla="val 2449"/>
            </a:avLst>
          </a:prstGeom>
          <a:solidFill>
            <a:srgbClr val="F6F2FB"/>
          </a:solidFill>
          <a:ln w="12700">
            <a:solidFill>
              <a:srgbClr val="F6F2FB"/>
            </a:solidFill>
            <a:prstDash val="solid"/>
          </a:ln>
        </p:spPr>
      </p:sp>
      <p:sp>
        <p:nvSpPr>
          <p:cNvPr id="29" name="badge"/>
          <p:cNvSpPr/>
          <p:nvPr/>
        </p:nvSpPr>
        <p:spPr>
          <a:xfrm>
            <a:off x="3447288" y="2423160"/>
            <a:ext cx="457200" cy="457200"/>
          </a:xfrm>
          <a:prstGeom prst="ellipse">
            <a:avLst/>
          </a:prstGeom>
          <a:solidFill>
            <a:srgbClr val="1F9D74"/>
          </a:solidFill>
          <a:ln w="12700">
            <a:solidFill>
              <a:srgbClr val="1F9D74"/>
            </a:solidFill>
            <a:prstDash val="solid"/>
          </a:ln>
        </p:spPr>
      </p:sp>
      <p:sp>
        <p:nvSpPr>
          <p:cNvPr id="30" name="Text 27"/>
          <p:cNvSpPr txBox="1"/>
          <p:nvPr/>
        </p:nvSpPr>
        <p:spPr>
          <a:xfrm>
            <a:off x="3447288" y="242316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31" name="icon" descr="preencoded.png">    </p:cNvPr>
          <p:cNvPicPr>
            <a:picLocks noChangeAspect="1"/>
          </p:cNvPicPr>
          <p:nvPr/>
        </p:nvPicPr>
        <p:blipFill>
          <a:blip r:embed="rId2"/>
          <a:stretch>
            <a:fillRect/>
          </a:stretch>
        </p:blipFill>
        <p:spPr>
          <a:xfrm>
            <a:off x="3561588" y="2537460"/>
            <a:ext cx="228600" cy="228600"/>
          </a:xfrm>
          <a:prstGeom prst="rect">
            <a:avLst/>
          </a:prstGeom>
        </p:spPr>
      </p:pic>
      <p:sp>
        <p:nvSpPr>
          <p:cNvPr id="32" name="Text 28"/>
          <p:cNvSpPr txBox="1"/>
          <p:nvPr/>
        </p:nvSpPr>
        <p:spPr>
          <a:xfrm>
            <a:off x="3447288" y="2971800"/>
            <a:ext cx="2286000" cy="274320"/>
          </a:xfrm>
          <a:prstGeom prst="rect">
            <a:avLst/>
          </a:prstGeom>
          <a:noFill/>
          <a:ln/>
        </p:spPr>
        <p:txBody>
          <a:bodyPr wrap="square" lIns="0" tIns="0" rIns="0" bIns="0" rtlCol="0" anchor="t"/>
          <a:lstStyle/>
          <a:p>
            <a:pPr indent="0" marL="0">
              <a:buNone/>
            </a:pPr>
            <a:r>
              <a:rPr lang="en-US" sz="1400" b="1" dirty="0">
                <a:solidFill>
                  <a:srgbClr val="4B2A6E"/>
                </a:solidFill>
                <a:latin typeface="Cambria" pitchFamily="34" charset="0"/>
                <a:ea typeface="Cambria" pitchFamily="34" charset="-122"/>
                <a:cs typeface="Cambria" pitchFamily="34" charset="-120"/>
              </a:rPr>
              <a:t>Temporal split</a:t>
            </a:r>
            <a:endParaRPr lang="en-US" sz="1400" dirty="0"/>
          </a:p>
        </p:txBody>
      </p:sp>
      <p:sp>
        <p:nvSpPr>
          <p:cNvPr id="33" name="Text 29"/>
          <p:cNvSpPr txBox="1"/>
          <p:nvPr/>
        </p:nvSpPr>
        <p:spPr>
          <a:xfrm>
            <a:off x="3447288" y="3337560"/>
            <a:ext cx="2331720" cy="1143000"/>
          </a:xfrm>
          <a:prstGeom prst="rect">
            <a:avLst/>
          </a:prstGeom>
          <a:noFill/>
          <a:ln/>
        </p:spPr>
        <p:txBody>
          <a:bodyPr wrap="square" lIns="0" tIns="0" rIns="0" bIns="0" rtlCol="0" anchor="t"/>
          <a:lstStyle/>
          <a:p>
            <a:pPr indent="0" marL="0">
              <a:buNone/>
            </a:pPr>
            <a:r>
              <a:rPr lang="en-US" sz="1150" dirty="0">
                <a:solidFill>
                  <a:srgbClr val="6E6A80"/>
                </a:solidFill>
                <a:latin typeface="Calibri" pitchFamily="34" charset="0"/>
                <a:ea typeface="Calibri" pitchFamily="34" charset="-122"/>
                <a:cs typeface="Calibri" pitchFamily="34" charset="-120"/>
              </a:rPr>
              <a:t>Train on events up to the 80th time percentile, test on later events. No future leakage.</a:t>
            </a:r>
            <a:endParaRPr lang="en-US" sz="1150" dirty="0"/>
          </a:p>
        </p:txBody>
      </p:sp>
      <p:sp>
        <p:nvSpPr>
          <p:cNvPr id="34" name="card"/>
          <p:cNvSpPr/>
          <p:nvPr/>
        </p:nvSpPr>
        <p:spPr>
          <a:xfrm>
            <a:off x="6071616" y="2286000"/>
            <a:ext cx="2651760" cy="2240280"/>
          </a:xfrm>
          <a:prstGeom prst="roundRect">
            <a:avLst>
              <a:gd name="adj" fmla="val 2449"/>
            </a:avLst>
          </a:prstGeom>
          <a:solidFill>
            <a:srgbClr val="F6F2FB"/>
          </a:solidFill>
          <a:ln w="12700">
            <a:solidFill>
              <a:srgbClr val="F6F2FB"/>
            </a:solidFill>
            <a:prstDash val="solid"/>
          </a:ln>
        </p:spPr>
      </p:sp>
      <p:sp>
        <p:nvSpPr>
          <p:cNvPr id="35" name="badge"/>
          <p:cNvSpPr/>
          <p:nvPr/>
        </p:nvSpPr>
        <p:spPr>
          <a:xfrm>
            <a:off x="6254496" y="2423160"/>
            <a:ext cx="457200" cy="457200"/>
          </a:xfrm>
          <a:prstGeom prst="ellipse">
            <a:avLst/>
          </a:prstGeom>
          <a:solidFill>
            <a:srgbClr val="8E5FD1"/>
          </a:solidFill>
          <a:ln w="12700">
            <a:solidFill>
              <a:srgbClr val="8E5FD1"/>
            </a:solidFill>
            <a:prstDash val="solid"/>
          </a:ln>
        </p:spPr>
      </p:sp>
      <p:sp>
        <p:nvSpPr>
          <p:cNvPr id="36" name="Text 32"/>
          <p:cNvSpPr txBox="1"/>
          <p:nvPr/>
        </p:nvSpPr>
        <p:spPr>
          <a:xfrm>
            <a:off x="6254496" y="242316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37" name="icon" descr="preencoded.png">    </p:cNvPr>
          <p:cNvPicPr>
            <a:picLocks noChangeAspect="1"/>
          </p:cNvPicPr>
          <p:nvPr/>
        </p:nvPicPr>
        <p:blipFill>
          <a:blip r:embed="rId3"/>
          <a:stretch>
            <a:fillRect/>
          </a:stretch>
        </p:blipFill>
        <p:spPr>
          <a:xfrm>
            <a:off x="6368796" y="2537460"/>
            <a:ext cx="228600" cy="228600"/>
          </a:xfrm>
          <a:prstGeom prst="rect">
            <a:avLst/>
          </a:prstGeom>
        </p:spPr>
      </p:pic>
      <p:sp>
        <p:nvSpPr>
          <p:cNvPr id="38" name="Text 33"/>
          <p:cNvSpPr txBox="1"/>
          <p:nvPr/>
        </p:nvSpPr>
        <p:spPr>
          <a:xfrm>
            <a:off x="6254496" y="2971800"/>
            <a:ext cx="2286000" cy="274320"/>
          </a:xfrm>
          <a:prstGeom prst="rect">
            <a:avLst/>
          </a:prstGeom>
          <a:noFill/>
          <a:ln/>
        </p:spPr>
        <p:txBody>
          <a:bodyPr wrap="square" lIns="0" tIns="0" rIns="0" bIns="0" rtlCol="0" anchor="t"/>
          <a:lstStyle/>
          <a:p>
            <a:pPr indent="0" marL="0">
              <a:buNone/>
            </a:pPr>
            <a:r>
              <a:rPr lang="en-US" sz="1400" b="1" dirty="0">
                <a:solidFill>
                  <a:srgbClr val="4B2A6E"/>
                </a:solidFill>
                <a:latin typeface="Cambria" pitchFamily="34" charset="0"/>
                <a:ea typeface="Cambria" pitchFamily="34" charset="-122"/>
                <a:cs typeface="Cambria" pitchFamily="34" charset="-120"/>
              </a:rPr>
              <a:t>Saved pipeline</a:t>
            </a:r>
            <a:endParaRPr lang="en-US" sz="1400" dirty="0"/>
          </a:p>
        </p:txBody>
      </p:sp>
      <p:sp>
        <p:nvSpPr>
          <p:cNvPr id="39" name="Text 34"/>
          <p:cNvSpPr txBox="1"/>
          <p:nvPr/>
        </p:nvSpPr>
        <p:spPr>
          <a:xfrm>
            <a:off x="6254496" y="3337560"/>
            <a:ext cx="2331720" cy="1143000"/>
          </a:xfrm>
          <a:prstGeom prst="rect">
            <a:avLst/>
          </a:prstGeom>
          <a:noFill/>
          <a:ln/>
        </p:spPr>
        <p:txBody>
          <a:bodyPr wrap="square" lIns="0" tIns="0" rIns="0" bIns="0" rtlCol="0" anchor="t"/>
          <a:lstStyle/>
          <a:p>
            <a:pPr indent="0" marL="0">
              <a:buNone/>
            </a:pPr>
            <a:r>
              <a:rPr lang="en-US" sz="1150" dirty="0">
                <a:solidFill>
                  <a:srgbClr val="6E6A80"/>
                </a:solidFill>
                <a:latin typeface="Calibri" pitchFamily="34" charset="0"/>
                <a:ea typeface="Calibri" pitchFamily="34" charset="-122"/>
                <a:cs typeface="Calibri" pitchFamily="34" charset="-120"/>
              </a:rPr>
              <a:t>The whole PipelineModel is persisted and loaded once by the live scoring stream.</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Hybrid final decision</a:t>
            </a:r>
            <a:endParaRPr lang="en-US" sz="2600" dirty="0"/>
          </a:p>
        </p:txBody>
      </p:sp>
      <p:pic>
        <p:nvPicPr>
          <p:cNvPr id="3" name="hybrid-diagram" descr="/home/claude/figs/fig_hybrid.png">    </p:cNvPr>
          <p:cNvPicPr>
            <a:picLocks noChangeAspect="1"/>
          </p:cNvPicPr>
          <p:nvPr/>
        </p:nvPicPr>
        <p:blipFill>
          <a:blip r:embed="rId1"/>
          <a:stretch>
            <a:fillRect/>
          </a:stretch>
        </p:blipFill>
        <p:spPr>
          <a:xfrm>
            <a:off x="1320257" y="960120"/>
            <a:ext cx="6503487" cy="2560320"/>
          </a:xfrm>
          <a:prstGeom prst="rect">
            <a:avLst/>
          </a:prstGeom>
        </p:spPr>
      </p:pic>
      <p:sp>
        <p:nvSpPr>
          <p:cNvPr id="4" name="card"/>
          <p:cNvSpPr/>
          <p:nvPr/>
        </p:nvSpPr>
        <p:spPr>
          <a:xfrm>
            <a:off x="457200" y="3611880"/>
            <a:ext cx="2651760" cy="914400"/>
          </a:xfrm>
          <a:prstGeom prst="roundRect">
            <a:avLst>
              <a:gd name="adj" fmla="val 6000"/>
            </a:avLst>
          </a:prstGeom>
          <a:solidFill>
            <a:srgbClr val="F6F2FB"/>
          </a:solidFill>
          <a:ln w="12700">
            <a:solidFill>
              <a:srgbClr val="F6F2FB"/>
            </a:solidFill>
            <a:prstDash val="solid"/>
          </a:ln>
        </p:spPr>
      </p:sp>
      <p:sp>
        <p:nvSpPr>
          <p:cNvPr id="5" name="Text 2"/>
          <p:cNvSpPr txBox="1"/>
          <p:nvPr/>
        </p:nvSpPr>
        <p:spPr>
          <a:xfrm>
            <a:off x="640080" y="3685032"/>
            <a:ext cx="2286000" cy="256032"/>
          </a:xfrm>
          <a:prstGeom prst="rect">
            <a:avLst/>
          </a:prstGeom>
          <a:noFill/>
          <a:ln/>
        </p:spPr>
        <p:txBody>
          <a:bodyPr wrap="square" lIns="0" tIns="0" rIns="0" bIns="0" rtlCol="0" anchor="t"/>
          <a:lstStyle/>
          <a:p>
            <a:pPr indent="0" marL="0">
              <a:buNone/>
            </a:pPr>
            <a:r>
              <a:rPr lang="en-US" sz="1300" b="1" dirty="0">
                <a:solidFill>
                  <a:srgbClr val="4B2A6E"/>
                </a:solidFill>
                <a:latin typeface="Cambria" pitchFamily="34" charset="0"/>
                <a:ea typeface="Cambria" pitchFamily="34" charset="-122"/>
                <a:cs typeface="Cambria" pitchFamily="34" charset="-120"/>
              </a:rPr>
              <a:t>Severity</a:t>
            </a:r>
            <a:endParaRPr lang="en-US" sz="1300" dirty="0"/>
          </a:p>
        </p:txBody>
      </p:sp>
      <p:sp>
        <p:nvSpPr>
          <p:cNvPr id="6" name="Text 3"/>
          <p:cNvSpPr txBox="1"/>
          <p:nvPr/>
        </p:nvSpPr>
        <p:spPr>
          <a:xfrm>
            <a:off x="640080" y="3977640"/>
            <a:ext cx="23317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LOW, MEDIUM, HIGH, CRITICAL</a:t>
            </a:r>
            <a:endParaRPr lang="en-US" sz="1100" dirty="0"/>
          </a:p>
        </p:txBody>
      </p:sp>
      <p:sp>
        <p:nvSpPr>
          <p:cNvPr id="7" name="card"/>
          <p:cNvSpPr/>
          <p:nvPr/>
        </p:nvSpPr>
        <p:spPr>
          <a:xfrm>
            <a:off x="3264408" y="3611880"/>
            <a:ext cx="2651760" cy="914400"/>
          </a:xfrm>
          <a:prstGeom prst="roundRect">
            <a:avLst>
              <a:gd name="adj" fmla="val 6000"/>
            </a:avLst>
          </a:prstGeom>
          <a:solidFill>
            <a:srgbClr val="F6F2FB"/>
          </a:solidFill>
          <a:ln w="12700">
            <a:solidFill>
              <a:srgbClr val="F6F2FB"/>
            </a:solidFill>
            <a:prstDash val="solid"/>
          </a:ln>
        </p:spPr>
      </p:sp>
      <p:sp>
        <p:nvSpPr>
          <p:cNvPr id="8" name="Text 5"/>
          <p:cNvSpPr txBox="1"/>
          <p:nvPr/>
        </p:nvSpPr>
        <p:spPr>
          <a:xfrm>
            <a:off x="3447288" y="3685032"/>
            <a:ext cx="2286000" cy="256032"/>
          </a:xfrm>
          <a:prstGeom prst="rect">
            <a:avLst/>
          </a:prstGeom>
          <a:noFill/>
          <a:ln/>
        </p:spPr>
        <p:txBody>
          <a:bodyPr wrap="square" lIns="0" tIns="0" rIns="0" bIns="0" rtlCol="0" anchor="t"/>
          <a:lstStyle/>
          <a:p>
            <a:pPr indent="0" marL="0">
              <a:buNone/>
            </a:pPr>
            <a:r>
              <a:rPr lang="en-US" sz="1300" b="1" dirty="0">
                <a:solidFill>
                  <a:srgbClr val="4B2A6E"/>
                </a:solidFill>
                <a:latin typeface="Cambria" pitchFamily="34" charset="0"/>
                <a:ea typeface="Cambria" pitchFamily="34" charset="-122"/>
                <a:cs typeface="Cambria" pitchFamily="34" charset="-120"/>
              </a:rPr>
              <a:t>Decision basis</a:t>
            </a:r>
            <a:endParaRPr lang="en-US" sz="1300" dirty="0"/>
          </a:p>
        </p:txBody>
      </p:sp>
      <p:sp>
        <p:nvSpPr>
          <p:cNvPr id="9" name="Text 6"/>
          <p:cNvSpPr txBox="1"/>
          <p:nvPr/>
        </p:nvSpPr>
        <p:spPr>
          <a:xfrm>
            <a:off x="3447288" y="3977640"/>
            <a:ext cx="23317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ML_HIGH_CONFIDENCE, RULE_ML_CONFIRMATION, critical rules</a:t>
            </a:r>
            <a:endParaRPr lang="en-US" sz="1100" dirty="0"/>
          </a:p>
        </p:txBody>
      </p:sp>
      <p:sp>
        <p:nvSpPr>
          <p:cNvPr id="10" name="card"/>
          <p:cNvSpPr/>
          <p:nvPr/>
        </p:nvSpPr>
        <p:spPr>
          <a:xfrm>
            <a:off x="6071616" y="3611880"/>
            <a:ext cx="2651760" cy="914400"/>
          </a:xfrm>
          <a:prstGeom prst="roundRect">
            <a:avLst>
              <a:gd name="adj" fmla="val 6000"/>
            </a:avLst>
          </a:prstGeom>
          <a:solidFill>
            <a:srgbClr val="F6F2FB"/>
          </a:solidFill>
          <a:ln w="12700">
            <a:solidFill>
              <a:srgbClr val="F6F2FB"/>
            </a:solidFill>
            <a:prstDash val="solid"/>
          </a:ln>
        </p:spPr>
      </p:sp>
      <p:sp>
        <p:nvSpPr>
          <p:cNvPr id="11" name="Text 8"/>
          <p:cNvSpPr txBox="1"/>
          <p:nvPr/>
        </p:nvSpPr>
        <p:spPr>
          <a:xfrm>
            <a:off x="6254496" y="3685032"/>
            <a:ext cx="2286000" cy="256032"/>
          </a:xfrm>
          <a:prstGeom prst="rect">
            <a:avLst/>
          </a:prstGeom>
          <a:noFill/>
          <a:ln/>
        </p:spPr>
        <p:txBody>
          <a:bodyPr wrap="square" lIns="0" tIns="0" rIns="0" bIns="0" rtlCol="0" anchor="t"/>
          <a:lstStyle/>
          <a:p>
            <a:pPr indent="0" marL="0">
              <a:buNone/>
            </a:pPr>
            <a:r>
              <a:rPr lang="en-US" sz="1300" b="1" dirty="0">
                <a:solidFill>
                  <a:srgbClr val="4B2A6E"/>
                </a:solidFill>
                <a:latin typeface="Cambria" pitchFamily="34" charset="0"/>
                <a:ea typeface="Cambria" pitchFamily="34" charset="-122"/>
                <a:cs typeface="Cambria" pitchFamily="34" charset="-120"/>
              </a:rPr>
              <a:t>Explainable</a:t>
            </a:r>
            <a:endParaRPr lang="en-US" sz="1300" dirty="0"/>
          </a:p>
        </p:txBody>
      </p:sp>
      <p:sp>
        <p:nvSpPr>
          <p:cNvPr id="12" name="Text 9"/>
          <p:cNvSpPr txBox="1"/>
          <p:nvPr/>
        </p:nvSpPr>
        <p:spPr>
          <a:xfrm>
            <a:off x="6254496" y="3977640"/>
            <a:ext cx="233172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fraud_reasons lists the active rule signals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Model evaluation (repository-reported)</a:t>
            </a:r>
            <a:endParaRPr lang="en-US" sz="2600" dirty="0"/>
          </a:p>
        </p:txBody>
      </p:sp>
      <p:graphicFrame>
        <p:nvGraphicFramePr>
          <p:cNvPr id="3" name="Chart 0" descr=""/>
          <p:cNvGraphicFramePr/>
          <p:nvPr/>
        </p:nvGraphicFramePr>
        <p:xfrm>
          <a:off x="457200" y="105156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035040" y="1097280"/>
            <a:ext cx="2651760" cy="1508760"/>
          </a:xfrm>
          <a:prstGeom prst="roundRect">
            <a:avLst>
              <a:gd name="adj" fmla="val 3636"/>
            </a:avLst>
          </a:prstGeom>
          <a:solidFill>
            <a:srgbClr val="4B2A6E"/>
          </a:solidFill>
          <a:ln w="12700">
            <a:solidFill>
              <a:srgbClr val="4B2A6E"/>
            </a:solidFill>
            <a:prstDash val="solid"/>
          </a:ln>
        </p:spPr>
      </p:sp>
      <p:sp>
        <p:nvSpPr>
          <p:cNvPr id="5" name="Text 2"/>
          <p:cNvSpPr txBox="1"/>
          <p:nvPr/>
        </p:nvSpPr>
        <p:spPr>
          <a:xfrm>
            <a:off x="6035040" y="1188720"/>
            <a:ext cx="2651760" cy="640080"/>
          </a:xfrm>
          <a:prstGeom prst="rect">
            <a:avLst/>
          </a:prstGeom>
          <a:noFill/>
          <a:ln/>
        </p:spPr>
        <p:txBody>
          <a:bodyPr wrap="square" lIns="0" tIns="0" rIns="0" bIns="0" rtlCol="0" anchor="t"/>
          <a:lstStyle/>
          <a:p>
            <a:pPr algn="ctr" indent="0" marL="0">
              <a:buNone/>
            </a:pPr>
            <a:r>
              <a:rPr lang="en-US" sz="3800" b="1" dirty="0">
                <a:solidFill>
                  <a:srgbClr val="FFFFFF"/>
                </a:solidFill>
                <a:latin typeface="Cambria" pitchFamily="34" charset="0"/>
                <a:ea typeface="Cambria" pitchFamily="34" charset="-122"/>
                <a:cs typeface="Cambria" pitchFamily="34" charset="-120"/>
              </a:rPr>
              <a:t>0.9772</a:t>
            </a:r>
            <a:endParaRPr lang="en-US" sz="3800" dirty="0"/>
          </a:p>
        </p:txBody>
      </p:sp>
      <p:sp>
        <p:nvSpPr>
          <p:cNvPr id="6" name="Text 3"/>
          <p:cNvSpPr txBox="1"/>
          <p:nvPr/>
        </p:nvSpPr>
        <p:spPr>
          <a:xfrm>
            <a:off x="6172200" y="1920240"/>
            <a:ext cx="2377440" cy="640080"/>
          </a:xfrm>
          <a:prstGeom prst="rect">
            <a:avLst/>
          </a:prstGeom>
          <a:noFill/>
          <a:ln/>
        </p:spPr>
        <p:txBody>
          <a:bodyPr wrap="square" lIns="0" tIns="0" rIns="0" bIns="0" rtlCol="0" anchor="t"/>
          <a:lstStyle/>
          <a:p>
            <a:pPr algn="ctr" indent="0" marL="0">
              <a:buNone/>
            </a:pPr>
            <a:r>
              <a:rPr lang="en-US" sz="1100" dirty="0">
                <a:solidFill>
                  <a:srgbClr val="D9C8F5"/>
                </a:solidFill>
                <a:latin typeface="Calibri" pitchFamily="34" charset="0"/>
                <a:ea typeface="Calibri" pitchFamily="34" charset="-122"/>
                <a:cs typeface="Calibri" pitchFamily="34" charset="-120"/>
              </a:rPr>
              <a:t>ROC-AUC: strong ranking of fraud above normal</a:t>
            </a:r>
            <a:endParaRPr lang="en-US" sz="1100" dirty="0"/>
          </a:p>
        </p:txBody>
      </p:sp>
      <p:sp>
        <p:nvSpPr>
          <p:cNvPr id="7" name="card"/>
          <p:cNvSpPr/>
          <p:nvPr/>
        </p:nvSpPr>
        <p:spPr>
          <a:xfrm>
            <a:off x="6035040" y="2788920"/>
            <a:ext cx="2651760" cy="1737360"/>
          </a:xfrm>
          <a:prstGeom prst="roundRect">
            <a:avLst>
              <a:gd name="adj" fmla="val 3158"/>
            </a:avLst>
          </a:prstGeom>
          <a:solidFill>
            <a:srgbClr val="F6F2FB"/>
          </a:solidFill>
          <a:ln w="12700">
            <a:solidFill>
              <a:srgbClr val="F6F2FB"/>
            </a:solidFill>
            <a:prstDash val="solid"/>
          </a:ln>
        </p:spPr>
      </p:sp>
      <p:sp>
        <p:nvSpPr>
          <p:cNvPr id="8" name="Text 5"/>
          <p:cNvSpPr txBox="1"/>
          <p:nvPr/>
        </p:nvSpPr>
        <p:spPr>
          <a:xfrm>
            <a:off x="6217920" y="2880360"/>
            <a:ext cx="2286000" cy="274320"/>
          </a:xfrm>
          <a:prstGeom prst="rect">
            <a:avLst/>
          </a:prstGeom>
          <a:noFill/>
          <a:ln/>
        </p:spPr>
        <p:txBody>
          <a:bodyPr wrap="square" lIns="0" tIns="0" rIns="0" bIns="0" rtlCol="0" anchor="t"/>
          <a:lstStyle/>
          <a:p>
            <a:pPr indent="0" marL="0">
              <a:buNone/>
            </a:pPr>
            <a:r>
              <a:rPr lang="en-US" sz="1300" b="1" dirty="0">
                <a:solidFill>
                  <a:srgbClr val="D6336C"/>
                </a:solidFill>
                <a:latin typeface="Cambria" pitchFamily="34" charset="0"/>
                <a:ea typeface="Cambria" pitchFamily="34" charset="-122"/>
                <a:cs typeface="Cambria" pitchFamily="34" charset="-120"/>
              </a:rPr>
              <a:t>Accuracy misleads</a:t>
            </a:r>
            <a:endParaRPr lang="en-US" sz="1300" dirty="0"/>
          </a:p>
        </p:txBody>
      </p:sp>
      <p:sp>
        <p:nvSpPr>
          <p:cNvPr id="9" name="Text 6"/>
          <p:cNvSpPr txBox="1"/>
          <p:nvPr/>
        </p:nvSpPr>
        <p:spPr>
          <a:xfrm>
            <a:off x="6217920" y="3200400"/>
            <a:ext cx="2331720" cy="128016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About 5% of the test set is fraud. Predicting 'never fraud' would already score 94.75% accuracy, so precision, recall and PR-AUC matter more.</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Where the mistakes happen</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4389120" cy="914400"/>
        </p:xfrm>
        <a:graphic>
          <a:graphicData uri="http://schemas.openxmlformats.org/drawingml/2006/table">
            <a:tbl>
              <a:tblPr/>
              <a:tblGrid>
                <a:gridCol w="1645920"/>
                <a:gridCol w="1371600"/>
                <a:gridCol w="137160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Actual \ Predicted</a:t>
                      </a:r>
                      <a:endParaRPr lang="en-US" sz="11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B2A6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Not fraud</a:t>
                      </a:r>
                      <a:endParaRPr lang="en-US" sz="11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B2A6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Fraud</a:t>
                      </a:r>
                      <a:endParaRPr lang="en-US" sz="11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B2A6E"/>
                    </a:solidFill>
                  </a:tcPr>
                </a:tc>
              </a:tr>
              <a:tr h="8686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Not fraud</a:t>
                      </a:r>
                      <a:endParaRPr lang="en-US" sz="11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B2A6E"/>
                    </a:solidFill>
                  </a:tcPr>
                </a:tc>
                <a:tc>
                  <a:txBody>
                    <a:bodyPr/>
                    <a:lstStyle/>
                    <a:p>
                      <a:pPr algn="ctr" indent="0" marL="0">
                        <a:buNone/>
                      </a:pPr>
                      <a:r>
                        <a:rPr lang="en-US" sz="1800" b="1" dirty="0">
                          <a:solidFill>
                            <a:srgbClr val="1E1230"/>
                          </a:solidFill>
                          <a:latin typeface="Calibri" pitchFamily="34" charset="0"/>
                          <a:ea typeface="Calibri" pitchFamily="34" charset="-122"/>
                          <a:cs typeface="Calibri" pitchFamily="34" charset="-120"/>
                        </a:rPr>
                        <a:t>1,628</a:t>
                      </a:r>
                      <a:endParaRPr lang="en-US" sz="18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FEDE9"/>
                    </a:solidFill>
                  </a:tcPr>
                </a:tc>
                <a:tc>
                  <a:txBody>
                    <a:bodyPr/>
                    <a:lstStyle/>
                    <a:p>
                      <a:pPr algn="ctr" indent="0" marL="0">
                        <a:buNone/>
                      </a:pPr>
                      <a:r>
                        <a:rPr lang="en-US" sz="1800" b="1" dirty="0">
                          <a:solidFill>
                            <a:srgbClr val="1E1230"/>
                          </a:solidFill>
                          <a:latin typeface="Calibri" pitchFamily="34" charset="0"/>
                          <a:ea typeface="Calibri" pitchFamily="34" charset="-122"/>
                          <a:cs typeface="Calibri" pitchFamily="34" charset="-120"/>
                        </a:rPr>
                        <a:t>33</a:t>
                      </a:r>
                      <a:endParaRPr lang="en-US" sz="18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D9CF"/>
                    </a:solidFill>
                  </a:tcPr>
                </a:tc>
              </a:tr>
              <a:tr h="8686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Fraud</a:t>
                      </a:r>
                      <a:endParaRPr lang="en-US" sz="11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B2A6E"/>
                    </a:solidFill>
                  </a:tcPr>
                </a:tc>
                <a:tc>
                  <a:txBody>
                    <a:bodyPr/>
                    <a:lstStyle/>
                    <a:p>
                      <a:pPr algn="ctr" indent="0" marL="0">
                        <a:buNone/>
                      </a:pPr>
                      <a:r>
                        <a:rPr lang="en-US" sz="1800" b="1" dirty="0">
                          <a:solidFill>
                            <a:srgbClr val="1E1230"/>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D9CF"/>
                    </a:solidFill>
                  </a:tcPr>
                </a:tc>
                <a:tc>
                  <a:txBody>
                    <a:bodyPr/>
                    <a:lstStyle/>
                    <a:p>
                      <a:pPr algn="ctr" indent="0" marL="0">
                        <a:buNone/>
                      </a:pPr>
                      <a:r>
                        <a:rPr lang="en-US" sz="1800" b="1" dirty="0">
                          <a:solidFill>
                            <a:srgbClr val="1E1230"/>
                          </a:solidFill>
                          <a:latin typeface="Calibri" pitchFamily="34" charset="0"/>
                          <a:ea typeface="Calibri" pitchFamily="34" charset="-122"/>
                          <a:cs typeface="Calibri" pitchFamily="34" charset="-120"/>
                        </a:rPr>
                        <a:t>62</a:t>
                      </a:r>
                      <a:endParaRPr lang="en-US" sz="1800" dirty="0">
                        <a:latin typeface="Calibri" charset="0"/>
                        <a:ea typeface="Calibri" charset="0"/>
                        <a:cs typeface="Calibri" charset="0"/>
                      </a:endParaRPr>
                    </a:p>
                  </a:txBody>
                  <a:tcPr marL="45720" marR="4572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FEDE9"/>
                    </a:solidFill>
                  </a:tcPr>
                </a:tc>
              </a:tr>
            </a:tbl>
          </a:graphicData>
        </a:graphic>
      </p:graphicFrame>
      <p:sp>
        <p:nvSpPr>
          <p:cNvPr id="4" name="Text 1"/>
          <p:cNvSpPr txBox="1"/>
          <p:nvPr/>
        </p:nvSpPr>
        <p:spPr>
          <a:xfrm>
            <a:off x="457200" y="3520440"/>
            <a:ext cx="4389120" cy="274320"/>
          </a:xfrm>
          <a:prstGeom prst="rect">
            <a:avLst/>
          </a:prstGeom>
          <a:noFill/>
          <a:ln/>
        </p:spPr>
        <p:txBody>
          <a:bodyPr wrap="square" lIns="0" tIns="0" rIns="0" bIns="0" rtlCol="0" anchor="t"/>
          <a:lstStyle/>
          <a:p>
            <a:pPr indent="0" marL="0">
              <a:buNone/>
            </a:pPr>
            <a:r>
              <a:rPr lang="en-US" sz="1050" i="1" dirty="0">
                <a:solidFill>
                  <a:srgbClr val="6E6A80"/>
                </a:solidFill>
                <a:latin typeface="Calibri" pitchFamily="34" charset="0"/>
                <a:ea typeface="Calibri" pitchFamily="34" charset="-122"/>
                <a:cs typeface="Calibri" pitchFamily="34" charset="-120"/>
              </a:rPr>
              <a:t>Teal = correct; coral = errors. Total 1,753; fraud 92 (5.25%).</a:t>
            </a:r>
            <a:endParaRPr lang="en-US" sz="1050" dirty="0"/>
          </a:p>
        </p:txBody>
      </p:sp>
      <p:sp>
        <p:nvSpPr>
          <p:cNvPr id="5" name="card"/>
          <p:cNvSpPr/>
          <p:nvPr/>
        </p:nvSpPr>
        <p:spPr>
          <a:xfrm>
            <a:off x="5120640" y="1234440"/>
            <a:ext cx="1097280" cy="1097280"/>
          </a:xfrm>
          <a:prstGeom prst="roundRect">
            <a:avLst>
              <a:gd name="adj" fmla="val 5000"/>
            </a:avLst>
          </a:prstGeom>
          <a:solidFill>
            <a:srgbClr val="1F9D74"/>
          </a:solidFill>
          <a:ln w="12700">
            <a:solidFill>
              <a:srgbClr val="1F9D74"/>
            </a:solidFill>
            <a:prstDash val="solid"/>
          </a:ln>
        </p:spPr>
      </p:sp>
      <p:sp>
        <p:nvSpPr>
          <p:cNvPr id="6" name="Text 3"/>
          <p:cNvSpPr txBox="1"/>
          <p:nvPr/>
        </p:nvSpPr>
        <p:spPr>
          <a:xfrm>
            <a:off x="5120640" y="1371600"/>
            <a:ext cx="109728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65.3%</a:t>
            </a:r>
            <a:endParaRPr lang="en-US" sz="1800" dirty="0"/>
          </a:p>
        </p:txBody>
      </p:sp>
      <p:sp>
        <p:nvSpPr>
          <p:cNvPr id="7" name="Text 4"/>
          <p:cNvSpPr txBox="1"/>
          <p:nvPr/>
        </p:nvSpPr>
        <p:spPr>
          <a:xfrm>
            <a:off x="5166360" y="1828800"/>
            <a:ext cx="1005840" cy="457200"/>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Precision 62 / 95</a:t>
            </a:r>
            <a:endParaRPr lang="en-US" sz="950" dirty="0"/>
          </a:p>
        </p:txBody>
      </p:sp>
      <p:sp>
        <p:nvSpPr>
          <p:cNvPr id="8" name="card"/>
          <p:cNvSpPr/>
          <p:nvPr/>
        </p:nvSpPr>
        <p:spPr>
          <a:xfrm>
            <a:off x="6309360" y="1234440"/>
            <a:ext cx="1097280" cy="1097280"/>
          </a:xfrm>
          <a:prstGeom prst="roundRect">
            <a:avLst>
              <a:gd name="adj" fmla="val 5000"/>
            </a:avLst>
          </a:prstGeom>
          <a:solidFill>
            <a:srgbClr val="D6336C"/>
          </a:solidFill>
          <a:ln w="12700">
            <a:solidFill>
              <a:srgbClr val="D6336C"/>
            </a:solidFill>
            <a:prstDash val="solid"/>
          </a:ln>
        </p:spPr>
      </p:sp>
      <p:sp>
        <p:nvSpPr>
          <p:cNvPr id="9" name="Text 6"/>
          <p:cNvSpPr txBox="1"/>
          <p:nvPr/>
        </p:nvSpPr>
        <p:spPr>
          <a:xfrm>
            <a:off x="6309360" y="1371600"/>
            <a:ext cx="109728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67.4%</a:t>
            </a:r>
            <a:endParaRPr lang="en-US" sz="1800" dirty="0"/>
          </a:p>
        </p:txBody>
      </p:sp>
      <p:sp>
        <p:nvSpPr>
          <p:cNvPr id="10" name="Text 7"/>
          <p:cNvSpPr txBox="1"/>
          <p:nvPr/>
        </p:nvSpPr>
        <p:spPr>
          <a:xfrm>
            <a:off x="6355080" y="1828800"/>
            <a:ext cx="1005840" cy="457200"/>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Recall 62 / 92</a:t>
            </a:r>
            <a:endParaRPr lang="en-US" sz="950" dirty="0"/>
          </a:p>
        </p:txBody>
      </p:sp>
      <p:sp>
        <p:nvSpPr>
          <p:cNvPr id="11" name="card"/>
          <p:cNvSpPr/>
          <p:nvPr/>
        </p:nvSpPr>
        <p:spPr>
          <a:xfrm>
            <a:off x="7498080" y="1234440"/>
            <a:ext cx="1097280" cy="1097280"/>
          </a:xfrm>
          <a:prstGeom prst="roundRect">
            <a:avLst>
              <a:gd name="adj" fmla="val 5000"/>
            </a:avLst>
          </a:prstGeom>
          <a:solidFill>
            <a:srgbClr val="4B2A6E"/>
          </a:solidFill>
          <a:ln w="12700">
            <a:solidFill>
              <a:srgbClr val="4B2A6E"/>
            </a:solidFill>
            <a:prstDash val="solid"/>
          </a:ln>
        </p:spPr>
      </p:sp>
      <p:sp>
        <p:nvSpPr>
          <p:cNvPr id="12" name="Text 9"/>
          <p:cNvSpPr txBox="1"/>
          <p:nvPr/>
        </p:nvSpPr>
        <p:spPr>
          <a:xfrm>
            <a:off x="7498080" y="1371600"/>
            <a:ext cx="1097280" cy="411480"/>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0.663</a:t>
            </a:r>
            <a:endParaRPr lang="en-US" sz="1800" dirty="0"/>
          </a:p>
        </p:txBody>
      </p:sp>
      <p:sp>
        <p:nvSpPr>
          <p:cNvPr id="13" name="Text 10"/>
          <p:cNvSpPr txBox="1"/>
          <p:nvPr/>
        </p:nvSpPr>
        <p:spPr>
          <a:xfrm>
            <a:off x="7543800" y="1828800"/>
            <a:ext cx="1005840" cy="457200"/>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F1-score</a:t>
            </a:r>
            <a:endParaRPr lang="en-US" sz="950" dirty="0"/>
          </a:p>
        </p:txBody>
      </p:sp>
      <p:sp>
        <p:nvSpPr>
          <p:cNvPr id="14" name="card"/>
          <p:cNvSpPr/>
          <p:nvPr/>
        </p:nvSpPr>
        <p:spPr>
          <a:xfrm>
            <a:off x="5120640" y="2560320"/>
            <a:ext cx="3566160" cy="1965960"/>
          </a:xfrm>
          <a:prstGeom prst="roundRect">
            <a:avLst>
              <a:gd name="adj" fmla="val 2791"/>
            </a:avLst>
          </a:prstGeom>
          <a:solidFill>
            <a:srgbClr val="F6F2FB"/>
          </a:solidFill>
          <a:ln w="12700">
            <a:solidFill>
              <a:srgbClr val="F6F2FB"/>
            </a:solidFill>
            <a:prstDash val="solid"/>
          </a:ln>
        </p:spPr>
      </p:sp>
      <p:sp>
        <p:nvSpPr>
          <p:cNvPr id="15" name="Text 12"/>
          <p:cNvSpPr txBox="1"/>
          <p:nvPr/>
        </p:nvSpPr>
        <p:spPr>
          <a:xfrm>
            <a:off x="5303520" y="2651760"/>
            <a:ext cx="3200400" cy="274320"/>
          </a:xfrm>
          <a:prstGeom prst="rect">
            <a:avLst/>
          </a:prstGeom>
          <a:noFill/>
          <a:ln/>
        </p:spPr>
        <p:txBody>
          <a:bodyPr wrap="square" lIns="0" tIns="0" rIns="0" bIns="0" rtlCol="0" anchor="t"/>
          <a:lstStyle/>
          <a:p>
            <a:pPr indent="0" marL="0">
              <a:buNone/>
            </a:pPr>
            <a:r>
              <a:rPr lang="en-US" sz="1300" b="1" dirty="0">
                <a:solidFill>
                  <a:srgbClr val="4B2A6E"/>
                </a:solidFill>
                <a:latin typeface="Cambria" pitchFamily="34" charset="0"/>
                <a:ea typeface="Cambria" pitchFamily="34" charset="-122"/>
                <a:cs typeface="Cambria" pitchFamily="34" charset="-120"/>
              </a:rPr>
              <a:t>Precision–recall trade-off</a:t>
            </a:r>
            <a:endParaRPr lang="en-US" sz="1300" dirty="0"/>
          </a:p>
        </p:txBody>
      </p:sp>
      <p:sp>
        <p:nvSpPr>
          <p:cNvPr id="16" name="Text 13"/>
          <p:cNvSpPr txBox="1"/>
          <p:nvPr/>
        </p:nvSpPr>
        <p:spPr>
          <a:xfrm>
            <a:off x="5303520" y="3017520"/>
            <a:ext cx="3246120" cy="14630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6E6A80"/>
                </a:solidFill>
                <a:latin typeface="Calibri" pitchFamily="34" charset="0"/>
                <a:ea typeface="Calibri" pitchFamily="34" charset="-122"/>
                <a:cs typeface="Calibri" pitchFamily="34" charset="-120"/>
              </a:rPr>
              <a:t>30 missed frauds = direct financial loss</a:t>
            </a:r>
            <a:endParaRPr lang="en-US" sz="1150" dirty="0"/>
          </a:p>
          <a:p>
            <a:pPr marL="342900" indent="-342900">
              <a:spcAft>
                <a:spcPts val="500"/>
              </a:spcAft>
              <a:buSzPct val="100000"/>
              <a:buChar char="•"/>
            </a:pPr>
            <a:r>
              <a:rPr lang="en-US" sz="1150" dirty="0">
                <a:solidFill>
                  <a:srgbClr val="6E6A80"/>
                </a:solidFill>
                <a:latin typeface="Calibri" pitchFamily="34" charset="0"/>
                <a:ea typeface="Calibri" pitchFamily="34" charset="-122"/>
                <a:cs typeface="Calibri" pitchFamily="34" charset="-120"/>
              </a:rPr>
              <a:t>33 false alerts = customer friction</a:t>
            </a:r>
            <a:endParaRPr lang="en-US" sz="1150" dirty="0"/>
          </a:p>
          <a:p>
            <a:pPr marL="342900" indent="-342900">
              <a:spcAft>
                <a:spcPts val="500"/>
              </a:spcAft>
              <a:buSzPct val="100000"/>
              <a:buChar char="•"/>
            </a:pPr>
            <a:r>
              <a:rPr lang="en-US" sz="1150" dirty="0">
                <a:solidFill>
                  <a:srgbClr val="6E6A80"/>
                </a:solidFill>
                <a:latin typeface="Calibri" pitchFamily="34" charset="0"/>
                <a:ea typeface="Calibri" pitchFamily="34" charset="-122"/>
                <a:cs typeface="Calibri" pitchFamily="34" charset="-120"/>
              </a:rPr>
              <a:t>Lower threshold: higher recall, more false alerts</a:t>
            </a:r>
            <a:endParaRPr lang="en-US" sz="1150" dirty="0"/>
          </a:p>
        </p:txBody>
      </p:sp>
      <p:sp>
        <p:nvSpPr>
          <p:cNvPr id="17" name="card"/>
          <p:cNvSpPr/>
          <p:nvPr/>
        </p:nvSpPr>
        <p:spPr>
          <a:xfrm>
            <a:off x="457200" y="3931920"/>
            <a:ext cx="4389120" cy="594360"/>
          </a:xfrm>
          <a:prstGeom prst="roundRect">
            <a:avLst>
              <a:gd name="adj" fmla="val 9231"/>
            </a:avLst>
          </a:prstGeom>
          <a:solidFill>
            <a:srgbClr val="4B2A6E"/>
          </a:solidFill>
          <a:ln w="12700">
            <a:solidFill>
              <a:srgbClr val="4B2A6E"/>
            </a:solidFill>
            <a:prstDash val="solid"/>
          </a:ln>
        </p:spPr>
      </p:sp>
      <p:sp>
        <p:nvSpPr>
          <p:cNvPr id="18" name="Text 15"/>
          <p:cNvSpPr txBox="1"/>
          <p:nvPr/>
        </p:nvSpPr>
        <p:spPr>
          <a:xfrm>
            <a:off x="594360" y="3931920"/>
            <a:ext cx="411480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Offline metrics on synthetic data; not proof of live performance.</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Benchmark: choosing shuffle partitions</a:t>
            </a:r>
            <a:endParaRPr lang="en-US" sz="2600" dirty="0"/>
          </a:p>
        </p:txBody>
      </p:sp>
      <p:graphicFrame>
        <p:nvGraphicFramePr>
          <p:cNvPr id="3" name="Chart 0" descr=""/>
          <p:cNvGraphicFramePr/>
          <p:nvPr/>
        </p:nvGraphicFramePr>
        <p:xfrm>
          <a:off x="457200" y="105156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760720" y="1097280"/>
            <a:ext cx="2926080" cy="1325880"/>
          </a:xfrm>
          <a:prstGeom prst="roundRect">
            <a:avLst>
              <a:gd name="adj" fmla="val 4138"/>
            </a:avLst>
          </a:prstGeom>
          <a:solidFill>
            <a:srgbClr val="4B2A6E"/>
          </a:solidFill>
          <a:ln w="12700">
            <a:solidFill>
              <a:srgbClr val="4B2A6E"/>
            </a:solidFill>
            <a:prstDash val="solid"/>
          </a:ln>
        </p:spPr>
      </p:sp>
      <p:sp>
        <p:nvSpPr>
          <p:cNvPr id="5" name="Text 2"/>
          <p:cNvSpPr txBox="1"/>
          <p:nvPr/>
        </p:nvSpPr>
        <p:spPr>
          <a:xfrm>
            <a:off x="5760720" y="1143000"/>
            <a:ext cx="2926080" cy="73152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4</a:t>
            </a:r>
            <a:endParaRPr lang="en-US" sz="4400" dirty="0"/>
          </a:p>
        </p:txBody>
      </p:sp>
      <p:sp>
        <p:nvSpPr>
          <p:cNvPr id="6" name="Text 3"/>
          <p:cNvSpPr txBox="1"/>
          <p:nvPr/>
        </p:nvSpPr>
        <p:spPr>
          <a:xfrm>
            <a:off x="5760720" y="1920240"/>
            <a:ext cx="2926080" cy="274320"/>
          </a:xfrm>
          <a:prstGeom prst="rect">
            <a:avLst/>
          </a:prstGeom>
          <a:noFill/>
          <a:ln/>
        </p:spPr>
        <p:txBody>
          <a:bodyPr wrap="square" lIns="0" tIns="0" rIns="0" bIns="0" rtlCol="0" anchor="t"/>
          <a:lstStyle/>
          <a:p>
            <a:pPr algn="ctr" indent="0" marL="0">
              <a:buNone/>
            </a:pPr>
            <a:r>
              <a:rPr lang="en-US" sz="1150" dirty="0">
                <a:solidFill>
                  <a:srgbClr val="D9C8F5"/>
                </a:solidFill>
                <a:latin typeface="Calibri" pitchFamily="34" charset="0"/>
                <a:ea typeface="Calibri" pitchFamily="34" charset="-122"/>
                <a:cs typeface="Calibri" pitchFamily="34" charset="-120"/>
              </a:rPr>
              <a:t>partitions selected (baseline 8)</a:t>
            </a:r>
            <a:endParaRPr lang="en-US" sz="1150" dirty="0"/>
          </a:p>
        </p:txBody>
      </p:sp>
      <p:sp>
        <p:nvSpPr>
          <p:cNvPr id="7" name="card"/>
          <p:cNvSpPr/>
          <p:nvPr/>
        </p:nvSpPr>
        <p:spPr>
          <a:xfrm>
            <a:off x="5760720" y="2606040"/>
            <a:ext cx="2926080" cy="1920240"/>
          </a:xfrm>
          <a:prstGeom prst="roundRect">
            <a:avLst>
              <a:gd name="adj" fmla="val 2857"/>
            </a:avLst>
          </a:prstGeom>
          <a:solidFill>
            <a:srgbClr val="F6F2FB"/>
          </a:solidFill>
          <a:ln w="12700">
            <a:solidFill>
              <a:srgbClr val="F6F2FB"/>
            </a:solidFill>
            <a:prstDash val="solid"/>
          </a:ln>
        </p:spPr>
      </p:sp>
      <p:sp>
        <p:nvSpPr>
          <p:cNvPr id="8" name="Text 5"/>
          <p:cNvSpPr txBox="1"/>
          <p:nvPr/>
        </p:nvSpPr>
        <p:spPr>
          <a:xfrm>
            <a:off x="5943600" y="2697480"/>
            <a:ext cx="2560320" cy="274320"/>
          </a:xfrm>
          <a:prstGeom prst="rect">
            <a:avLst/>
          </a:prstGeom>
          <a:noFill/>
          <a:ln/>
        </p:spPr>
        <p:txBody>
          <a:bodyPr wrap="square" lIns="0" tIns="0" rIns="0" bIns="0" rtlCol="0" anchor="t"/>
          <a:lstStyle/>
          <a:p>
            <a:pPr indent="0" marL="0">
              <a:buNone/>
            </a:pPr>
            <a:r>
              <a:rPr lang="en-US" sz="1300" b="1" dirty="0">
                <a:solidFill>
                  <a:srgbClr val="4B2A6E"/>
                </a:solidFill>
                <a:latin typeface="Cambria" pitchFamily="34" charset="0"/>
                <a:ea typeface="Cambria" pitchFamily="34" charset="-122"/>
                <a:cs typeface="Cambria" pitchFamily="34" charset="-120"/>
              </a:rPr>
              <a:t>What it shows</a:t>
            </a:r>
            <a:endParaRPr lang="en-US" sz="1300" dirty="0"/>
          </a:p>
        </p:txBody>
      </p:sp>
      <p:sp>
        <p:nvSpPr>
          <p:cNvPr id="9" name="Text 6"/>
          <p:cNvSpPr txBox="1"/>
          <p:nvPr/>
        </p:nvSpPr>
        <p:spPr>
          <a:xfrm>
            <a:off x="5943600" y="3017520"/>
            <a:ext cx="2606040"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6E6A80"/>
                </a:solidFill>
                <a:latin typeface="Calibri" pitchFamily="34" charset="0"/>
                <a:ea typeface="Calibri" pitchFamily="34" charset="-122"/>
                <a:cs typeface="Calibri" pitchFamily="34" charset="-120"/>
              </a:rPr>
              <a:t>All settings met the 5 s trigger budget</a:t>
            </a:r>
            <a:endParaRPr lang="en-US" sz="1100" dirty="0"/>
          </a:p>
          <a:p>
            <a:pPr marL="342900" indent="-342900">
              <a:spcAft>
                <a:spcPts val="400"/>
              </a:spcAft>
              <a:buSzPct val="100000"/>
              <a:buChar char="•"/>
            </a:pPr>
            <a:r>
              <a:rPr lang="en-US" sz="1100" dirty="0">
                <a:solidFill>
                  <a:srgbClr val="6E6A80"/>
                </a:solidFill>
                <a:latin typeface="Calibri" pitchFamily="34" charset="0"/>
                <a:ea typeface="Calibri" pitchFamily="34" charset="-122"/>
                <a:cs typeface="Calibri" pitchFamily="34" charset="-120"/>
              </a:rPr>
              <a:t>Balanced P95: 1,066 ms at 4 partitions</a:t>
            </a:r>
            <a:endParaRPr lang="en-US" sz="1100" dirty="0"/>
          </a:p>
          <a:p>
            <a:pPr marL="342900" indent="-342900">
              <a:spcAft>
                <a:spcPts val="400"/>
              </a:spcAft>
              <a:buSzPct val="100000"/>
              <a:buChar char="•"/>
            </a:pPr>
            <a:r>
              <a:rPr lang="en-US" sz="1100" dirty="0">
                <a:solidFill>
                  <a:srgbClr val="6E6A80"/>
                </a:solidFill>
                <a:latin typeface="Calibri" pitchFamily="34" charset="0"/>
                <a:ea typeface="Calibri" pitchFamily="34" charset="-122"/>
                <a:cs typeface="Calibri" pitchFamily="34" charset="-120"/>
              </a:rPr>
              <a:t>A hot user is still one state key, so more partitions did not help</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Benchmark charts from the repository</a:t>
            </a:r>
            <a:endParaRPr lang="en-US" sz="2600" dirty="0"/>
          </a:p>
        </p:txBody>
      </p:sp>
      <p:sp>
        <p:nvSpPr>
          <p:cNvPr id="3" name="card"/>
          <p:cNvSpPr/>
          <p:nvPr/>
        </p:nvSpPr>
        <p:spPr>
          <a:xfrm>
            <a:off x="457200" y="1097280"/>
            <a:ext cx="2651760" cy="2148840"/>
          </a:xfrm>
          <a:prstGeom prst="roundRect">
            <a:avLst>
              <a:gd name="adj" fmla="val 2553"/>
            </a:avLst>
          </a:prstGeom>
          <a:solidFill>
            <a:srgbClr val="F6F2FB"/>
          </a:solidFill>
          <a:ln w="12700">
            <a:solidFill>
              <a:srgbClr val="F6F2FB"/>
            </a:solidFill>
            <a:prstDash val="solid"/>
          </a:ln>
        </p:spPr>
      </p:sp>
      <p:pic>
        <p:nvPicPr>
          <p:cNvPr id="4" name="benchmark-0" descr="/home/claude/repo/real-time-fraud-detection-main/docs/performance/benchmark_throughput.png">    </p:cNvPr>
          <p:cNvPicPr>
            <a:picLocks noChangeAspect="1"/>
          </p:cNvPicPr>
          <p:nvPr/>
        </p:nvPicPr>
        <p:blipFill>
          <a:blip r:embed="rId1"/>
          <a:stretch>
            <a:fillRect/>
          </a:stretch>
        </p:blipFill>
        <p:spPr>
          <a:xfrm>
            <a:off x="530352" y="1388872"/>
            <a:ext cx="2505456" cy="1391920"/>
          </a:xfrm>
          <a:prstGeom prst="rect">
            <a:avLst/>
          </a:prstGeom>
        </p:spPr>
      </p:pic>
      <p:sp>
        <p:nvSpPr>
          <p:cNvPr id="5" name="Text 2"/>
          <p:cNvSpPr txBox="1"/>
          <p:nvPr/>
        </p:nvSpPr>
        <p:spPr>
          <a:xfrm>
            <a:off x="457200" y="2971800"/>
            <a:ext cx="2651760" cy="228600"/>
          </a:xfrm>
          <a:prstGeom prst="rect">
            <a:avLst/>
          </a:prstGeom>
          <a:noFill/>
          <a:ln/>
        </p:spPr>
        <p:txBody>
          <a:bodyPr wrap="square" lIns="0" tIns="0" rIns="0" bIns="0" rtlCol="0" anchor="t"/>
          <a:lstStyle/>
          <a:p>
            <a:pPr algn="ctr" indent="0" marL="0">
              <a:buNone/>
            </a:pPr>
            <a:r>
              <a:rPr lang="en-US" sz="1050" i="1" dirty="0">
                <a:solidFill>
                  <a:srgbClr val="6E6A80"/>
                </a:solidFill>
                <a:latin typeface="Calibri" pitchFamily="34" charset="0"/>
                <a:ea typeface="Calibri" pitchFamily="34" charset="-122"/>
                <a:cs typeface="Calibri" pitchFamily="34" charset="-120"/>
              </a:rPr>
              <a:t>Throughput</a:t>
            </a:r>
            <a:endParaRPr lang="en-US" sz="1050" dirty="0"/>
          </a:p>
        </p:txBody>
      </p:sp>
      <p:sp>
        <p:nvSpPr>
          <p:cNvPr id="6" name="card"/>
          <p:cNvSpPr/>
          <p:nvPr/>
        </p:nvSpPr>
        <p:spPr>
          <a:xfrm>
            <a:off x="3264408" y="1097280"/>
            <a:ext cx="2651760" cy="2148840"/>
          </a:xfrm>
          <a:prstGeom prst="roundRect">
            <a:avLst>
              <a:gd name="adj" fmla="val 2553"/>
            </a:avLst>
          </a:prstGeom>
          <a:solidFill>
            <a:srgbClr val="F6F2FB"/>
          </a:solidFill>
          <a:ln w="12700">
            <a:solidFill>
              <a:srgbClr val="F6F2FB"/>
            </a:solidFill>
            <a:prstDash val="solid"/>
          </a:ln>
        </p:spPr>
      </p:sp>
      <p:pic>
        <p:nvPicPr>
          <p:cNvPr id="7" name="benchmark-1" descr="/home/claude/repo/real-time-fraud-detection-main/docs/performance/benchmark_p95_latency.png">    </p:cNvPr>
          <p:cNvPicPr>
            <a:picLocks noChangeAspect="1"/>
          </p:cNvPicPr>
          <p:nvPr/>
        </p:nvPicPr>
        <p:blipFill>
          <a:blip r:embed="rId2"/>
          <a:stretch>
            <a:fillRect/>
          </a:stretch>
        </p:blipFill>
        <p:spPr>
          <a:xfrm>
            <a:off x="3337560" y="1388872"/>
            <a:ext cx="2505456" cy="1391920"/>
          </a:xfrm>
          <a:prstGeom prst="rect">
            <a:avLst/>
          </a:prstGeom>
        </p:spPr>
      </p:pic>
      <p:sp>
        <p:nvSpPr>
          <p:cNvPr id="8" name="Text 4"/>
          <p:cNvSpPr txBox="1"/>
          <p:nvPr/>
        </p:nvSpPr>
        <p:spPr>
          <a:xfrm>
            <a:off x="3264408" y="2971800"/>
            <a:ext cx="2651760" cy="228600"/>
          </a:xfrm>
          <a:prstGeom prst="rect">
            <a:avLst/>
          </a:prstGeom>
          <a:noFill/>
          <a:ln/>
        </p:spPr>
        <p:txBody>
          <a:bodyPr wrap="square" lIns="0" tIns="0" rIns="0" bIns="0" rtlCol="0" anchor="t"/>
          <a:lstStyle/>
          <a:p>
            <a:pPr algn="ctr" indent="0" marL="0">
              <a:buNone/>
            </a:pPr>
            <a:r>
              <a:rPr lang="en-US" sz="1050" i="1" dirty="0">
                <a:solidFill>
                  <a:srgbClr val="6E6A80"/>
                </a:solidFill>
                <a:latin typeface="Calibri" pitchFamily="34" charset="0"/>
                <a:ea typeface="Calibri" pitchFamily="34" charset="-122"/>
                <a:cs typeface="Calibri" pitchFamily="34" charset="-120"/>
              </a:rPr>
              <a:t>P95 trigger latency</a:t>
            </a:r>
            <a:endParaRPr lang="en-US" sz="1050" dirty="0"/>
          </a:p>
        </p:txBody>
      </p:sp>
      <p:sp>
        <p:nvSpPr>
          <p:cNvPr id="9" name="card"/>
          <p:cNvSpPr/>
          <p:nvPr/>
        </p:nvSpPr>
        <p:spPr>
          <a:xfrm>
            <a:off x="6071616" y="1097280"/>
            <a:ext cx="2651760" cy="2148840"/>
          </a:xfrm>
          <a:prstGeom prst="roundRect">
            <a:avLst>
              <a:gd name="adj" fmla="val 2553"/>
            </a:avLst>
          </a:prstGeom>
          <a:solidFill>
            <a:srgbClr val="F6F2FB"/>
          </a:solidFill>
          <a:ln w="12700">
            <a:solidFill>
              <a:srgbClr val="F6F2FB"/>
            </a:solidFill>
            <a:prstDash val="solid"/>
          </a:ln>
        </p:spPr>
      </p:sp>
      <p:pic>
        <p:nvPicPr>
          <p:cNvPr id="10" name="benchmark-2" descr="/home/claude/repo/real-time-fraud-detection-main/docs/performance/benchmark_state_memory.png">    </p:cNvPr>
          <p:cNvPicPr>
            <a:picLocks noChangeAspect="1"/>
          </p:cNvPicPr>
          <p:nvPr/>
        </p:nvPicPr>
        <p:blipFill>
          <a:blip r:embed="rId3"/>
          <a:stretch>
            <a:fillRect/>
          </a:stretch>
        </p:blipFill>
        <p:spPr>
          <a:xfrm>
            <a:off x="6144768" y="1388872"/>
            <a:ext cx="2505456" cy="1391920"/>
          </a:xfrm>
          <a:prstGeom prst="rect">
            <a:avLst/>
          </a:prstGeom>
        </p:spPr>
      </p:pic>
      <p:sp>
        <p:nvSpPr>
          <p:cNvPr id="11" name="Text 6"/>
          <p:cNvSpPr txBox="1"/>
          <p:nvPr/>
        </p:nvSpPr>
        <p:spPr>
          <a:xfrm>
            <a:off x="6071616" y="2971800"/>
            <a:ext cx="2651760" cy="228600"/>
          </a:xfrm>
          <a:prstGeom prst="rect">
            <a:avLst/>
          </a:prstGeom>
          <a:noFill/>
          <a:ln/>
        </p:spPr>
        <p:txBody>
          <a:bodyPr wrap="square" lIns="0" tIns="0" rIns="0" bIns="0" rtlCol="0" anchor="t"/>
          <a:lstStyle/>
          <a:p>
            <a:pPr algn="ctr" indent="0" marL="0">
              <a:buNone/>
            </a:pPr>
            <a:r>
              <a:rPr lang="en-US" sz="1050" i="1" dirty="0">
                <a:solidFill>
                  <a:srgbClr val="6E6A80"/>
                </a:solidFill>
                <a:latin typeface="Calibri" pitchFamily="34" charset="0"/>
                <a:ea typeface="Calibri" pitchFamily="34" charset="-122"/>
                <a:cs typeface="Calibri" pitchFamily="34" charset="-120"/>
              </a:rPr>
              <a:t>State-store memory</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474720"/>
          <a:ext cx="8229600" cy="914400"/>
        </p:xfrm>
        <a:graphic>
          <a:graphicData uri="http://schemas.openxmlformats.org/drawingml/2006/table">
            <a:tbl>
              <a:tblPr/>
              <a:tblGrid>
                <a:gridCol w="914400"/>
                <a:gridCol w="1280160"/>
                <a:gridCol w="2377440"/>
                <a:gridCol w="2103120"/>
                <a:gridCol w="155448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Workload</a:t>
                      </a:r>
                      <a:endParaRPr lang="en-US" sz="105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Partitions</a:t>
                      </a:r>
                      <a:endParaRPr lang="en-US" sz="105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Rows/s</a:t>
                      </a:r>
                      <a:endParaRPr lang="en-US" sz="105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P95 (ms)</a:t>
                      </a:r>
                      <a:endParaRPr lang="en-US" sz="105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State MB</a:t>
                      </a:r>
                      <a:endParaRPr lang="en-US" sz="105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4B2A6E"/>
                    </a:solidFill>
                  </a:tcPr>
                </a:tc>
              </a:tr>
              <a:tr h="329184">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balanced</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4 / 8 / 16 / 32</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5,655 / 5,248 / 4,295 / 3,340</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1,066 / 1,150 / 1,315 / 1,637</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10.4 / 10.1 / 10.7 / 13.1</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skewed</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4 / 8 / 16 / 32</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7,469 / 6,450 / 5,154 / 3,362</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893 / 829 / 1,092 / 1,723</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c>
                  <a:txBody>
                    <a:bodyPr/>
                    <a:lstStyle/>
                    <a:p>
                      <a:pPr indent="0" marL="0">
                        <a:buNone/>
                      </a:pPr>
                      <a:r>
                        <a:rPr lang="en-US" sz="1000" dirty="0">
                          <a:solidFill>
                            <a:srgbClr val="1E1230"/>
                          </a:solidFill>
                          <a:latin typeface="Calibri" pitchFamily="34" charset="0"/>
                          <a:ea typeface="Calibri" pitchFamily="34" charset="-122"/>
                          <a:cs typeface="Calibri" pitchFamily="34" charset="-120"/>
                        </a:rPr>
                        <a:t>1.09 / 1.14 / 1.20 / 1.34</a:t>
                      </a:r>
                      <a:endParaRPr lang="en-US" sz="1000" dirty="0">
                        <a:latin typeface="Calibri" charset="0"/>
                        <a:ea typeface="Calibri" charset="0"/>
                        <a:cs typeface="Calibri" charset="0"/>
                      </a:endParaRPr>
                    </a:p>
                  </a:txBody>
                  <a:tcPr marL="54864" marR="54864" marT="0" marB="0" anchor="ctr">
                    <a:lnL w="6350" cap="flat" cmpd="sng" algn="ctr">
                      <a:solidFill>
                        <a:srgbClr val="E6E0F0"/>
                      </a:solidFill>
                      <a:prstDash val="solid"/>
                      <a:round/>
                      <a:headEnd type="none" w="med" len="med"/>
                      <a:tailEnd type="none" w="med" len="med"/>
                    </a:lnL>
                    <a:lnR w="6350" cap="flat" cmpd="sng" algn="ctr">
                      <a:solidFill>
                        <a:srgbClr val="E6E0F0"/>
                      </a:solidFill>
                      <a:prstDash val="solid"/>
                      <a:round/>
                      <a:headEnd type="none" w="med" len="med"/>
                      <a:tailEnd type="none" w="med" len="med"/>
                    </a:lnR>
                    <a:lnT w="6350" cap="flat" cmpd="sng" algn="ctr">
                      <a:solidFill>
                        <a:srgbClr val="E6E0F0"/>
                      </a:solidFill>
                      <a:prstDash val="solid"/>
                      <a:round/>
                      <a:headEnd type="none" w="med" len="med"/>
                      <a:tailEnd type="none" w="med" len="med"/>
                    </a:lnT>
                    <a:lnB w="6350" cap="flat" cmpd="sng" algn="ctr">
                      <a:solidFill>
                        <a:srgbClr val="E6E0F0"/>
                      </a:solidFill>
                      <a:prstDash val="solid"/>
                      <a:round/>
                      <a:headEnd type="none" w="med" len="med"/>
                      <a:tailEnd type="none" w="med" len="med"/>
                    </a:lnB>
                    <a:solidFill>
                      <a:srgbClr val="F6F2FB"/>
                    </a:solidFill>
                  </a:tcPr>
                </a:tc>
              </a:tr>
            </a:tbl>
          </a:graphicData>
        </a:graphic>
      </p:graphicFrame>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Fraud Command Center: overview</a:t>
            </a:r>
            <a:endParaRPr lang="en-US" sz="2600" dirty="0"/>
          </a:p>
        </p:txBody>
      </p:sp>
      <p:sp>
        <p:nvSpPr>
          <p:cNvPr id="3" name="card"/>
          <p:cNvSpPr/>
          <p:nvPr/>
        </p:nvSpPr>
        <p:spPr>
          <a:xfrm>
            <a:off x="457200" y="1005840"/>
            <a:ext cx="5669280" cy="3520440"/>
          </a:xfrm>
          <a:prstGeom prst="roundRect">
            <a:avLst>
              <a:gd name="adj" fmla="val 1558"/>
            </a:avLst>
          </a:prstGeom>
          <a:solidFill>
            <a:srgbClr val="0E1117"/>
          </a:solidFill>
          <a:ln w="12700">
            <a:solidFill>
              <a:srgbClr val="0E1117"/>
            </a:solidFill>
            <a:prstDash val="solid"/>
          </a:ln>
        </p:spPr>
      </p:sp>
      <p:pic>
        <p:nvPicPr>
          <p:cNvPr id="4" name="dashboard-screenshot" descr="/home/claude/repo/real-time-fraud-detection-main/docs/screenshots/dashboard-overview.png">    </p:cNvPr>
          <p:cNvPicPr>
            <a:picLocks noChangeAspect="1"/>
          </p:cNvPicPr>
          <p:nvPr/>
        </p:nvPicPr>
        <p:blipFill>
          <a:blip r:embed="rId1"/>
          <a:stretch>
            <a:fillRect/>
          </a:stretch>
        </p:blipFill>
        <p:spPr>
          <a:xfrm>
            <a:off x="502920" y="1453528"/>
            <a:ext cx="5577840" cy="2625065"/>
          </a:xfrm>
          <a:prstGeom prst="rect">
            <a:avLst/>
          </a:prstGeom>
        </p:spPr>
      </p:pic>
      <p:sp>
        <p:nvSpPr>
          <p:cNvPr id="5" name="card"/>
          <p:cNvSpPr/>
          <p:nvPr/>
        </p:nvSpPr>
        <p:spPr>
          <a:xfrm>
            <a:off x="6309360" y="1005840"/>
            <a:ext cx="2377440" cy="1051560"/>
          </a:xfrm>
          <a:prstGeom prst="roundRect">
            <a:avLst>
              <a:gd name="adj" fmla="val 5217"/>
            </a:avLst>
          </a:prstGeom>
          <a:solidFill>
            <a:srgbClr val="4B2A6E"/>
          </a:solidFill>
          <a:ln w="12700">
            <a:solidFill>
              <a:srgbClr val="4B2A6E"/>
            </a:solidFill>
            <a:prstDash val="solid"/>
          </a:ln>
        </p:spPr>
      </p:sp>
      <p:sp>
        <p:nvSpPr>
          <p:cNvPr id="6" name="Text 3"/>
          <p:cNvSpPr txBox="1"/>
          <p:nvPr/>
        </p:nvSpPr>
        <p:spPr>
          <a:xfrm>
            <a:off x="6309360" y="1051560"/>
            <a:ext cx="2377440" cy="502920"/>
          </a:xfrm>
          <a:prstGeom prst="rect">
            <a:avLst/>
          </a:prstGeom>
          <a:noFill/>
          <a:ln/>
        </p:spPr>
        <p:txBody>
          <a:bodyPr wrap="square" lIns="0" tIns="0" rIns="0" bIns="0" rtlCol="0" anchor="t"/>
          <a:lstStyle/>
          <a:p>
            <a:pPr algn="ctr" indent="0" marL="0">
              <a:buNone/>
            </a:pPr>
            <a:r>
              <a:rPr lang="en-US" sz="2800" b="1" dirty="0">
                <a:solidFill>
                  <a:srgbClr val="FFFFFF"/>
                </a:solidFill>
                <a:latin typeface="Cambria" pitchFamily="34" charset="0"/>
                <a:ea typeface="Cambria" pitchFamily="34" charset="-122"/>
                <a:cs typeface="Cambria" pitchFamily="34" charset="-120"/>
              </a:rPr>
              <a:t>26,454</a:t>
            </a:r>
            <a:endParaRPr lang="en-US" sz="2800" dirty="0"/>
          </a:p>
        </p:txBody>
      </p:sp>
      <p:sp>
        <p:nvSpPr>
          <p:cNvPr id="7" name="Text 4"/>
          <p:cNvSpPr txBox="1"/>
          <p:nvPr/>
        </p:nvSpPr>
        <p:spPr>
          <a:xfrm>
            <a:off x="6309360" y="1600200"/>
            <a:ext cx="2377440" cy="274320"/>
          </a:xfrm>
          <a:prstGeom prst="rect">
            <a:avLst/>
          </a:prstGeom>
          <a:noFill/>
          <a:ln/>
        </p:spPr>
        <p:txBody>
          <a:bodyPr wrap="square" lIns="0" tIns="0" rIns="0" bIns="0" rtlCol="0" anchor="t"/>
          <a:lstStyle/>
          <a:p>
            <a:pPr algn="ctr" indent="0" marL="0">
              <a:buNone/>
            </a:pPr>
            <a:r>
              <a:rPr lang="en-US" sz="1100" dirty="0">
                <a:solidFill>
                  <a:srgbClr val="D9C8F5"/>
                </a:solidFill>
                <a:latin typeface="Calibri" pitchFamily="34" charset="0"/>
                <a:ea typeface="Calibri" pitchFamily="34" charset="-122"/>
                <a:cs typeface="Calibri" pitchFamily="34" charset="-120"/>
              </a:rPr>
              <a:t>transactions in snapshot</a:t>
            </a:r>
            <a:endParaRPr lang="en-US" sz="1100" dirty="0"/>
          </a:p>
        </p:txBody>
      </p:sp>
      <p:sp>
        <p:nvSpPr>
          <p:cNvPr id="8" name="card"/>
          <p:cNvSpPr/>
          <p:nvPr/>
        </p:nvSpPr>
        <p:spPr>
          <a:xfrm>
            <a:off x="6309360" y="2194560"/>
            <a:ext cx="2377440" cy="1051560"/>
          </a:xfrm>
          <a:prstGeom prst="roundRect">
            <a:avLst>
              <a:gd name="adj" fmla="val 5217"/>
            </a:avLst>
          </a:prstGeom>
          <a:solidFill>
            <a:srgbClr val="F6F2FB"/>
          </a:solidFill>
          <a:ln w="12700">
            <a:solidFill>
              <a:srgbClr val="F6F2FB"/>
            </a:solidFill>
            <a:prstDash val="solid"/>
          </a:ln>
        </p:spPr>
      </p:sp>
      <p:sp>
        <p:nvSpPr>
          <p:cNvPr id="9" name="Text 6"/>
          <p:cNvSpPr txBox="1"/>
          <p:nvPr/>
        </p:nvSpPr>
        <p:spPr>
          <a:xfrm>
            <a:off x="6309360" y="2240280"/>
            <a:ext cx="2377440" cy="502920"/>
          </a:xfrm>
          <a:prstGeom prst="rect">
            <a:avLst/>
          </a:prstGeom>
          <a:noFill/>
          <a:ln/>
        </p:spPr>
        <p:txBody>
          <a:bodyPr wrap="square" lIns="0" tIns="0" rIns="0" bIns="0" rtlCol="0" anchor="t"/>
          <a:lstStyle/>
          <a:p>
            <a:pPr algn="ctr" indent="0" marL="0">
              <a:buNone/>
            </a:pPr>
            <a:r>
              <a:rPr lang="en-US" sz="2800" b="1" dirty="0">
                <a:solidFill>
                  <a:srgbClr val="D6336C"/>
                </a:solidFill>
                <a:latin typeface="Cambria" pitchFamily="34" charset="0"/>
                <a:ea typeface="Cambria" pitchFamily="34" charset="-122"/>
                <a:cs typeface="Cambria" pitchFamily="34" charset="-120"/>
              </a:rPr>
              <a:t>2,160</a:t>
            </a:r>
            <a:endParaRPr lang="en-US" sz="2800" dirty="0"/>
          </a:p>
        </p:txBody>
      </p:sp>
      <p:sp>
        <p:nvSpPr>
          <p:cNvPr id="10" name="Text 7"/>
          <p:cNvSpPr txBox="1"/>
          <p:nvPr/>
        </p:nvSpPr>
        <p:spPr>
          <a:xfrm>
            <a:off x="6309360" y="2788920"/>
            <a:ext cx="2377440" cy="274320"/>
          </a:xfrm>
          <a:prstGeom prst="rect">
            <a:avLst/>
          </a:prstGeom>
          <a:noFill/>
          <a:ln/>
        </p:spPr>
        <p:txBody>
          <a:bodyPr wrap="square" lIns="0" tIns="0" rIns="0" bIns="0" rtlCol="0" anchor="t"/>
          <a:lstStyle/>
          <a:p>
            <a:pPr algn="ctr" indent="0" marL="0">
              <a:buNone/>
            </a:pPr>
            <a:r>
              <a:rPr lang="en-US" sz="1100" dirty="0">
                <a:solidFill>
                  <a:srgbClr val="6E6A80"/>
                </a:solidFill>
                <a:latin typeface="Calibri" pitchFamily="34" charset="0"/>
                <a:ea typeface="Calibri" pitchFamily="34" charset="-122"/>
                <a:cs typeface="Calibri" pitchFamily="34" charset="-120"/>
              </a:rPr>
              <a:t>fraud alerts (8.17%)</a:t>
            </a:r>
            <a:endParaRPr lang="en-US" sz="1100" dirty="0"/>
          </a:p>
        </p:txBody>
      </p:sp>
      <p:sp>
        <p:nvSpPr>
          <p:cNvPr id="11" name="card"/>
          <p:cNvSpPr/>
          <p:nvPr/>
        </p:nvSpPr>
        <p:spPr>
          <a:xfrm>
            <a:off x="6309360" y="3383280"/>
            <a:ext cx="2377440" cy="1143000"/>
          </a:xfrm>
          <a:prstGeom prst="roundRect">
            <a:avLst>
              <a:gd name="adj" fmla="val 4800"/>
            </a:avLst>
          </a:prstGeom>
          <a:solidFill>
            <a:srgbClr val="F6F2FB"/>
          </a:solidFill>
          <a:ln w="12700">
            <a:solidFill>
              <a:srgbClr val="F6F2FB"/>
            </a:solidFill>
            <a:prstDash val="solid"/>
          </a:ln>
        </p:spPr>
      </p:sp>
      <p:sp>
        <p:nvSpPr>
          <p:cNvPr id="12" name="Text 9"/>
          <p:cNvSpPr txBox="1"/>
          <p:nvPr/>
        </p:nvSpPr>
        <p:spPr>
          <a:xfrm>
            <a:off x="6400800" y="3456432"/>
            <a:ext cx="2194560" cy="1005840"/>
          </a:xfrm>
          <a:prstGeom prst="rect">
            <a:avLst/>
          </a:prstGeom>
          <a:noFill/>
          <a:ln/>
        </p:spPr>
        <p:txBody>
          <a:bodyPr wrap="square" lIns="0" tIns="0" rIns="0" bIns="0" rtlCol="0" anchor="t"/>
          <a:lstStyle/>
          <a:p>
            <a:pPr indent="0" marL="0">
              <a:buNone/>
            </a:pPr>
            <a:r>
              <a:rPr lang="en-US" sz="1050" dirty="0">
                <a:solidFill>
                  <a:srgbClr val="6E6A80"/>
                </a:solidFill>
                <a:latin typeface="Calibri" pitchFamily="34" charset="0"/>
                <a:ea typeface="Calibri" pitchFamily="34" charset="-122"/>
                <a:cs typeface="Calibri" pitchFamily="34" charset="-120"/>
              </a:rPr>
              <a:t>Replayed demo stream: alert rate is not precision. 254 critical alerts, 1,969 users.</a:t>
            </a:r>
            <a:endParaRPr lang="en-US" sz="10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Explainable fraud alerts</a:t>
            </a:r>
            <a:endParaRPr lang="en-US" sz="2600" dirty="0"/>
          </a:p>
        </p:txBody>
      </p:sp>
      <p:sp>
        <p:nvSpPr>
          <p:cNvPr id="3" name="card"/>
          <p:cNvSpPr/>
          <p:nvPr/>
        </p:nvSpPr>
        <p:spPr>
          <a:xfrm>
            <a:off x="457200" y="1005840"/>
            <a:ext cx="8229600" cy="2743200"/>
          </a:xfrm>
          <a:prstGeom prst="roundRect">
            <a:avLst>
              <a:gd name="adj" fmla="val 2000"/>
            </a:avLst>
          </a:prstGeom>
          <a:solidFill>
            <a:srgbClr val="0E1117"/>
          </a:solidFill>
          <a:ln w="12700">
            <a:solidFill>
              <a:srgbClr val="0E1117"/>
            </a:solidFill>
            <a:prstDash val="solid"/>
          </a:ln>
        </p:spPr>
      </p:sp>
      <p:pic>
        <p:nvPicPr>
          <p:cNvPr id="4" name="alerts-screenshot" descr="/home/claude/repo/real-time-fraud-detection-main/docs/screenshots/recent-alerts.png">    </p:cNvPr>
          <p:cNvPicPr>
            <a:picLocks noChangeAspect="1"/>
          </p:cNvPicPr>
          <p:nvPr/>
        </p:nvPicPr>
        <p:blipFill>
          <a:blip r:embed="rId1"/>
          <a:stretch>
            <a:fillRect/>
          </a:stretch>
        </p:blipFill>
        <p:spPr>
          <a:xfrm>
            <a:off x="665829" y="1051560"/>
            <a:ext cx="7812341" cy="2651760"/>
          </a:xfrm>
          <a:prstGeom prst="rect">
            <a:avLst/>
          </a:prstGeom>
        </p:spPr>
      </p:pic>
      <p:sp>
        <p:nvSpPr>
          <p:cNvPr id="5" name="card"/>
          <p:cNvSpPr/>
          <p:nvPr/>
        </p:nvSpPr>
        <p:spPr>
          <a:xfrm>
            <a:off x="457200" y="3886200"/>
            <a:ext cx="2651760" cy="868680"/>
          </a:xfrm>
          <a:prstGeom prst="roundRect">
            <a:avLst>
              <a:gd name="adj" fmla="val 6316"/>
            </a:avLst>
          </a:prstGeom>
          <a:solidFill>
            <a:srgbClr val="F6F2FB"/>
          </a:solidFill>
          <a:ln w="12700">
            <a:solidFill>
              <a:srgbClr val="F6F2FB"/>
            </a:solidFill>
            <a:prstDash val="solid"/>
          </a:ln>
        </p:spPr>
      </p:sp>
      <p:sp>
        <p:nvSpPr>
          <p:cNvPr id="6" name="Text 3"/>
          <p:cNvSpPr txBox="1"/>
          <p:nvPr/>
        </p:nvSpPr>
        <p:spPr>
          <a:xfrm>
            <a:off x="594360" y="3931920"/>
            <a:ext cx="2377440" cy="201168"/>
          </a:xfrm>
          <a:prstGeom prst="rect">
            <a:avLst/>
          </a:prstGeom>
          <a:noFill/>
          <a:ln/>
        </p:spPr>
        <p:txBody>
          <a:bodyPr wrap="square" lIns="0" tIns="0" rIns="0" bIns="0" rtlCol="0" anchor="t"/>
          <a:lstStyle/>
          <a:p>
            <a:pPr indent="0" marL="0">
              <a:buNone/>
            </a:pPr>
            <a:r>
              <a:rPr lang="en-US" sz="1100" b="1" dirty="0">
                <a:solidFill>
                  <a:srgbClr val="D6336C"/>
                </a:solidFill>
                <a:latin typeface="Cambria" pitchFamily="34" charset="0"/>
                <a:ea typeface="Cambria" pitchFamily="34" charset="-122"/>
                <a:cs typeface="Cambria" pitchFamily="34" charset="-120"/>
              </a:rPr>
              <a:t>CRITICAL example</a:t>
            </a:r>
            <a:endParaRPr lang="en-US" sz="1100" dirty="0"/>
          </a:p>
        </p:txBody>
      </p:sp>
      <p:sp>
        <p:nvSpPr>
          <p:cNvPr id="7" name="Text 4"/>
          <p:cNvSpPr txBox="1"/>
          <p:nvPr/>
        </p:nvSpPr>
        <p:spPr>
          <a:xfrm>
            <a:off x="594360" y="4142232"/>
            <a:ext cx="2423160" cy="594360"/>
          </a:xfrm>
          <a:prstGeom prst="rect">
            <a:avLst/>
          </a:prstGeom>
          <a:noFill/>
          <a:ln/>
        </p:spPr>
        <p:txBody>
          <a:bodyPr wrap="square" lIns="0" tIns="0" rIns="0" bIns="0" rtlCol="0" anchor="t"/>
          <a:lstStyle/>
          <a:p>
            <a:pPr indent="0" marL="0">
              <a:buNone/>
            </a:pPr>
            <a:r>
              <a:rPr lang="en-US" sz="950" dirty="0">
                <a:solidFill>
                  <a:srgbClr val="6E6A80"/>
                </a:solidFill>
                <a:latin typeface="Calibri" pitchFamily="34" charset="0"/>
                <a:ea typeface="Calibri" pitchFamily="34" charset="-122"/>
                <a:cs typeface="Calibri" pitchFamily="34" charset="-120"/>
              </a:rPr>
              <a:t>user_000007, amount 1,045.23, ratio 4.2, rule score 13, ML probability 0.726 → RULE_ML_CONFIRMATION</a:t>
            </a:r>
            <a:endParaRPr lang="en-US" sz="950" dirty="0"/>
          </a:p>
        </p:txBody>
      </p:sp>
      <p:sp>
        <p:nvSpPr>
          <p:cNvPr id="8" name="card"/>
          <p:cNvSpPr/>
          <p:nvPr/>
        </p:nvSpPr>
        <p:spPr>
          <a:xfrm>
            <a:off x="3264408" y="3886200"/>
            <a:ext cx="2651760" cy="868680"/>
          </a:xfrm>
          <a:prstGeom prst="roundRect">
            <a:avLst>
              <a:gd name="adj" fmla="val 6316"/>
            </a:avLst>
          </a:prstGeom>
          <a:solidFill>
            <a:srgbClr val="F6F2FB"/>
          </a:solidFill>
          <a:ln w="12700">
            <a:solidFill>
              <a:srgbClr val="F6F2FB"/>
            </a:solidFill>
            <a:prstDash val="solid"/>
          </a:ln>
        </p:spPr>
      </p:sp>
      <p:sp>
        <p:nvSpPr>
          <p:cNvPr id="9" name="Text 6"/>
          <p:cNvSpPr txBox="1"/>
          <p:nvPr/>
        </p:nvSpPr>
        <p:spPr>
          <a:xfrm>
            <a:off x="3401568" y="3931920"/>
            <a:ext cx="2377440" cy="201168"/>
          </a:xfrm>
          <a:prstGeom prst="rect">
            <a:avLst/>
          </a:prstGeom>
          <a:noFill/>
          <a:ln/>
        </p:spPr>
        <p:txBody>
          <a:bodyPr wrap="square" lIns="0" tIns="0" rIns="0" bIns="0" rtlCol="0" anchor="t"/>
          <a:lstStyle/>
          <a:p>
            <a:pPr indent="0" marL="0">
              <a:buNone/>
            </a:pPr>
            <a:r>
              <a:rPr lang="en-US" sz="1100" b="1" dirty="0">
                <a:solidFill>
                  <a:srgbClr val="1F9D74"/>
                </a:solidFill>
                <a:latin typeface="Cambria" pitchFamily="34" charset="0"/>
                <a:ea typeface="Cambria" pitchFamily="34" charset="-122"/>
                <a:cs typeface="Cambria" pitchFamily="34" charset="-120"/>
              </a:rPr>
              <a:t>ML path</a:t>
            </a:r>
            <a:endParaRPr lang="en-US" sz="1100" dirty="0"/>
          </a:p>
        </p:txBody>
      </p:sp>
      <p:sp>
        <p:nvSpPr>
          <p:cNvPr id="10" name="Text 7"/>
          <p:cNvSpPr txBox="1"/>
          <p:nvPr/>
        </p:nvSpPr>
        <p:spPr>
          <a:xfrm>
            <a:off x="3401568" y="4142232"/>
            <a:ext cx="2423160" cy="594360"/>
          </a:xfrm>
          <a:prstGeom prst="rect">
            <a:avLst/>
          </a:prstGeom>
          <a:noFill/>
          <a:ln/>
        </p:spPr>
        <p:txBody>
          <a:bodyPr wrap="square" lIns="0" tIns="0" rIns="0" bIns="0" rtlCol="0" anchor="t"/>
          <a:lstStyle/>
          <a:p>
            <a:pPr indent="0" marL="0">
              <a:buNone/>
            </a:pPr>
            <a:r>
              <a:rPr lang="en-US" sz="950" dirty="0">
                <a:solidFill>
                  <a:srgbClr val="6E6A80"/>
                </a:solidFill>
                <a:latin typeface="Calibri" pitchFamily="34" charset="0"/>
                <a:ea typeface="Calibri" pitchFamily="34" charset="-122"/>
                <a:cs typeface="Calibri" pitchFamily="34" charset="-120"/>
              </a:rPr>
              <a:t>Alerts with probability 0.86 used ML_HIGH_CONFIDENCE</a:t>
            </a:r>
            <a:endParaRPr lang="en-US" sz="950" dirty="0"/>
          </a:p>
        </p:txBody>
      </p:sp>
      <p:sp>
        <p:nvSpPr>
          <p:cNvPr id="11" name="card"/>
          <p:cNvSpPr/>
          <p:nvPr/>
        </p:nvSpPr>
        <p:spPr>
          <a:xfrm>
            <a:off x="6071616" y="3886200"/>
            <a:ext cx="2651760" cy="868680"/>
          </a:xfrm>
          <a:prstGeom prst="roundRect">
            <a:avLst>
              <a:gd name="adj" fmla="val 6316"/>
            </a:avLst>
          </a:prstGeom>
          <a:solidFill>
            <a:srgbClr val="F6F2FB"/>
          </a:solidFill>
          <a:ln w="12700">
            <a:solidFill>
              <a:srgbClr val="F6F2FB"/>
            </a:solidFill>
            <a:prstDash val="solid"/>
          </a:ln>
        </p:spPr>
      </p:sp>
      <p:sp>
        <p:nvSpPr>
          <p:cNvPr id="12" name="Text 9"/>
          <p:cNvSpPr txBox="1"/>
          <p:nvPr/>
        </p:nvSpPr>
        <p:spPr>
          <a:xfrm>
            <a:off x="6208776" y="3931920"/>
            <a:ext cx="2377440" cy="201168"/>
          </a:xfrm>
          <a:prstGeom prst="rect">
            <a:avLst/>
          </a:prstGeom>
          <a:noFill/>
          <a:ln/>
        </p:spPr>
        <p:txBody>
          <a:bodyPr wrap="square" lIns="0" tIns="0" rIns="0" bIns="0" rtlCol="0" anchor="t"/>
          <a:lstStyle/>
          <a:p>
            <a:pPr indent="0" marL="0">
              <a:buNone/>
            </a:pPr>
            <a:r>
              <a:rPr lang="en-US" sz="1100" b="1" dirty="0">
                <a:solidFill>
                  <a:srgbClr val="8E5FD1"/>
                </a:solidFill>
                <a:latin typeface="Cambria" pitchFamily="34" charset="0"/>
                <a:ea typeface="Cambria" pitchFamily="34" charset="-122"/>
                <a:cs typeface="Cambria" pitchFamily="34" charset="-120"/>
              </a:rPr>
              <a:t>Columns</a:t>
            </a:r>
            <a:endParaRPr lang="en-US" sz="1100" dirty="0"/>
          </a:p>
        </p:txBody>
      </p:sp>
      <p:sp>
        <p:nvSpPr>
          <p:cNvPr id="13" name="Text 10"/>
          <p:cNvSpPr txBox="1"/>
          <p:nvPr/>
        </p:nvSpPr>
        <p:spPr>
          <a:xfrm>
            <a:off x="6208776" y="4142232"/>
            <a:ext cx="2423160" cy="594360"/>
          </a:xfrm>
          <a:prstGeom prst="rect">
            <a:avLst/>
          </a:prstGeom>
          <a:noFill/>
          <a:ln/>
        </p:spPr>
        <p:txBody>
          <a:bodyPr wrap="square" lIns="0" tIns="0" rIns="0" bIns="0" rtlCol="0" anchor="t"/>
          <a:lstStyle/>
          <a:p>
            <a:pPr indent="0" marL="0">
              <a:buNone/>
            </a:pPr>
            <a:r>
              <a:rPr lang="en-US" sz="950" dirty="0">
                <a:solidFill>
                  <a:srgbClr val="6E6A80"/>
                </a:solidFill>
                <a:latin typeface="Calibri" pitchFamily="34" charset="0"/>
                <a:ea typeface="Calibri" pitchFamily="34" charset="-122"/>
                <a:cs typeface="Calibri" pitchFamily="34" charset="-120"/>
              </a:rPr>
              <a:t>Amount, deviation ratio, 10-min count, device flag, rule score, probability, severity, basis, reasons</a:t>
            </a:r>
            <a:endParaRPr lang="en-US" sz="9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Engineering health tab</a:t>
            </a:r>
            <a:endParaRPr lang="en-US" sz="2600" dirty="0"/>
          </a:p>
        </p:txBody>
      </p:sp>
      <p:sp>
        <p:nvSpPr>
          <p:cNvPr id="3" name="card"/>
          <p:cNvSpPr/>
          <p:nvPr/>
        </p:nvSpPr>
        <p:spPr>
          <a:xfrm>
            <a:off x="457200" y="1051560"/>
            <a:ext cx="8229600" cy="2011680"/>
          </a:xfrm>
          <a:prstGeom prst="roundRect">
            <a:avLst>
              <a:gd name="adj" fmla="val 2727"/>
            </a:avLst>
          </a:prstGeom>
          <a:solidFill>
            <a:srgbClr val="0E1117"/>
          </a:solidFill>
          <a:ln w="12700">
            <a:solidFill>
              <a:srgbClr val="0E1117"/>
            </a:solidFill>
            <a:prstDash val="solid"/>
          </a:ln>
        </p:spPr>
      </p:sp>
      <p:pic>
        <p:nvPicPr>
          <p:cNvPr id="4" name="health-screenshot" descr="/home/claude/repo/real-time-fraud-detection-main/docs/screenshots/engineering-health.png">    </p:cNvPr>
          <p:cNvPicPr>
            <a:picLocks noChangeAspect="1"/>
          </p:cNvPicPr>
          <p:nvPr/>
        </p:nvPicPr>
        <p:blipFill>
          <a:blip r:embed="rId1"/>
          <a:stretch>
            <a:fillRect/>
          </a:stretch>
        </p:blipFill>
        <p:spPr>
          <a:xfrm>
            <a:off x="618565" y="1097280"/>
            <a:ext cx="7906871" cy="1920240"/>
          </a:xfrm>
          <a:prstGeom prst="rect">
            <a:avLst/>
          </a:prstGeom>
        </p:spPr>
      </p:pic>
      <p:sp>
        <p:nvSpPr>
          <p:cNvPr id="5" name="card"/>
          <p:cNvSpPr/>
          <p:nvPr/>
        </p:nvSpPr>
        <p:spPr>
          <a:xfrm>
            <a:off x="457200" y="3246120"/>
            <a:ext cx="2651760" cy="1325880"/>
          </a:xfrm>
          <a:prstGeom prst="roundRect">
            <a:avLst>
              <a:gd name="adj" fmla="val 4138"/>
            </a:avLst>
          </a:prstGeom>
          <a:solidFill>
            <a:srgbClr val="F6F2FB"/>
          </a:solidFill>
          <a:ln w="12700">
            <a:solidFill>
              <a:srgbClr val="F6F2FB"/>
            </a:solidFill>
            <a:prstDash val="solid"/>
          </a:ln>
        </p:spPr>
      </p:sp>
      <p:sp>
        <p:nvSpPr>
          <p:cNvPr id="6" name="Text 3"/>
          <p:cNvSpPr txBox="1"/>
          <p:nvPr/>
        </p:nvSpPr>
        <p:spPr>
          <a:xfrm>
            <a:off x="640080" y="3337560"/>
            <a:ext cx="2286000" cy="502920"/>
          </a:xfrm>
          <a:prstGeom prst="rect">
            <a:avLst/>
          </a:prstGeom>
          <a:noFill/>
          <a:ln/>
        </p:spPr>
        <p:txBody>
          <a:bodyPr wrap="square" lIns="0" tIns="0" rIns="0" bIns="0" rtlCol="0" anchor="t"/>
          <a:lstStyle/>
          <a:p>
            <a:pPr indent="0" marL="0">
              <a:buNone/>
            </a:pPr>
            <a:r>
              <a:rPr lang="en-US" sz="2800" b="1" dirty="0">
                <a:solidFill>
                  <a:srgbClr val="1F9D74"/>
                </a:solidFill>
                <a:latin typeface="Cambria" pitchFamily="34" charset="0"/>
                <a:ea typeface="Cambria" pitchFamily="34" charset="-122"/>
                <a:cs typeface="Cambria" pitchFamily="34" charset="-120"/>
              </a:rPr>
              <a:t>100%</a:t>
            </a:r>
            <a:endParaRPr lang="en-US" sz="2800" dirty="0"/>
          </a:p>
        </p:txBody>
      </p:sp>
      <p:sp>
        <p:nvSpPr>
          <p:cNvPr id="7" name="Text 4"/>
          <p:cNvSpPr txBox="1"/>
          <p:nvPr/>
        </p:nvSpPr>
        <p:spPr>
          <a:xfrm>
            <a:off x="640080" y="3886200"/>
            <a:ext cx="2331720" cy="45720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window-feature coverage</a:t>
            </a:r>
            <a:endParaRPr lang="en-US" sz="1100" dirty="0"/>
          </a:p>
        </p:txBody>
      </p:sp>
      <p:sp>
        <p:nvSpPr>
          <p:cNvPr id="8" name="card"/>
          <p:cNvSpPr/>
          <p:nvPr/>
        </p:nvSpPr>
        <p:spPr>
          <a:xfrm>
            <a:off x="3264408" y="3246120"/>
            <a:ext cx="2651760" cy="1325880"/>
          </a:xfrm>
          <a:prstGeom prst="roundRect">
            <a:avLst>
              <a:gd name="adj" fmla="val 4138"/>
            </a:avLst>
          </a:prstGeom>
          <a:solidFill>
            <a:srgbClr val="F6F2FB"/>
          </a:solidFill>
          <a:ln w="12700">
            <a:solidFill>
              <a:srgbClr val="F6F2FB"/>
            </a:solidFill>
            <a:prstDash val="solid"/>
          </a:ln>
        </p:spPr>
      </p:sp>
      <p:sp>
        <p:nvSpPr>
          <p:cNvPr id="9" name="Text 6"/>
          <p:cNvSpPr txBox="1"/>
          <p:nvPr/>
        </p:nvSpPr>
        <p:spPr>
          <a:xfrm>
            <a:off x="3447288" y="3337560"/>
            <a:ext cx="2286000" cy="502920"/>
          </a:xfrm>
          <a:prstGeom prst="rect">
            <a:avLst/>
          </a:prstGeom>
          <a:noFill/>
          <a:ln/>
        </p:spPr>
        <p:txBody>
          <a:bodyPr wrap="square" lIns="0" tIns="0" rIns="0" bIns="0" rtlCol="0" anchor="t"/>
          <a:lstStyle/>
          <a:p>
            <a:pPr indent="0" marL="0">
              <a:buNone/>
            </a:pPr>
            <a:r>
              <a:rPr lang="en-US" sz="2800" b="1" dirty="0">
                <a:solidFill>
                  <a:srgbClr val="8E5FD1"/>
                </a:solidFill>
                <a:latin typeface="Cambria" pitchFamily="34" charset="0"/>
                <a:ea typeface="Cambria" pitchFamily="34" charset="-122"/>
                <a:cs typeface="Cambria" pitchFamily="34" charset="-120"/>
              </a:rPr>
              <a:t>1,969</a:t>
            </a:r>
            <a:endParaRPr lang="en-US" sz="2800" dirty="0"/>
          </a:p>
        </p:txBody>
      </p:sp>
      <p:sp>
        <p:nvSpPr>
          <p:cNvPr id="10" name="Text 7"/>
          <p:cNvSpPr txBox="1"/>
          <p:nvPr/>
        </p:nvSpPr>
        <p:spPr>
          <a:xfrm>
            <a:off x="3447288" y="3886200"/>
            <a:ext cx="2331720" cy="45720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unique users in snapshot</a:t>
            </a:r>
            <a:endParaRPr lang="en-US" sz="1100" dirty="0"/>
          </a:p>
        </p:txBody>
      </p:sp>
      <p:sp>
        <p:nvSpPr>
          <p:cNvPr id="11" name="card"/>
          <p:cNvSpPr/>
          <p:nvPr/>
        </p:nvSpPr>
        <p:spPr>
          <a:xfrm>
            <a:off x="6071616" y="3246120"/>
            <a:ext cx="2651760" cy="1325880"/>
          </a:xfrm>
          <a:prstGeom prst="roundRect">
            <a:avLst>
              <a:gd name="adj" fmla="val 4138"/>
            </a:avLst>
          </a:prstGeom>
          <a:solidFill>
            <a:srgbClr val="F6F2FB"/>
          </a:solidFill>
          <a:ln w="12700">
            <a:solidFill>
              <a:srgbClr val="F6F2FB"/>
            </a:solidFill>
            <a:prstDash val="solid"/>
          </a:ln>
        </p:spPr>
      </p:sp>
      <p:sp>
        <p:nvSpPr>
          <p:cNvPr id="12" name="Text 9"/>
          <p:cNvSpPr txBox="1"/>
          <p:nvPr/>
        </p:nvSpPr>
        <p:spPr>
          <a:xfrm>
            <a:off x="6254496" y="3337560"/>
            <a:ext cx="2286000" cy="274320"/>
          </a:xfrm>
          <a:prstGeom prst="rect">
            <a:avLst/>
          </a:prstGeom>
          <a:noFill/>
          <a:ln/>
        </p:spPr>
        <p:txBody>
          <a:bodyPr wrap="square" lIns="0" tIns="0" rIns="0" bIns="0" rtlCol="0" anchor="t"/>
          <a:lstStyle/>
          <a:p>
            <a:pPr indent="0" marL="0">
              <a:buNone/>
            </a:pPr>
            <a:r>
              <a:rPr lang="en-US" sz="1400" b="1" dirty="0">
                <a:solidFill>
                  <a:srgbClr val="D6336C"/>
                </a:solidFill>
                <a:latin typeface="Cambria" pitchFamily="34" charset="0"/>
                <a:ea typeface="Cambria" pitchFamily="34" charset="-122"/>
                <a:cs typeface="Cambria" pitchFamily="34" charset="-120"/>
              </a:rPr>
              <a:t>Not Spark latency</a:t>
            </a:r>
            <a:endParaRPr lang="en-US" sz="1400" dirty="0"/>
          </a:p>
        </p:txBody>
      </p:sp>
      <p:sp>
        <p:nvSpPr>
          <p:cNvPr id="13" name="Text 10"/>
          <p:cNvSpPr txBox="1"/>
          <p:nvPr/>
        </p:nvSpPr>
        <p:spPr>
          <a:xfrm>
            <a:off x="6254496" y="3657600"/>
            <a:ext cx="2331720" cy="86868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Event-to-score time includes deliberately late replayed events and Kafka backlog; trigger latency is benchmarked separately</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Spark History Server evidence</a:t>
            </a:r>
            <a:endParaRPr lang="en-US" sz="2600" dirty="0"/>
          </a:p>
        </p:txBody>
      </p:sp>
      <p:sp>
        <p:nvSpPr>
          <p:cNvPr id="3" name="card"/>
          <p:cNvSpPr/>
          <p:nvPr/>
        </p:nvSpPr>
        <p:spPr>
          <a:xfrm>
            <a:off x="457200" y="1051560"/>
            <a:ext cx="4846320" cy="3474720"/>
          </a:xfrm>
          <a:prstGeom prst="roundRect">
            <a:avLst>
              <a:gd name="adj" fmla="val 1579"/>
            </a:avLst>
          </a:prstGeom>
          <a:solidFill>
            <a:srgbClr val="F6F2FB"/>
          </a:solidFill>
          <a:ln w="12700">
            <a:solidFill>
              <a:srgbClr val="F6F2FB"/>
            </a:solidFill>
            <a:prstDash val="solid"/>
          </a:ln>
        </p:spPr>
      </p:sp>
      <p:pic>
        <p:nvPicPr>
          <p:cNvPr id="4" name="spark-jobs-screenshot" descr="/home/claude/repo/real-time-fraud-detection-main/docs/screenshots/spark-history-server_Jobs.png">    </p:cNvPr>
          <p:cNvPicPr>
            <a:picLocks noChangeAspect="1"/>
          </p:cNvPicPr>
          <p:nvPr/>
        </p:nvPicPr>
        <p:blipFill>
          <a:blip r:embed="rId1"/>
          <a:stretch>
            <a:fillRect/>
          </a:stretch>
        </p:blipFill>
        <p:spPr>
          <a:xfrm>
            <a:off x="502920" y="1420004"/>
            <a:ext cx="4754880" cy="2280633"/>
          </a:xfrm>
          <a:prstGeom prst="rect">
            <a:avLst/>
          </a:prstGeom>
        </p:spPr>
      </p:pic>
      <p:sp>
        <p:nvSpPr>
          <p:cNvPr id="5" name="Text 2"/>
          <p:cNvSpPr txBox="1"/>
          <p:nvPr/>
        </p:nvSpPr>
        <p:spPr>
          <a:xfrm>
            <a:off x="457200" y="4160520"/>
            <a:ext cx="4846320" cy="274320"/>
          </a:xfrm>
          <a:prstGeom prst="rect">
            <a:avLst/>
          </a:prstGeom>
          <a:noFill/>
          <a:ln/>
        </p:spPr>
        <p:txBody>
          <a:bodyPr wrap="square" lIns="0" tIns="0" rIns="0" bIns="0" rtlCol="0" anchor="t"/>
          <a:lstStyle/>
          <a:p>
            <a:pPr algn="ctr" indent="0" marL="0">
              <a:buNone/>
            </a:pPr>
            <a:r>
              <a:rPr lang="en-US" sz="1050" i="1" dirty="0">
                <a:solidFill>
                  <a:srgbClr val="6E6A80"/>
                </a:solidFill>
                <a:latin typeface="Calibri" pitchFamily="34" charset="0"/>
                <a:ea typeface="Calibri" pitchFamily="34" charset="-122"/>
                <a:cs typeface="Calibri" pitchFamily="34" charset="-120"/>
              </a:rPr>
              <a:t>Jobs: 5 completed, all stages succeeded</a:t>
            </a:r>
            <a:endParaRPr lang="en-US" sz="1050" dirty="0"/>
          </a:p>
        </p:txBody>
      </p:sp>
      <p:sp>
        <p:nvSpPr>
          <p:cNvPr id="6" name="card"/>
          <p:cNvSpPr/>
          <p:nvPr/>
        </p:nvSpPr>
        <p:spPr>
          <a:xfrm>
            <a:off x="5486400" y="1051560"/>
            <a:ext cx="3200400" cy="1463040"/>
          </a:xfrm>
          <a:prstGeom prst="roundRect">
            <a:avLst>
              <a:gd name="adj" fmla="val 3750"/>
            </a:avLst>
          </a:prstGeom>
          <a:solidFill>
            <a:srgbClr val="F6F2FB"/>
          </a:solidFill>
          <a:ln w="12700">
            <a:solidFill>
              <a:srgbClr val="F6F2FB"/>
            </a:solidFill>
            <a:prstDash val="solid"/>
          </a:ln>
        </p:spPr>
      </p:sp>
      <p:pic>
        <p:nvPicPr>
          <p:cNvPr id="7" name="spark-executors-screenshot" descr="/home/claude/repo/real-time-fraud-detection-main/docs/screenshots/spark-history-server_executors.png">    </p:cNvPr>
          <p:cNvPicPr>
            <a:picLocks noChangeAspect="1"/>
          </p:cNvPicPr>
          <p:nvPr/>
        </p:nvPicPr>
        <p:blipFill>
          <a:blip r:embed="rId2"/>
          <a:stretch>
            <a:fillRect/>
          </a:stretch>
        </p:blipFill>
        <p:spPr>
          <a:xfrm>
            <a:off x="5532120" y="1253255"/>
            <a:ext cx="3108960" cy="1059651"/>
          </a:xfrm>
          <a:prstGeom prst="rect">
            <a:avLst/>
          </a:prstGeom>
        </p:spPr>
      </p:pic>
      <p:sp>
        <p:nvSpPr>
          <p:cNvPr id="8" name="card"/>
          <p:cNvSpPr/>
          <p:nvPr/>
        </p:nvSpPr>
        <p:spPr>
          <a:xfrm>
            <a:off x="5486400" y="2651760"/>
            <a:ext cx="3200400" cy="1874520"/>
          </a:xfrm>
          <a:prstGeom prst="roundRect">
            <a:avLst>
              <a:gd name="adj" fmla="val 2927"/>
            </a:avLst>
          </a:prstGeom>
          <a:solidFill>
            <a:srgbClr val="4B2A6E"/>
          </a:solidFill>
          <a:ln w="12700">
            <a:solidFill>
              <a:srgbClr val="4B2A6E"/>
            </a:solidFill>
            <a:prstDash val="solid"/>
          </a:ln>
        </p:spPr>
      </p:sp>
      <p:sp>
        <p:nvSpPr>
          <p:cNvPr id="9" name="Text 5"/>
          <p:cNvSpPr txBox="1"/>
          <p:nvPr/>
        </p:nvSpPr>
        <p:spPr>
          <a:xfrm>
            <a:off x="5669280" y="2743200"/>
            <a:ext cx="2834640" cy="27432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Executors</a:t>
            </a:r>
            <a:endParaRPr lang="en-US" sz="1400" dirty="0"/>
          </a:p>
        </p:txBody>
      </p:sp>
      <p:sp>
        <p:nvSpPr>
          <p:cNvPr id="10" name="Text 6"/>
          <p:cNvSpPr txBox="1"/>
          <p:nvPr/>
        </p:nvSpPr>
        <p:spPr>
          <a:xfrm>
            <a:off x="5669280" y="3108960"/>
            <a:ext cx="2834640" cy="12801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1 active executor, 16 cores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138 complete tasks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0 failed tasks</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Reliability, testing and deployment</a:t>
            </a:r>
            <a:endParaRPr lang="en-US" sz="2600" dirty="0"/>
          </a:p>
        </p:txBody>
      </p:sp>
      <p:sp>
        <p:nvSpPr>
          <p:cNvPr id="3" name="card"/>
          <p:cNvSpPr/>
          <p:nvPr/>
        </p:nvSpPr>
        <p:spPr>
          <a:xfrm>
            <a:off x="457200" y="1097280"/>
            <a:ext cx="2651760" cy="1280160"/>
          </a:xfrm>
          <a:prstGeom prst="roundRect">
            <a:avLst>
              <a:gd name="adj" fmla="val 4286"/>
            </a:avLst>
          </a:prstGeom>
          <a:solidFill>
            <a:srgbClr val="F6F2FB"/>
          </a:solidFill>
          <a:ln w="12700">
            <a:solidFill>
              <a:srgbClr val="F6F2FB"/>
            </a:solidFill>
            <a:prstDash val="solid"/>
          </a:ln>
        </p:spPr>
      </p:sp>
      <p:sp>
        <p:nvSpPr>
          <p:cNvPr id="4" name="badge"/>
          <p:cNvSpPr/>
          <p:nvPr/>
        </p:nvSpPr>
        <p:spPr>
          <a:xfrm>
            <a:off x="594360" y="1234440"/>
            <a:ext cx="457200" cy="457200"/>
          </a:xfrm>
          <a:prstGeom prst="ellipse">
            <a:avLst/>
          </a:prstGeom>
          <a:solidFill>
            <a:srgbClr val="8E5FD1"/>
          </a:solidFill>
          <a:ln w="12700">
            <a:solidFill>
              <a:srgbClr val="8E5FD1"/>
            </a:solidFill>
            <a:prstDash val="solid"/>
          </a:ln>
        </p:spPr>
      </p:sp>
      <p:sp>
        <p:nvSpPr>
          <p:cNvPr id="5" name="Text 3"/>
          <p:cNvSpPr txBox="1"/>
          <p:nvPr/>
        </p:nvSpPr>
        <p:spPr>
          <a:xfrm>
            <a:off x="594360" y="12344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6" name="icon" descr="preencoded.png">    </p:cNvPr>
          <p:cNvPicPr>
            <a:picLocks noChangeAspect="1"/>
          </p:cNvPicPr>
          <p:nvPr/>
        </p:nvPicPr>
        <p:blipFill>
          <a:blip r:embed="rId1"/>
          <a:stretch>
            <a:fillRect/>
          </a:stretch>
        </p:blipFill>
        <p:spPr>
          <a:xfrm>
            <a:off x="708660" y="1348740"/>
            <a:ext cx="228600" cy="228600"/>
          </a:xfrm>
          <a:prstGeom prst="rect">
            <a:avLst/>
          </a:prstGeom>
        </p:spPr>
      </p:pic>
      <p:sp>
        <p:nvSpPr>
          <p:cNvPr id="7" name="Text 4"/>
          <p:cNvSpPr txBox="1"/>
          <p:nvPr/>
        </p:nvSpPr>
        <p:spPr>
          <a:xfrm>
            <a:off x="1188720" y="1280160"/>
            <a:ext cx="1828800" cy="365760"/>
          </a:xfrm>
          <a:prstGeom prst="rect">
            <a:avLst/>
          </a:prstGeom>
          <a:noFill/>
          <a:ln/>
        </p:spPr>
        <p:txBody>
          <a:bodyPr wrap="square" lIns="0" tIns="0" rIns="0" bIns="0" rtlCol="0" anchor="ctr"/>
          <a:lstStyle/>
          <a:p>
            <a:pPr indent="0" marL="0">
              <a:buNone/>
            </a:pPr>
            <a:r>
              <a:rPr lang="en-US" sz="1350" b="1" dirty="0">
                <a:solidFill>
                  <a:srgbClr val="4B2A6E"/>
                </a:solidFill>
                <a:latin typeface="Cambria" pitchFamily="34" charset="0"/>
                <a:ea typeface="Cambria" pitchFamily="34" charset="-122"/>
                <a:cs typeface="Cambria" pitchFamily="34" charset="-120"/>
              </a:rPr>
              <a:t>Checkpoints</a:t>
            </a:r>
            <a:endParaRPr lang="en-US" sz="1350" dirty="0"/>
          </a:p>
        </p:txBody>
      </p:sp>
      <p:sp>
        <p:nvSpPr>
          <p:cNvPr id="8" name="Text 5"/>
          <p:cNvSpPr txBox="1"/>
          <p:nvPr/>
        </p:nvSpPr>
        <p:spPr>
          <a:xfrm>
            <a:off x="594360" y="1828800"/>
            <a:ext cx="237744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Offsets and state restored after restart</a:t>
            </a:r>
            <a:endParaRPr lang="en-US" sz="1100" dirty="0"/>
          </a:p>
        </p:txBody>
      </p:sp>
      <p:sp>
        <p:nvSpPr>
          <p:cNvPr id="9" name="card"/>
          <p:cNvSpPr/>
          <p:nvPr/>
        </p:nvSpPr>
        <p:spPr>
          <a:xfrm>
            <a:off x="3264408" y="1097280"/>
            <a:ext cx="2651760" cy="1280160"/>
          </a:xfrm>
          <a:prstGeom prst="roundRect">
            <a:avLst>
              <a:gd name="adj" fmla="val 4286"/>
            </a:avLst>
          </a:prstGeom>
          <a:solidFill>
            <a:srgbClr val="F6F2FB"/>
          </a:solidFill>
          <a:ln w="12700">
            <a:solidFill>
              <a:srgbClr val="F6F2FB"/>
            </a:solidFill>
            <a:prstDash val="solid"/>
          </a:ln>
        </p:spPr>
      </p:sp>
      <p:sp>
        <p:nvSpPr>
          <p:cNvPr id="10" name="badge"/>
          <p:cNvSpPr/>
          <p:nvPr/>
        </p:nvSpPr>
        <p:spPr>
          <a:xfrm>
            <a:off x="3401568" y="1234440"/>
            <a:ext cx="457200" cy="457200"/>
          </a:xfrm>
          <a:prstGeom prst="ellipse">
            <a:avLst/>
          </a:prstGeom>
          <a:solidFill>
            <a:srgbClr val="1F9D74"/>
          </a:solidFill>
          <a:ln w="12700">
            <a:solidFill>
              <a:srgbClr val="1F9D74"/>
            </a:solidFill>
            <a:prstDash val="solid"/>
          </a:ln>
        </p:spPr>
      </p:sp>
      <p:sp>
        <p:nvSpPr>
          <p:cNvPr id="11" name="Text 8"/>
          <p:cNvSpPr txBox="1"/>
          <p:nvPr/>
        </p:nvSpPr>
        <p:spPr>
          <a:xfrm>
            <a:off x="3401568" y="12344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12" name="icon" descr="preencoded.png">    </p:cNvPr>
          <p:cNvPicPr>
            <a:picLocks noChangeAspect="1"/>
          </p:cNvPicPr>
          <p:nvPr/>
        </p:nvPicPr>
        <p:blipFill>
          <a:blip r:embed="rId2"/>
          <a:stretch>
            <a:fillRect/>
          </a:stretch>
        </p:blipFill>
        <p:spPr>
          <a:xfrm>
            <a:off x="3515868" y="1348740"/>
            <a:ext cx="228600" cy="228600"/>
          </a:xfrm>
          <a:prstGeom prst="rect">
            <a:avLst/>
          </a:prstGeom>
        </p:spPr>
      </p:pic>
      <p:sp>
        <p:nvSpPr>
          <p:cNvPr id="13" name="Text 9"/>
          <p:cNvSpPr txBox="1"/>
          <p:nvPr/>
        </p:nvSpPr>
        <p:spPr>
          <a:xfrm>
            <a:off x="3995928" y="1280160"/>
            <a:ext cx="1828800" cy="365760"/>
          </a:xfrm>
          <a:prstGeom prst="rect">
            <a:avLst/>
          </a:prstGeom>
          <a:noFill/>
          <a:ln/>
        </p:spPr>
        <p:txBody>
          <a:bodyPr wrap="square" lIns="0" tIns="0" rIns="0" bIns="0" rtlCol="0" anchor="ctr"/>
          <a:lstStyle/>
          <a:p>
            <a:pPr indent="0" marL="0">
              <a:buNone/>
            </a:pPr>
            <a:r>
              <a:rPr lang="en-US" sz="1350" b="1" dirty="0">
                <a:solidFill>
                  <a:srgbClr val="4B2A6E"/>
                </a:solidFill>
                <a:latin typeface="Cambria" pitchFamily="34" charset="0"/>
                <a:ea typeface="Cambria" pitchFamily="34" charset="-122"/>
                <a:cs typeface="Cambria" pitchFamily="34" charset="-120"/>
              </a:rPr>
              <a:t>Idempotent writes</a:t>
            </a:r>
            <a:endParaRPr lang="en-US" sz="1350" dirty="0"/>
          </a:p>
        </p:txBody>
      </p:sp>
      <p:sp>
        <p:nvSpPr>
          <p:cNvPr id="14" name="Text 10"/>
          <p:cNvSpPr txBox="1"/>
          <p:nvPr/>
        </p:nvSpPr>
        <p:spPr>
          <a:xfrm>
            <a:off x="3401568" y="1828800"/>
            <a:ext cx="237744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Delta txnAppId + txnVersion</a:t>
            </a:r>
            <a:endParaRPr lang="en-US" sz="1100" dirty="0"/>
          </a:p>
        </p:txBody>
      </p:sp>
      <p:sp>
        <p:nvSpPr>
          <p:cNvPr id="15" name="card"/>
          <p:cNvSpPr/>
          <p:nvPr/>
        </p:nvSpPr>
        <p:spPr>
          <a:xfrm>
            <a:off x="6071616" y="1097280"/>
            <a:ext cx="2651760" cy="1280160"/>
          </a:xfrm>
          <a:prstGeom prst="roundRect">
            <a:avLst>
              <a:gd name="adj" fmla="val 4286"/>
            </a:avLst>
          </a:prstGeom>
          <a:solidFill>
            <a:srgbClr val="F6F2FB"/>
          </a:solidFill>
          <a:ln w="12700">
            <a:solidFill>
              <a:srgbClr val="F6F2FB"/>
            </a:solidFill>
            <a:prstDash val="solid"/>
          </a:ln>
        </p:spPr>
      </p:sp>
      <p:sp>
        <p:nvSpPr>
          <p:cNvPr id="16" name="badge"/>
          <p:cNvSpPr/>
          <p:nvPr/>
        </p:nvSpPr>
        <p:spPr>
          <a:xfrm>
            <a:off x="6208776" y="1234440"/>
            <a:ext cx="457200" cy="457200"/>
          </a:xfrm>
          <a:prstGeom prst="ellipse">
            <a:avLst/>
          </a:prstGeom>
          <a:solidFill>
            <a:srgbClr val="D6336C"/>
          </a:solidFill>
          <a:ln w="12700">
            <a:solidFill>
              <a:srgbClr val="D6336C"/>
            </a:solidFill>
            <a:prstDash val="solid"/>
          </a:ln>
        </p:spPr>
      </p:sp>
      <p:sp>
        <p:nvSpPr>
          <p:cNvPr id="17" name="Text 13"/>
          <p:cNvSpPr txBox="1"/>
          <p:nvPr/>
        </p:nvSpPr>
        <p:spPr>
          <a:xfrm>
            <a:off x="6208776" y="123444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18" name="icon" descr="preencoded.png">    </p:cNvPr>
          <p:cNvPicPr>
            <a:picLocks noChangeAspect="1"/>
          </p:cNvPicPr>
          <p:nvPr/>
        </p:nvPicPr>
        <p:blipFill>
          <a:blip r:embed="rId3"/>
          <a:stretch>
            <a:fillRect/>
          </a:stretch>
        </p:blipFill>
        <p:spPr>
          <a:xfrm>
            <a:off x="6323076" y="1348740"/>
            <a:ext cx="228600" cy="228600"/>
          </a:xfrm>
          <a:prstGeom prst="rect">
            <a:avLst/>
          </a:prstGeom>
        </p:spPr>
      </p:pic>
      <p:sp>
        <p:nvSpPr>
          <p:cNvPr id="19" name="Text 14"/>
          <p:cNvSpPr txBox="1"/>
          <p:nvPr/>
        </p:nvSpPr>
        <p:spPr>
          <a:xfrm>
            <a:off x="6803136" y="1280160"/>
            <a:ext cx="1828800" cy="365760"/>
          </a:xfrm>
          <a:prstGeom prst="rect">
            <a:avLst/>
          </a:prstGeom>
          <a:noFill/>
          <a:ln/>
        </p:spPr>
        <p:txBody>
          <a:bodyPr wrap="square" lIns="0" tIns="0" rIns="0" bIns="0" rtlCol="0" anchor="ctr"/>
          <a:lstStyle/>
          <a:p>
            <a:pPr indent="0" marL="0">
              <a:buNone/>
            </a:pPr>
            <a:r>
              <a:rPr lang="en-US" sz="1350" b="1" dirty="0">
                <a:solidFill>
                  <a:srgbClr val="4B2A6E"/>
                </a:solidFill>
                <a:latin typeface="Cambria" pitchFamily="34" charset="0"/>
                <a:ea typeface="Cambria" pitchFamily="34" charset="-122"/>
                <a:cs typeface="Cambria" pitchFamily="34" charset="-120"/>
              </a:rPr>
              <a:t>Quarantine</a:t>
            </a:r>
            <a:endParaRPr lang="en-US" sz="1350" dirty="0"/>
          </a:p>
        </p:txBody>
      </p:sp>
      <p:sp>
        <p:nvSpPr>
          <p:cNvPr id="20" name="Text 15"/>
          <p:cNvSpPr txBox="1"/>
          <p:nvPr/>
        </p:nvSpPr>
        <p:spPr>
          <a:xfrm>
            <a:off x="6208776" y="1828800"/>
            <a:ext cx="237744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Bad events kept with reasons</a:t>
            </a:r>
            <a:endParaRPr lang="en-US" sz="1100" dirty="0"/>
          </a:p>
        </p:txBody>
      </p:sp>
      <p:sp>
        <p:nvSpPr>
          <p:cNvPr id="21" name="card"/>
          <p:cNvSpPr/>
          <p:nvPr/>
        </p:nvSpPr>
        <p:spPr>
          <a:xfrm>
            <a:off x="457200" y="2514600"/>
            <a:ext cx="2651760" cy="1280160"/>
          </a:xfrm>
          <a:prstGeom prst="roundRect">
            <a:avLst>
              <a:gd name="adj" fmla="val 4286"/>
            </a:avLst>
          </a:prstGeom>
          <a:solidFill>
            <a:srgbClr val="F6F2FB"/>
          </a:solidFill>
          <a:ln w="12700">
            <a:solidFill>
              <a:srgbClr val="F6F2FB"/>
            </a:solidFill>
            <a:prstDash val="solid"/>
          </a:ln>
        </p:spPr>
      </p:sp>
      <p:sp>
        <p:nvSpPr>
          <p:cNvPr id="22" name="badge"/>
          <p:cNvSpPr/>
          <p:nvPr/>
        </p:nvSpPr>
        <p:spPr>
          <a:xfrm>
            <a:off x="594360" y="2651760"/>
            <a:ext cx="457200" cy="457200"/>
          </a:xfrm>
          <a:prstGeom prst="ellipse">
            <a:avLst/>
          </a:prstGeom>
          <a:solidFill>
            <a:srgbClr val="4B2A6E"/>
          </a:solidFill>
          <a:ln w="12700">
            <a:solidFill>
              <a:srgbClr val="4B2A6E"/>
            </a:solidFill>
            <a:prstDash val="solid"/>
          </a:ln>
        </p:spPr>
      </p:sp>
      <p:sp>
        <p:nvSpPr>
          <p:cNvPr id="23" name="Text 18"/>
          <p:cNvSpPr txBox="1"/>
          <p:nvPr/>
        </p:nvSpPr>
        <p:spPr>
          <a:xfrm>
            <a:off x="594360" y="265176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24" name="icon" descr="preencoded.png">    </p:cNvPr>
          <p:cNvPicPr>
            <a:picLocks noChangeAspect="1"/>
          </p:cNvPicPr>
          <p:nvPr/>
        </p:nvPicPr>
        <p:blipFill>
          <a:blip r:embed="rId4"/>
          <a:stretch>
            <a:fillRect/>
          </a:stretch>
        </p:blipFill>
        <p:spPr>
          <a:xfrm>
            <a:off x="708660" y="2766060"/>
            <a:ext cx="228600" cy="228600"/>
          </a:xfrm>
          <a:prstGeom prst="rect">
            <a:avLst/>
          </a:prstGeom>
        </p:spPr>
      </p:pic>
      <p:sp>
        <p:nvSpPr>
          <p:cNvPr id="25" name="Text 19"/>
          <p:cNvSpPr txBox="1"/>
          <p:nvPr/>
        </p:nvSpPr>
        <p:spPr>
          <a:xfrm>
            <a:off x="1188720" y="2697480"/>
            <a:ext cx="1828800" cy="365760"/>
          </a:xfrm>
          <a:prstGeom prst="rect">
            <a:avLst/>
          </a:prstGeom>
          <a:noFill/>
          <a:ln/>
        </p:spPr>
        <p:txBody>
          <a:bodyPr wrap="square" lIns="0" tIns="0" rIns="0" bIns="0" rtlCol="0" anchor="ctr"/>
          <a:lstStyle/>
          <a:p>
            <a:pPr indent="0" marL="0">
              <a:buNone/>
            </a:pPr>
            <a:r>
              <a:rPr lang="en-US" sz="1350" b="1" dirty="0">
                <a:solidFill>
                  <a:srgbClr val="4B2A6E"/>
                </a:solidFill>
                <a:latin typeface="Cambria" pitchFamily="34" charset="0"/>
                <a:ea typeface="Cambria" pitchFamily="34" charset="-122"/>
                <a:cs typeface="Cambria" pitchFamily="34" charset="-120"/>
              </a:rPr>
              <a:t>Docker</a:t>
            </a:r>
            <a:endParaRPr lang="en-US" sz="1350" dirty="0"/>
          </a:p>
        </p:txBody>
      </p:sp>
      <p:sp>
        <p:nvSpPr>
          <p:cNvPr id="26" name="Text 20"/>
          <p:cNvSpPr txBox="1"/>
          <p:nvPr/>
        </p:nvSpPr>
        <p:spPr>
          <a:xfrm>
            <a:off x="594360" y="3246120"/>
            <a:ext cx="237744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restart: unless-stopped, health checks</a:t>
            </a:r>
            <a:endParaRPr lang="en-US" sz="1100" dirty="0"/>
          </a:p>
        </p:txBody>
      </p:sp>
      <p:sp>
        <p:nvSpPr>
          <p:cNvPr id="27" name="card"/>
          <p:cNvSpPr/>
          <p:nvPr/>
        </p:nvSpPr>
        <p:spPr>
          <a:xfrm>
            <a:off x="3264408" y="2514600"/>
            <a:ext cx="2651760" cy="1280160"/>
          </a:xfrm>
          <a:prstGeom prst="roundRect">
            <a:avLst>
              <a:gd name="adj" fmla="val 4286"/>
            </a:avLst>
          </a:prstGeom>
          <a:solidFill>
            <a:srgbClr val="F6F2FB"/>
          </a:solidFill>
          <a:ln w="12700">
            <a:solidFill>
              <a:srgbClr val="F6F2FB"/>
            </a:solidFill>
            <a:prstDash val="solid"/>
          </a:ln>
        </p:spPr>
      </p:sp>
      <p:sp>
        <p:nvSpPr>
          <p:cNvPr id="28" name="badge"/>
          <p:cNvSpPr/>
          <p:nvPr/>
        </p:nvSpPr>
        <p:spPr>
          <a:xfrm>
            <a:off x="3401568" y="2651760"/>
            <a:ext cx="457200" cy="457200"/>
          </a:xfrm>
          <a:prstGeom prst="ellipse">
            <a:avLst/>
          </a:prstGeom>
          <a:solidFill>
            <a:srgbClr val="F5B400"/>
          </a:solidFill>
          <a:ln w="12700">
            <a:solidFill>
              <a:srgbClr val="F5B400"/>
            </a:solidFill>
            <a:prstDash val="solid"/>
          </a:ln>
        </p:spPr>
      </p:sp>
      <p:sp>
        <p:nvSpPr>
          <p:cNvPr id="29" name="Text 23"/>
          <p:cNvSpPr txBox="1"/>
          <p:nvPr/>
        </p:nvSpPr>
        <p:spPr>
          <a:xfrm>
            <a:off x="3401568" y="265176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30" name="icon" descr="preencoded.png">    </p:cNvPr>
          <p:cNvPicPr>
            <a:picLocks noChangeAspect="1"/>
          </p:cNvPicPr>
          <p:nvPr/>
        </p:nvPicPr>
        <p:blipFill>
          <a:blip r:embed="rId5"/>
          <a:stretch>
            <a:fillRect/>
          </a:stretch>
        </p:blipFill>
        <p:spPr>
          <a:xfrm>
            <a:off x="3515868" y="2766060"/>
            <a:ext cx="228600" cy="228600"/>
          </a:xfrm>
          <a:prstGeom prst="rect">
            <a:avLst/>
          </a:prstGeom>
        </p:spPr>
      </p:pic>
      <p:sp>
        <p:nvSpPr>
          <p:cNvPr id="31" name="Text 24"/>
          <p:cNvSpPr txBox="1"/>
          <p:nvPr/>
        </p:nvSpPr>
        <p:spPr>
          <a:xfrm>
            <a:off x="3995928" y="2697480"/>
            <a:ext cx="1828800" cy="365760"/>
          </a:xfrm>
          <a:prstGeom prst="rect">
            <a:avLst/>
          </a:prstGeom>
          <a:noFill/>
          <a:ln/>
        </p:spPr>
        <p:txBody>
          <a:bodyPr wrap="square" lIns="0" tIns="0" rIns="0" bIns="0" rtlCol="0" anchor="ctr"/>
          <a:lstStyle/>
          <a:p>
            <a:pPr indent="0" marL="0">
              <a:buNone/>
            </a:pPr>
            <a:r>
              <a:rPr lang="en-US" sz="1350" b="1" dirty="0">
                <a:solidFill>
                  <a:srgbClr val="4B2A6E"/>
                </a:solidFill>
                <a:latin typeface="Cambria" pitchFamily="34" charset="0"/>
                <a:ea typeface="Cambria" pitchFamily="34" charset="-122"/>
                <a:cs typeface="Cambria" pitchFamily="34" charset="-120"/>
              </a:rPr>
              <a:t>Observability</a:t>
            </a:r>
            <a:endParaRPr lang="en-US" sz="1350" dirty="0"/>
          </a:p>
        </p:txBody>
      </p:sp>
      <p:sp>
        <p:nvSpPr>
          <p:cNvPr id="32" name="Text 25"/>
          <p:cNvSpPr txBox="1"/>
          <p:nvPr/>
        </p:nvSpPr>
        <p:spPr>
          <a:xfrm>
            <a:off x="3401568" y="3246120"/>
            <a:ext cx="237744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StreamingQueryListener + History Server</a:t>
            </a:r>
            <a:endParaRPr lang="en-US" sz="1100" dirty="0"/>
          </a:p>
        </p:txBody>
      </p:sp>
      <p:sp>
        <p:nvSpPr>
          <p:cNvPr id="33" name="card"/>
          <p:cNvSpPr/>
          <p:nvPr/>
        </p:nvSpPr>
        <p:spPr>
          <a:xfrm>
            <a:off x="6071616" y="2514600"/>
            <a:ext cx="2651760" cy="1280160"/>
          </a:xfrm>
          <a:prstGeom prst="roundRect">
            <a:avLst>
              <a:gd name="adj" fmla="val 4286"/>
            </a:avLst>
          </a:prstGeom>
          <a:solidFill>
            <a:srgbClr val="F6F2FB"/>
          </a:solidFill>
          <a:ln w="12700">
            <a:solidFill>
              <a:srgbClr val="F6F2FB"/>
            </a:solidFill>
            <a:prstDash val="solid"/>
          </a:ln>
        </p:spPr>
      </p:sp>
      <p:sp>
        <p:nvSpPr>
          <p:cNvPr id="34" name="badge"/>
          <p:cNvSpPr/>
          <p:nvPr/>
        </p:nvSpPr>
        <p:spPr>
          <a:xfrm>
            <a:off x="6208776" y="2651760"/>
            <a:ext cx="457200" cy="457200"/>
          </a:xfrm>
          <a:prstGeom prst="ellipse">
            <a:avLst/>
          </a:prstGeom>
          <a:solidFill>
            <a:srgbClr val="6E6A80"/>
          </a:solidFill>
          <a:ln w="12700">
            <a:solidFill>
              <a:srgbClr val="6E6A80"/>
            </a:solidFill>
            <a:prstDash val="solid"/>
          </a:ln>
        </p:spPr>
      </p:sp>
      <p:sp>
        <p:nvSpPr>
          <p:cNvPr id="35" name="Text 28"/>
          <p:cNvSpPr txBox="1"/>
          <p:nvPr/>
        </p:nvSpPr>
        <p:spPr>
          <a:xfrm>
            <a:off x="6208776" y="2651760"/>
            <a:ext cx="457200" cy="457200"/>
          </a:xfrm>
          <a:prstGeom prst="rect">
            <a:avLst/>
          </a:prstGeom>
          <a:noFill/>
          <a:ln/>
        </p:spPr>
        <p:txBody>
          <a:bodyPr wrap="square" lIns="0" tIns="0" rIns="0" bIns="0" rtlCol="0" anchor="ctr"/>
          <a:lstStyle/>
          <a:p>
            <a:pPr algn="ctr" indent="0" marL="0">
              <a:buNone/>
            </a:pPr>
            <a:endParaRPr lang="en-US" sz="1200" dirty="0"/>
          </a:p>
        </p:txBody>
      </p:sp>
      <p:pic>
        <p:nvPicPr>
          <p:cNvPr id="36" name="icon" descr="preencoded.png">    </p:cNvPr>
          <p:cNvPicPr>
            <a:picLocks noChangeAspect="1"/>
          </p:cNvPicPr>
          <p:nvPr/>
        </p:nvPicPr>
        <p:blipFill>
          <a:blip r:embed="rId6"/>
          <a:stretch>
            <a:fillRect/>
          </a:stretch>
        </p:blipFill>
        <p:spPr>
          <a:xfrm>
            <a:off x="6323076" y="2766060"/>
            <a:ext cx="228600" cy="228600"/>
          </a:xfrm>
          <a:prstGeom prst="rect">
            <a:avLst/>
          </a:prstGeom>
        </p:spPr>
      </p:pic>
      <p:sp>
        <p:nvSpPr>
          <p:cNvPr id="37" name="Text 29"/>
          <p:cNvSpPr txBox="1"/>
          <p:nvPr/>
        </p:nvSpPr>
        <p:spPr>
          <a:xfrm>
            <a:off x="6803136" y="2697480"/>
            <a:ext cx="1828800" cy="365760"/>
          </a:xfrm>
          <a:prstGeom prst="rect">
            <a:avLst/>
          </a:prstGeom>
          <a:noFill/>
          <a:ln/>
        </p:spPr>
        <p:txBody>
          <a:bodyPr wrap="square" lIns="0" tIns="0" rIns="0" bIns="0" rtlCol="0" anchor="ctr"/>
          <a:lstStyle/>
          <a:p>
            <a:pPr indent="0" marL="0">
              <a:buNone/>
            </a:pPr>
            <a:r>
              <a:rPr lang="en-US" sz="1350" b="1" dirty="0">
                <a:solidFill>
                  <a:srgbClr val="4B2A6E"/>
                </a:solidFill>
                <a:latin typeface="Cambria" pitchFamily="34" charset="0"/>
                <a:ea typeface="Cambria" pitchFamily="34" charset="-122"/>
                <a:cs typeface="Cambria" pitchFamily="34" charset="-120"/>
              </a:rPr>
              <a:t>Tests</a:t>
            </a:r>
            <a:endParaRPr lang="en-US" sz="1350" dirty="0"/>
          </a:p>
        </p:txBody>
      </p:sp>
      <p:sp>
        <p:nvSpPr>
          <p:cNvPr id="38" name="Text 30"/>
          <p:cNvSpPr txBox="1"/>
          <p:nvPr/>
        </p:nvSpPr>
        <p:spPr>
          <a:xfrm>
            <a:off x="6208776" y="3246120"/>
            <a:ext cx="2377440" cy="502920"/>
          </a:xfrm>
          <a:prstGeom prst="rect">
            <a:avLst/>
          </a:prstGeom>
          <a:noFill/>
          <a:ln/>
        </p:spPr>
        <p:txBody>
          <a:bodyPr wrap="square" lIns="0" tIns="0" rIns="0" bIns="0" rtlCol="0" anchor="t"/>
          <a:lstStyle/>
          <a:p>
            <a:pPr indent="0" marL="0">
              <a:buNone/>
            </a:pPr>
            <a:r>
              <a:rPr lang="en-US" sz="1100" dirty="0">
                <a:solidFill>
                  <a:srgbClr val="6E6A80"/>
                </a:solidFill>
                <a:latin typeface="Calibri" pitchFamily="34" charset="0"/>
                <a:ea typeface="Calibri" pitchFamily="34" charset="-122"/>
                <a:cs typeface="Calibri" pitchFamily="34" charset="-120"/>
              </a:rPr>
              <a:t>7 test functions: 5 unit + 2 integration</a:t>
            </a:r>
            <a:endParaRPr lang="en-US" sz="1100" dirty="0"/>
          </a:p>
        </p:txBody>
      </p:sp>
      <p:sp>
        <p:nvSpPr>
          <p:cNvPr id="39" name="card"/>
          <p:cNvSpPr/>
          <p:nvPr/>
        </p:nvSpPr>
        <p:spPr>
          <a:xfrm>
            <a:off x="457200" y="3977640"/>
            <a:ext cx="8229600" cy="594360"/>
          </a:xfrm>
          <a:prstGeom prst="roundRect">
            <a:avLst>
              <a:gd name="adj" fmla="val 9231"/>
            </a:avLst>
          </a:prstGeom>
          <a:solidFill>
            <a:srgbClr val="4B2A6E"/>
          </a:solidFill>
          <a:ln w="12700">
            <a:solidFill>
              <a:srgbClr val="4B2A6E"/>
            </a:solidFill>
            <a:prstDash val="solid"/>
          </a:ln>
        </p:spPr>
      </p:sp>
      <p:sp>
        <p:nvSpPr>
          <p:cNvPr id="40" name="Text 32"/>
          <p:cNvSpPr txBox="1"/>
          <p:nvPr/>
        </p:nvSpPr>
        <p:spPr>
          <a:xfrm>
            <a:off x="640080" y="3977640"/>
            <a:ext cx="786384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Tests cover Welford statistics, quality rules, final decision, checkpoint recovery and Delta idempotency. Results were not re-run for this report.</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56032"/>
            <a:ext cx="8229600" cy="594360"/>
          </a:xfrm>
          <a:prstGeom prst="rect">
            <a:avLst/>
          </a:prstGeom>
          <a:noFill/>
          <a:ln/>
        </p:spPr>
        <p:txBody>
          <a:bodyPr wrap="square" lIns="0" tIns="0" rIns="0" bIns="0" rtlCol="0" anchor="ctr"/>
          <a:lstStyle/>
          <a:p>
            <a:pPr indent="0" marL="0">
              <a:buNone/>
            </a:pPr>
            <a:r>
              <a:rPr lang="en-US" sz="2600" b="1" dirty="0">
                <a:solidFill>
                  <a:srgbClr val="4B2A6E"/>
                </a:solidFill>
                <a:latin typeface="Cambria" pitchFamily="34" charset="0"/>
                <a:ea typeface="Cambria" pitchFamily="34" charset="-122"/>
                <a:cs typeface="Cambria" pitchFamily="34" charset="-120"/>
              </a:rPr>
              <a:t>Limitations and future scope</a:t>
            </a:r>
            <a:endParaRPr lang="en-US" sz="2600" dirty="0"/>
          </a:p>
        </p:txBody>
      </p:sp>
      <p:sp>
        <p:nvSpPr>
          <p:cNvPr id="3" name="card"/>
          <p:cNvSpPr/>
          <p:nvPr/>
        </p:nvSpPr>
        <p:spPr>
          <a:xfrm>
            <a:off x="457200" y="1097280"/>
            <a:ext cx="4023360" cy="3200400"/>
          </a:xfrm>
          <a:prstGeom prst="roundRect">
            <a:avLst>
              <a:gd name="adj" fmla="val 1714"/>
            </a:avLst>
          </a:prstGeom>
          <a:solidFill>
            <a:srgbClr val="F6F2FB"/>
          </a:solidFill>
          <a:ln w="12700">
            <a:solidFill>
              <a:srgbClr val="F6F2FB"/>
            </a:solidFill>
            <a:prstDash val="solid"/>
          </a:ln>
        </p:spPr>
      </p:sp>
      <p:sp>
        <p:nvSpPr>
          <p:cNvPr id="4" name="Text 2"/>
          <p:cNvSpPr txBox="1"/>
          <p:nvPr/>
        </p:nvSpPr>
        <p:spPr>
          <a:xfrm>
            <a:off x="640080" y="1188720"/>
            <a:ext cx="3657600" cy="274320"/>
          </a:xfrm>
          <a:prstGeom prst="rect">
            <a:avLst/>
          </a:prstGeom>
          <a:noFill/>
          <a:ln/>
        </p:spPr>
        <p:txBody>
          <a:bodyPr wrap="square" lIns="0" tIns="0" rIns="0" bIns="0" rtlCol="0" anchor="t"/>
          <a:lstStyle/>
          <a:p>
            <a:pPr indent="0" marL="0">
              <a:buNone/>
            </a:pPr>
            <a:r>
              <a:rPr lang="en-US" sz="1500" b="1" dirty="0">
                <a:solidFill>
                  <a:srgbClr val="D6336C"/>
                </a:solidFill>
                <a:latin typeface="Cambria" pitchFamily="34" charset="0"/>
                <a:ea typeface="Cambria" pitchFamily="34" charset="-122"/>
                <a:cs typeface="Cambria" pitchFamily="34" charset="-120"/>
              </a:rPr>
              <a:t>Limitations</a:t>
            </a:r>
            <a:endParaRPr lang="en-US" sz="1500" dirty="0"/>
          </a:p>
        </p:txBody>
      </p:sp>
      <p:sp>
        <p:nvSpPr>
          <p:cNvPr id="5" name="Text 3"/>
          <p:cNvSpPr txBox="1"/>
          <p:nvPr/>
        </p:nvSpPr>
        <p:spPr>
          <a:xfrm>
            <a:off x="640080" y="1554480"/>
            <a:ext cx="3657600" cy="29260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Synthetic data from a simulator</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Only 92 fraud cases in the hold-out; no confidence intervals</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Precision 0.65 and recall 0.67: false alerts and misses</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Hand-set rule weights; uncalibrated probabilities</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Single-node benchmark, not a cluster</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Metrics not reproducible without re-training</a:t>
            </a:r>
            <a:endParaRPr lang="en-US" sz="1250" dirty="0"/>
          </a:p>
        </p:txBody>
      </p:sp>
      <p:sp>
        <p:nvSpPr>
          <p:cNvPr id="6" name="card"/>
          <p:cNvSpPr/>
          <p:nvPr/>
        </p:nvSpPr>
        <p:spPr>
          <a:xfrm>
            <a:off x="4663440" y="1097280"/>
            <a:ext cx="4023360" cy="3200400"/>
          </a:xfrm>
          <a:prstGeom prst="roundRect">
            <a:avLst>
              <a:gd name="adj" fmla="val 1714"/>
            </a:avLst>
          </a:prstGeom>
          <a:solidFill>
            <a:srgbClr val="F6F2FB"/>
          </a:solidFill>
          <a:ln w="12700">
            <a:solidFill>
              <a:srgbClr val="F6F2FB"/>
            </a:solidFill>
            <a:prstDash val="solid"/>
          </a:ln>
        </p:spPr>
      </p:sp>
      <p:sp>
        <p:nvSpPr>
          <p:cNvPr id="7" name="Text 5"/>
          <p:cNvSpPr txBox="1"/>
          <p:nvPr/>
        </p:nvSpPr>
        <p:spPr>
          <a:xfrm>
            <a:off x="4846320" y="1188720"/>
            <a:ext cx="3657600" cy="274320"/>
          </a:xfrm>
          <a:prstGeom prst="rect">
            <a:avLst/>
          </a:prstGeom>
          <a:noFill/>
          <a:ln/>
        </p:spPr>
        <p:txBody>
          <a:bodyPr wrap="square" lIns="0" tIns="0" rIns="0" bIns="0" rtlCol="0" anchor="t"/>
          <a:lstStyle/>
          <a:p>
            <a:pPr indent="0" marL="0">
              <a:buNone/>
            </a:pPr>
            <a:r>
              <a:rPr lang="en-US" sz="1500" b="1" dirty="0">
                <a:solidFill>
                  <a:srgbClr val="1F9D74"/>
                </a:solidFill>
                <a:latin typeface="Cambria" pitchFamily="34" charset="0"/>
                <a:ea typeface="Cambria" pitchFamily="34" charset="-122"/>
                <a:cs typeface="Cambria" pitchFamily="34" charset="-120"/>
              </a:rPr>
              <a:t>Future scope</a:t>
            </a:r>
            <a:endParaRPr lang="en-US" sz="1500" dirty="0"/>
          </a:p>
        </p:txBody>
      </p:sp>
      <p:sp>
        <p:nvSpPr>
          <p:cNvPr id="8" name="Text 6"/>
          <p:cNvSpPr txBox="1"/>
          <p:nvPr/>
        </p:nvSpPr>
        <p:spPr>
          <a:xfrm>
            <a:off x="4846320" y="1554480"/>
            <a:ext cx="3657600" cy="27432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Test on real or public transaction data</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Gradient-boosted trees and probability calibration</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Drift monitoring and scheduled retraining</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Multi-node cluster and larger hot-key tests</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Alert delivery and analyst feedback loop</a:t>
            </a:r>
            <a:endParaRPr lang="en-US" sz="1250" dirty="0"/>
          </a:p>
          <a:p>
            <a:pPr marL="342900" indent="-342900">
              <a:spcAft>
                <a:spcPts val="700"/>
              </a:spcAft>
              <a:buSzPct val="100000"/>
              <a:buChar char="•"/>
            </a:pPr>
            <a:r>
              <a:rPr lang="en-US" sz="1250" dirty="0">
                <a:solidFill>
                  <a:srgbClr val="6E6A80"/>
                </a:solidFill>
                <a:latin typeface="Calibri" pitchFamily="34" charset="0"/>
                <a:ea typeface="Calibri" pitchFamily="34" charset="-122"/>
                <a:cs typeface="Calibri" pitchFamily="34" charset="-120"/>
              </a:rPr>
              <a:t>Dashboard authentication and field encryption</a:t>
            </a:r>
            <a:endParaRPr lang="en-US" sz="12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E6A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3" name="stat-card"/>
          <p:cNvSpPr/>
          <p:nvPr/>
        </p:nvSpPr>
        <p:spPr>
          <a:xfrm>
            <a:off x="457200" y="1143000"/>
            <a:ext cx="1920240" cy="1234440"/>
          </a:xfrm>
          <a:prstGeom prst="roundRect">
            <a:avLst>
              <a:gd name="adj" fmla="val 4444"/>
            </a:avLst>
          </a:prstGeom>
          <a:solidFill>
            <a:srgbClr val="4B2A6E"/>
          </a:solidFill>
          <a:ln w="12700">
            <a:solidFill>
              <a:srgbClr val="4B2A6E"/>
            </a:solidFill>
            <a:prstDash val="solid"/>
          </a:ln>
        </p:spPr>
      </p:sp>
      <p:sp>
        <p:nvSpPr>
          <p:cNvPr id="4" name="Text 2"/>
          <p:cNvSpPr txBox="1"/>
          <p:nvPr/>
        </p:nvSpPr>
        <p:spPr>
          <a:xfrm>
            <a:off x="457200" y="1280160"/>
            <a:ext cx="19202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0.977</a:t>
            </a:r>
            <a:endParaRPr lang="en-US" sz="2400" dirty="0"/>
          </a:p>
        </p:txBody>
      </p:sp>
      <p:sp>
        <p:nvSpPr>
          <p:cNvPr id="5" name="Text 3"/>
          <p:cNvSpPr txBox="1"/>
          <p:nvPr/>
        </p:nvSpPr>
        <p:spPr>
          <a:xfrm>
            <a:off x="457200" y="1874520"/>
            <a:ext cx="1920240" cy="365760"/>
          </a:xfrm>
          <a:prstGeom prst="rect">
            <a:avLst/>
          </a:prstGeom>
          <a:noFill/>
          <a:ln/>
        </p:spPr>
        <p:txBody>
          <a:bodyPr wrap="square" lIns="0" tIns="0" rIns="0" bIns="0" rtlCol="0" anchor="t"/>
          <a:lstStyle/>
          <a:p>
            <a:pPr algn="ctr" indent="0" marL="0">
              <a:buNone/>
            </a:pPr>
            <a:r>
              <a:rPr lang="en-US" sz="1100" dirty="0">
                <a:solidFill>
                  <a:srgbClr val="D9C8F5"/>
                </a:solidFill>
                <a:latin typeface="Calibri" pitchFamily="34" charset="0"/>
                <a:ea typeface="Calibri" pitchFamily="34" charset="-122"/>
                <a:cs typeface="Calibri" pitchFamily="34" charset="-120"/>
              </a:rPr>
              <a:t>ROC-AUC</a:t>
            </a:r>
            <a:endParaRPr lang="en-US" sz="1100" dirty="0"/>
          </a:p>
        </p:txBody>
      </p:sp>
      <p:sp>
        <p:nvSpPr>
          <p:cNvPr id="6" name="stat-card"/>
          <p:cNvSpPr/>
          <p:nvPr/>
        </p:nvSpPr>
        <p:spPr>
          <a:xfrm>
            <a:off x="2542032" y="1143000"/>
            <a:ext cx="1920240" cy="1234440"/>
          </a:xfrm>
          <a:prstGeom prst="roundRect">
            <a:avLst>
              <a:gd name="adj" fmla="val 4444"/>
            </a:avLst>
          </a:prstGeom>
          <a:solidFill>
            <a:srgbClr val="4B2A6E"/>
          </a:solidFill>
          <a:ln w="12700">
            <a:solidFill>
              <a:srgbClr val="4B2A6E"/>
            </a:solidFill>
            <a:prstDash val="solid"/>
          </a:ln>
        </p:spPr>
      </p:sp>
      <p:sp>
        <p:nvSpPr>
          <p:cNvPr id="7" name="Text 5"/>
          <p:cNvSpPr txBox="1"/>
          <p:nvPr/>
        </p:nvSpPr>
        <p:spPr>
          <a:xfrm>
            <a:off x="2542032" y="1280160"/>
            <a:ext cx="19202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65% / 67%</a:t>
            </a:r>
            <a:endParaRPr lang="en-US" sz="2400" dirty="0"/>
          </a:p>
        </p:txBody>
      </p:sp>
      <p:sp>
        <p:nvSpPr>
          <p:cNvPr id="8" name="Text 6"/>
          <p:cNvSpPr txBox="1"/>
          <p:nvPr/>
        </p:nvSpPr>
        <p:spPr>
          <a:xfrm>
            <a:off x="2542032" y="1874520"/>
            <a:ext cx="1920240" cy="365760"/>
          </a:xfrm>
          <a:prstGeom prst="rect">
            <a:avLst/>
          </a:prstGeom>
          <a:noFill/>
          <a:ln/>
        </p:spPr>
        <p:txBody>
          <a:bodyPr wrap="square" lIns="0" tIns="0" rIns="0" bIns="0" rtlCol="0" anchor="t"/>
          <a:lstStyle/>
          <a:p>
            <a:pPr algn="ctr" indent="0" marL="0">
              <a:buNone/>
            </a:pPr>
            <a:r>
              <a:rPr lang="en-US" sz="1100" dirty="0">
                <a:solidFill>
                  <a:srgbClr val="D9C8F5"/>
                </a:solidFill>
                <a:latin typeface="Calibri" pitchFamily="34" charset="0"/>
                <a:ea typeface="Calibri" pitchFamily="34" charset="-122"/>
                <a:cs typeface="Calibri" pitchFamily="34" charset="-120"/>
              </a:rPr>
              <a:t>precision / recall</a:t>
            </a:r>
            <a:endParaRPr lang="en-US" sz="1100" dirty="0"/>
          </a:p>
        </p:txBody>
      </p:sp>
      <p:sp>
        <p:nvSpPr>
          <p:cNvPr id="9" name="stat-card"/>
          <p:cNvSpPr/>
          <p:nvPr/>
        </p:nvSpPr>
        <p:spPr>
          <a:xfrm>
            <a:off x="4626864" y="1143000"/>
            <a:ext cx="1920240" cy="1234440"/>
          </a:xfrm>
          <a:prstGeom prst="roundRect">
            <a:avLst>
              <a:gd name="adj" fmla="val 4444"/>
            </a:avLst>
          </a:prstGeom>
          <a:solidFill>
            <a:srgbClr val="4B2A6E"/>
          </a:solidFill>
          <a:ln w="12700">
            <a:solidFill>
              <a:srgbClr val="4B2A6E"/>
            </a:solidFill>
            <a:prstDash val="solid"/>
          </a:ln>
        </p:spPr>
      </p:sp>
      <p:sp>
        <p:nvSpPr>
          <p:cNvPr id="10" name="Text 8"/>
          <p:cNvSpPr txBox="1"/>
          <p:nvPr/>
        </p:nvSpPr>
        <p:spPr>
          <a:xfrm>
            <a:off x="4626864" y="1280160"/>
            <a:ext cx="19202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1" name="Text 9"/>
          <p:cNvSpPr txBox="1"/>
          <p:nvPr/>
        </p:nvSpPr>
        <p:spPr>
          <a:xfrm>
            <a:off x="4626864" y="1874520"/>
            <a:ext cx="1920240" cy="365760"/>
          </a:xfrm>
          <a:prstGeom prst="rect">
            <a:avLst/>
          </a:prstGeom>
          <a:noFill/>
          <a:ln/>
        </p:spPr>
        <p:txBody>
          <a:bodyPr wrap="square" lIns="0" tIns="0" rIns="0" bIns="0" rtlCol="0" anchor="t"/>
          <a:lstStyle/>
          <a:p>
            <a:pPr algn="ctr" indent="0" marL="0">
              <a:buNone/>
            </a:pPr>
            <a:r>
              <a:rPr lang="en-US" sz="1100" dirty="0">
                <a:solidFill>
                  <a:srgbClr val="D9C8F5"/>
                </a:solidFill>
                <a:latin typeface="Calibri" pitchFamily="34" charset="0"/>
                <a:ea typeface="Calibri" pitchFamily="34" charset="-122"/>
                <a:cs typeface="Calibri" pitchFamily="34" charset="-120"/>
              </a:rPr>
              <a:t>shuffle partitions chosen</a:t>
            </a:r>
            <a:endParaRPr lang="en-US" sz="1100" dirty="0"/>
          </a:p>
        </p:txBody>
      </p:sp>
      <p:sp>
        <p:nvSpPr>
          <p:cNvPr id="12" name="stat-card"/>
          <p:cNvSpPr/>
          <p:nvPr/>
        </p:nvSpPr>
        <p:spPr>
          <a:xfrm>
            <a:off x="6711696" y="1143000"/>
            <a:ext cx="1920240" cy="1234440"/>
          </a:xfrm>
          <a:prstGeom prst="roundRect">
            <a:avLst>
              <a:gd name="adj" fmla="val 4444"/>
            </a:avLst>
          </a:prstGeom>
          <a:solidFill>
            <a:srgbClr val="4B2A6E"/>
          </a:solidFill>
          <a:ln w="12700">
            <a:solidFill>
              <a:srgbClr val="4B2A6E"/>
            </a:solidFill>
            <a:prstDash val="solid"/>
          </a:ln>
        </p:spPr>
      </p:sp>
      <p:sp>
        <p:nvSpPr>
          <p:cNvPr id="13" name="Text 11"/>
          <p:cNvSpPr txBox="1"/>
          <p:nvPr/>
        </p:nvSpPr>
        <p:spPr>
          <a:xfrm>
            <a:off x="6711696" y="1280160"/>
            <a:ext cx="192024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6711696" y="1874520"/>
            <a:ext cx="1920240" cy="365760"/>
          </a:xfrm>
          <a:prstGeom prst="rect">
            <a:avLst/>
          </a:prstGeom>
          <a:noFill/>
          <a:ln/>
        </p:spPr>
        <p:txBody>
          <a:bodyPr wrap="square" lIns="0" tIns="0" rIns="0" bIns="0" rtlCol="0" anchor="t"/>
          <a:lstStyle/>
          <a:p>
            <a:pPr algn="ctr" indent="0" marL="0">
              <a:buNone/>
            </a:pPr>
            <a:r>
              <a:rPr lang="en-US" sz="1100" dirty="0">
                <a:solidFill>
                  <a:srgbClr val="D9C8F5"/>
                </a:solidFill>
                <a:latin typeface="Calibri" pitchFamily="34" charset="0"/>
                <a:ea typeface="Calibri" pitchFamily="34" charset="-122"/>
                <a:cs typeface="Calibri" pitchFamily="34" charset="-120"/>
              </a:rPr>
              <a:t>alert decision paths</a:t>
            </a:r>
            <a:endParaRPr lang="en-US" sz="1100" dirty="0"/>
          </a:p>
        </p:txBody>
      </p:sp>
      <p:sp>
        <p:nvSpPr>
          <p:cNvPr id="15" name="Text 13"/>
          <p:cNvSpPr txBox="1"/>
          <p:nvPr/>
        </p:nvSpPr>
        <p:spPr>
          <a:xfrm>
            <a:off x="640080" y="2743200"/>
            <a:ext cx="7863840" cy="17373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Kafka, PySpark and Delta Lake form a Bronze–Silver–Gold pipeline with quarantine</a:t>
            </a:r>
            <a:endParaRPr lang="en-US" sz="1400" dirty="0"/>
          </a:p>
          <a:p>
            <a:pPr marL="342900" indent="-3429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Window and Welford user-state features feed a Random Forest and a rule engine</a:t>
            </a:r>
            <a:endParaRPr lang="en-US" sz="1400" dirty="0"/>
          </a:p>
          <a:p>
            <a:pPr marL="342900" indent="-3429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Hybrid decisions are explainable; recovery is checkpointed and idempotent</a:t>
            </a:r>
            <a:endParaRPr lang="en-US" sz="1400" dirty="0"/>
          </a:p>
          <a:p>
            <a:pPr marL="342900" indent="-3429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All results are from synthetic data; real-data validation is future work</a:t>
            </a:r>
            <a:endParaRPr lang="en-US" sz="1400" dirty="0"/>
          </a:p>
        </p:txBody>
      </p:sp>
      <p:sp>
        <p:nvSpPr>
          <p:cNvPr id="16" name="Text 14"/>
          <p:cNvSpPr txBox="1"/>
          <p:nvPr/>
        </p:nvSpPr>
        <p:spPr>
          <a:xfrm>
            <a:off x="457200" y="4434840"/>
            <a:ext cx="8229600" cy="320040"/>
          </a:xfrm>
          <a:prstGeom prst="rect">
            <a:avLst/>
          </a:prstGeom>
          <a:noFill/>
          <a:ln/>
        </p:spPr>
        <p:txBody>
          <a:bodyPr wrap="square" lIns="0" tIns="0" rIns="0" bIns="0" rtlCol="0" anchor="t"/>
          <a:lstStyle/>
          <a:p>
            <a:pPr algn="ctr" indent="0" marL="0">
              <a:buNone/>
            </a:pPr>
            <a:r>
              <a:rPr lang="en-US" sz="1400" i="1" dirty="0">
                <a:solidFill>
                  <a:srgbClr val="D9C8F5"/>
                </a:solidFill>
                <a:latin typeface="Cambria" pitchFamily="34" charset="0"/>
                <a:ea typeface="Cambria" pitchFamily="34" charset="-122"/>
                <a:cs typeface="Cambria"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FraudLakehousePlum">
  <a:themeElements>
    <a:clrScheme name="FraudLakehousePlum">
      <a:dk1>
        <a:srgbClr val="1E1230"/>
      </a:dk1>
      <a:lt1>
        <a:srgbClr val="FFFFFF"/>
      </a:lt1>
      <a:dk2>
        <a:srgbClr val="4B2A6E"/>
      </a:dk2>
      <a:lt2>
        <a:srgbClr val="F6F2FB"/>
      </a:lt2>
      <a:accent1>
        <a:srgbClr val="1F9D74"/>
      </a:accent1>
      <a:accent2>
        <a:srgbClr val="D6336C"/>
      </a:accent2>
      <a:accent3>
        <a:srgbClr val="F5B400"/>
      </a:accent3>
      <a:accent4>
        <a:srgbClr val="8E5FD1"/>
      </a:accent4>
      <a:accent5>
        <a:srgbClr val="6E6A80"/>
      </a:accent5>
      <a:accent6>
        <a:srgbClr val="D9C8F5"/>
      </a:accent6>
      <a:hlink>
        <a:srgbClr val="8E5FD1"/>
      </a:hlink>
      <a:folHlink>
        <a:srgbClr val="6E6A80"/>
      </a:folHlink>
    </a:clrScheme>
    <a:fontScheme name="FraudLakehouse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Financial Fraud Detection Lakehouse</dc:title>
  <dc:subject>PptxGenJS Presentation</dc:subject>
  <dc:creator>Bhumika Raut, Arpita Mahakalkar</dc:creator>
  <cp:lastModifiedBy>Bhumika Raut, Arpita Mahakalkar</cp:lastModifiedBy>
  <cp:revision>1</cp:revision>
  <dcterms:created xsi:type="dcterms:W3CDTF">2026-10-17T02:19:14Z</dcterms:created>
  <dcterms:modified xsi:type="dcterms:W3CDTF">2026-10-17T02:19:14Z</dcterms:modified>
</cp:coreProperties>
</file>